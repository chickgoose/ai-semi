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4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75488"/>
            <a:ext cx="157276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4068"/>
            <a:ext cx="146304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DIGITAL 1차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6583680" cy="12984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Malgun Gothic"/>
              </a:defRPr>
            </a:pPr>
            <a:r>
              <a:t>Cluster2 Steal-Buffer</a:t>
            </a:r>
            <a:br/>
            <a:r>
              <a:t>Polarity AER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514600"/>
            <a:ext cx="7498079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D2E2EE"/>
                </a:solidFill>
                <a:latin typeface="Malgun Gothic"/>
              </a:defRPr>
            </a:pPr>
            <a:r>
              <a:t>동시성은 넓히고 · 재발생은 흡수하고 · event 의미는 보존한다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event + polarity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9067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depth-2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8815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8990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 + steal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85632" y="3675887"/>
            <a:ext cx="219456" cy="182880"/>
          </a:xfrm>
          <a:prstGeom prst="rightArrow">
            <a:avLst/>
          </a:prstGeom>
          <a:solidFill>
            <a:srgbClr val="8DA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87384" y="3273552"/>
            <a:ext cx="2322576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3474720"/>
            <a:ext cx="2066543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RETIRE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785615"/>
            <a:ext cx="2066543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/ mask / pol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FULL50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11.52% → 0.47%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base 대비 −95.9%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POLARITY REPLAY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6864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mismatch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4800600"/>
            <a:ext cx="3419856" cy="1188720"/>
          </a:xfrm>
          <a:prstGeom prst="roundRect">
            <a:avLst/>
          </a:prstGeom>
          <a:solidFill>
            <a:srgbClr val="1C45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50017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5303520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5687568"/>
            <a:ext cx="301752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4D8E7"/>
                </a:solidFill>
                <a:latin typeface="Malgun Gothic"/>
              </a:defRPr>
            </a:pPr>
            <a:r>
              <a:t>post-route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6437376"/>
            <a:ext cx="365760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B4CADB"/>
                </a:solidFill>
                <a:latin typeface="Malgun Gothic"/>
              </a:defRPr>
            </a:pPr>
            <a:r>
              <a:t>AI-semi · 2026-08-28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Ryu의 문제 흐름을 여섯 설계 요구로 분해했다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Framing: team decomposition of Ryu's problem flow; not a literal numbered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13533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1" y="1353312"/>
            <a:ext cx="1133856" cy="310896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5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주소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bitmap + codec 후보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799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3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직렬 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2 row-bitmap lanes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1188720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93023" y="13533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4218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76688" y="1353312"/>
            <a:ext cx="1133856" cy="310896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31552" y="1421892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847088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arbitration latency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2267712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grouped retire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3346704"/>
            <a:ext cx="4754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24911" y="3346704"/>
            <a:ext cx="1133856" cy="31089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79775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STRUCTURAL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class 불균형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rotate + lane steal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5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17136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1999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799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3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3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timestamp mismatch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5423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payload 미포함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0144" y="3182112"/>
            <a:ext cx="3401568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3" y="3346704"/>
            <a:ext cx="475488" cy="310896"/>
          </a:xfrm>
          <a:prstGeom prst="round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415284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346704"/>
            <a:ext cx="1133856" cy="31089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3415284"/>
            <a:ext cx="102412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HOLD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840480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F2234"/>
                </a:solidFill>
                <a:latin typeface="Malgun Gothic"/>
              </a:defRPr>
            </a:pPr>
            <a:r>
              <a:t>motion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2" y="4261104"/>
            <a:ext cx="296265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C6073"/>
                </a:solidFill>
                <a:latin typeface="Malgun Gothic"/>
              </a:defRPr>
            </a:pPr>
            <a:r>
              <a:t>sensor/system 영역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1차 직접 목표: ②·③·④ 완화 + polarity integrity 추가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직렬 출력과 source 재발생이 loss를 만든다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common full50 recovered diagnostics · 106,416 offered events/design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동시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7791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공유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1 event/cycle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01183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75504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대기 누적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pending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68896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43215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5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같은 source 재발생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5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local full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7" y="1737360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10928" y="1298448"/>
            <a:ext cx="1956816" cy="1133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02367" y="1572768"/>
            <a:ext cx="177393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7" y="1938528"/>
            <a:ext cx="177393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한 cycle 한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28,187 source-overrun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delivered 78,229 · EPC 0.673901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2880360"/>
            <a:ext cx="5340096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63240"/>
            <a:ext cx="4937759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BASE CLUSTER2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937759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병렬화만으로 재발생은 남는다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46888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443984"/>
            <a:ext cx="4480560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12,259 source-overrun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818888"/>
            <a:ext cx="448056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다음 해법: local depth + idle capacity reuse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출력 폭 · source-local 흡수 · class capacity를 함께 풀어야 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구조는 네 단계로 읽힌다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top aer_tx16_trad_rowcol_fovea_cluster2_steal_buf_polarity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 · ARRIVAL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16 event</a:t>
            </a:r>
            <a:br/>
            <a:r>
              <a:t>+ polarity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06624"/>
            <a:ext cx="2029968" cy="475488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occurrence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2 ·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source별</a:t>
            </a:r>
            <a:br/>
            <a:r>
              <a:t>depth-2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5887" y="2706624"/>
            <a:ext cx="2029968" cy="47548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count + slots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3 · SCHEDULE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2 lanes</a:t>
            </a:r>
            <a:br/>
            <a:r>
              <a:t>+ steal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37376" y="2706624"/>
            <a:ext cx="2029968" cy="47548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rotate + reuse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23376" y="2267712"/>
            <a:ext cx="219456" cy="201168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7696" y="1353312"/>
            <a:ext cx="2432304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554480"/>
            <a:ext cx="213969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4 · RETIRE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883664"/>
            <a:ext cx="2139696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  <a:br/>
            <a:r>
              <a:t>+ pol_mask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4" y="2706624"/>
            <a:ext cx="2029968" cy="475488"/>
          </a:xfrm>
          <a:prstGeom prst="roundRect">
            <a:avLst/>
          </a:prstGeom>
          <a:solidFill>
            <a:srgbClr val="E4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6" y="2852928"/>
            <a:ext cx="188366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selected events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5" y="3913632"/>
            <a:ext cx="10104120" cy="658368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3584" y="4123944"/>
            <a:ext cx="9701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Malgun Gothic"/>
              </a:defRPr>
            </a:pPr>
            <a:r>
              <a:t>2 × { valid, row, col_mask[3:0], pol_mask[3:0] }  →  최대 8 events/cycle 표현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1018641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full address FIFO가 아니라 source index에 내재한 pending count와 polarity slot을 상태로 유지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주소와 polarity는 동일 source slot에서 선택되고 함께 retire한다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bitmap은 직렬화를, depth-2는 재발생을 줄인다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RTL architecture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BITMAP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한 row에 column 4개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28216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9464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9464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0712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0712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432304"/>
            <a:ext cx="640080" cy="58521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2542032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col3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761488"/>
            <a:ext cx="64008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182112" y="3072384"/>
            <a:ext cx="256032" cy="237744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35024" y="3401568"/>
            <a:ext cx="3950208" cy="676656"/>
          </a:xfrm>
          <a:prstGeom prst="roundRect">
            <a:avLst/>
          </a:prstGeom>
          <a:solidFill>
            <a:srgbClr val="E8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3611880"/>
            <a:ext cx="351129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563EB"/>
                </a:solidFill>
                <a:latin typeface="Malgun Gothic"/>
              </a:defRPr>
            </a:pPr>
            <a:r>
              <a:t>row 2  +  col_mask 1111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70432" y="4407408"/>
            <a:ext cx="4279392" cy="493776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9888" y="4553712"/>
            <a:ext cx="384048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344F"/>
                </a:solidFill>
                <a:latin typeface="Malgun Gothic"/>
              </a:defRPr>
            </a:pPr>
            <a:r>
              <a:t>lane transaction 1회 · event 최대 4개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IDEA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SOURCE-LOCAL DEPTH-2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같은 source에서 연속 발생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39712" y="2432304"/>
            <a:ext cx="1865376" cy="84124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39712" y="2578608"/>
            <a:ext cx="186537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SLOT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871216"/>
            <a:ext cx="186537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 · 대기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70848" y="2432304"/>
            <a:ext cx="1865376" cy="841248"/>
          </a:xfrm>
          <a:prstGeom prst="roundRect">
            <a:avLst/>
          </a:prstGeom>
          <a:solidFill>
            <a:srgbClr val="FFF2DC"/>
          </a:solidFill>
          <a:ln w="1270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0848" y="2578608"/>
            <a:ext cx="186537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SLOT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2871216"/>
            <a:ext cx="186537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B · 재발생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778240" y="2724912"/>
            <a:ext cx="219456" cy="201168"/>
          </a:xfrm>
          <a:prstGeom prst="rightArrow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759952" y="3328416"/>
            <a:ext cx="256032" cy="219456"/>
          </a:xfrm>
          <a:prstGeom prst="downArrow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21424" y="3621024"/>
            <a:ext cx="4133087" cy="621792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3822191"/>
            <a:ext cx="369417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B를 slot 1에 저장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56832" y="4407408"/>
            <a:ext cx="4462272" cy="493776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4553712"/>
            <a:ext cx="40233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13344F"/>
                </a:solidFill>
                <a:latin typeface="Malgun Gothic"/>
              </a:defRPr>
            </a:pPr>
            <a:r>
              <a:t>grant 대기 중 재발생 → overrun 완화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bitmap은 직렬화를, depth-2는 같은 source의 재발생을 줄인다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steal은 capacity를, lockstep은 의미를 지킨다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final polarity RTL · native observational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IDEA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IDLE-LANE STEAL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한 class는 busy, 반대 class는 idle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24712" y="2468880"/>
            <a:ext cx="1719072" cy="950976"/>
          </a:xfrm>
          <a:prstGeom prst="roundRect">
            <a:avLst/>
          </a:prstGeom>
          <a:solidFill>
            <a:srgbClr val="E0F6F3"/>
          </a:solidFill>
          <a:ln w="1270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2660904"/>
            <a:ext cx="1719072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971800"/>
            <a:ext cx="17190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09E96"/>
                </a:solidFill>
                <a:latin typeface="Malgun Gothic"/>
              </a:defRPr>
            </a:pPr>
            <a:r>
              <a:t>busy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2468880"/>
            <a:ext cx="1719072" cy="950976"/>
          </a:xfrm>
          <a:prstGeom prst="roundRect">
            <a:avLst/>
          </a:prstGeom>
          <a:solidFill>
            <a:srgbClr val="EBF1F6"/>
          </a:solidFill>
          <a:ln w="1270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2660904"/>
            <a:ext cx="1719072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4C6073"/>
                </a:solidFill>
                <a:latin typeface="Malgun Gothic"/>
              </a:defRPr>
            </a:pPr>
            <a:r>
              <a:t>PERIPHERAL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71800"/>
            <a:ext cx="17190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4C6073"/>
                </a:solidFill>
                <a:latin typeface="Malgun Gothic"/>
              </a:defRPr>
            </a:pPr>
            <a:r>
              <a:t>idle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136392" y="2834640"/>
            <a:ext cx="384048" cy="219456"/>
          </a:xfrm>
          <a:prstGeom prst="leftArrow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4712" y="3803904"/>
            <a:ext cx="4370832" cy="621792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4005072"/>
            <a:ext cx="3931920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busy class가 idle lane을 재사용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4645152"/>
            <a:ext cx="466344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4C6073"/>
                </a:solidFill>
                <a:latin typeface="Malgun Gothic"/>
              </a:defRPr>
            </a:pPr>
            <a:r>
              <a:t>capacity 활용도 향상 · fairness 정량 평가는 별도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188720"/>
            <a:ext cx="530352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1371600"/>
            <a:ext cx="4901183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IDEA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1645920"/>
            <a:ext cx="4901183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POLARITY LOCKSTEP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029968"/>
            <a:ext cx="464515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4C6073"/>
                </a:solidFill>
                <a:latin typeface="Malgun Gothic"/>
              </a:defRPr>
            </a:pPr>
            <a:r>
              <a:t>address·polarity를 같은 source slot에서 처리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1968" y="2468880"/>
            <a:ext cx="4572000" cy="67665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706624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4" y="2706624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2706624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1968" y="3401568"/>
            <a:ext cx="4572000" cy="676656"/>
          </a:xfrm>
          <a:prstGeom prst="roundRect">
            <a:avLst/>
          </a:prstGeom>
          <a:solidFill>
            <a:srgbClr val="E8E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3639312"/>
            <a:ext cx="3474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0064" y="3639312"/>
            <a:ext cx="190195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row2 · col2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6064" y="3639312"/>
            <a:ext cx="118872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500" b="1">
                <a:solidFill>
                  <a:srgbClr val="2563EB"/>
                </a:solidFill>
                <a:latin typeface="Malgun Gothic"/>
              </a:defRPr>
            </a:pPr>
            <a:r>
              <a:t>pol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1968" y="4443984"/>
            <a:ext cx="45720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4572000"/>
            <a:ext cx="413308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동시 push · 동시 pop · 의미 보존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steal은 capacity 낭비를 줄이고, lockstep은 selected event의 의미를 보존한다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주소 절감은 제출 RTL과 후속 실험을 분리했다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row-trim/repeat-flag address-only studies · final polarity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572768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SUBMIT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 + MASK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009E96"/>
                </a:solidFill>
                <a:latin typeface="Malgun Gothic"/>
              </a:defRPr>
            </a:pPr>
            <a:r>
              <a:t>현재 최종 RTL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" y="3794760"/>
            <a:ext cx="2743200" cy="694944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pol_mask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C6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572768"/>
            <a:ext cx="932688" cy="310896"/>
          </a:xfrm>
          <a:prstGeom prst="roundRect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ROW-TRIM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4C6073"/>
                </a:solidFill>
                <a:latin typeface="Malgun Gothic"/>
              </a:defRPr>
            </a:pPr>
            <a:r>
              <a:t>−14.29%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3794760"/>
            <a:ext cx="2743200" cy="694944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base Cluster2 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298448"/>
            <a:ext cx="3328416" cy="3858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66176" y="1572768"/>
            <a:ext cx="9326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64134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148840"/>
            <a:ext cx="288950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REPEAT-FLAG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2834640"/>
            <a:ext cx="2889504" cy="51206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E68414"/>
                </a:solidFill>
                <a:latin typeface="Malgun Gothic"/>
              </a:defRPr>
            </a:pPr>
            <a:r>
              <a:t>−15.61%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8" y="3794760"/>
            <a:ext cx="2743200" cy="694944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7344" y="4014215"/>
            <a:ext cx="2487168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E68414"/>
                </a:solidFill>
                <a:latin typeface="Malgun Gothic"/>
              </a:defRPr>
            </a:pPr>
            <a:r>
              <a:t>polarity 재검증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FFF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E68414"/>
                </a:solidFill>
                <a:latin typeface="Malgun Gothic"/>
              </a:defRPr>
            </a:pPr>
            <a:r>
              <a:t>2차 codec 후보는 repeat-flag — polarity 포함 end-to-end 검증 후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full50 source-overrun: 12,259 → 502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Scope: 106,416 events/design · separate campaigns · 502 = address-only steal_buf, not final polarity-v1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15568"/>
            <a:ext cx="7452360" cy="4261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72768" y="1993392"/>
            <a:ext cx="1078992" cy="214884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554479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D23A46"/>
                </a:solidFill>
                <a:latin typeface="Malgun Gothic"/>
              </a:defRPr>
            </a:pPr>
            <a:r>
              <a:t>26.49%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SCALAR</a:t>
            </a:r>
            <a:br/>
            <a:r>
              <a:t>FOVEA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28,187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3207742"/>
            <a:ext cx="1078992" cy="934489"/>
          </a:xfrm>
          <a:prstGeom prst="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68830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E68414"/>
                </a:solidFill>
                <a:latin typeface="Malgun Gothic"/>
              </a:defRPr>
            </a:pPr>
            <a:r>
              <a:t>11.52%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BASE</a:t>
            </a:r>
            <a:br/>
            <a:r>
              <a:t>CLUSTER2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12,259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032504"/>
            <a:ext cx="1078992" cy="1097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389888"/>
            <a:ext cx="1847088" cy="36576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009E96"/>
                </a:solidFill>
                <a:latin typeface="Malgun Gothic"/>
              </a:defRPr>
            </a:pPr>
            <a:r>
              <a:t>0.47%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370832"/>
            <a:ext cx="1847088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CLUSTER2</a:t>
            </a:r>
            <a:br/>
            <a:r>
              <a:t>STEAL_BUF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80"/>
            <a:ext cx="18470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loss 502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1115568"/>
            <a:ext cx="3163824" cy="4261104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68512" y="1508760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9D5E6"/>
                </a:solidFill>
                <a:latin typeface="Malgun Gothic"/>
              </a:defRPr>
            </a:pPr>
            <a:r>
              <a:t>BASE → STEAL_BUF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2075688"/>
            <a:ext cx="2688336" cy="60350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3500" b="1">
                <a:solidFill>
                  <a:srgbClr val="FFFFFF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2761488"/>
            <a:ext cx="2578608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relative loss reduction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96528" y="3310128"/>
            <a:ext cx="2304288" cy="0"/>
          </a:xfrm>
          <a:prstGeom prst="line">
            <a:avLst/>
          </a:prstGeom>
          <a:ln w="19050">
            <a:solidFill>
              <a:srgbClr val="4D6F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68512" y="3584448"/>
            <a:ext cx="2578608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24.42×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041648"/>
            <a:ext cx="257860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B9D5E6"/>
                </a:solidFill>
                <a:latin typeface="Malgun Gothic"/>
              </a:defRPr>
            </a:pPr>
            <a:r>
              <a:t>smaller remaining 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700016"/>
            <a:ext cx="2688336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48 / 50 traces: overrun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0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09E96"/>
                </a:solidFill>
                <a:latin typeface="Malgun Gothic"/>
              </a:defRPr>
            </a:pPr>
            <a:r>
              <a:t>steal-buffer의 핵심 효과: 기본 Cluster2의 남은 재발생 손실을 직접 줄였다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cycle 4,162: 두 lane이 3 events를 retire했다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Xcelium 23.09-s013 · redred_cluster2_polarity_v1_native_observational_tb.sv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UZH 4×4 patch</a:t>
            </a:r>
            <a:br/>
            <a:r>
              <a:t>8,503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9856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Xcelium</a:t>
            </a:r>
            <a:br/>
            <a:r>
              <a:t>RTL + TB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88736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81344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raw cycle trace</a:t>
            </a:r>
            <a:br/>
            <a:r>
              <a:t>independent Python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50224" y="1645920"/>
            <a:ext cx="201168" cy="182880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42832" y="1188720"/>
            <a:ext cx="2414016" cy="12435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389888"/>
            <a:ext cx="212140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1719072"/>
            <a:ext cx="2121408" cy="43891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  <a:br/>
            <a:r>
              <a:t>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706624"/>
            <a:ext cx="6912864" cy="2724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2889504"/>
            <a:ext cx="6510527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ACTUAL RETIRE · CYCLE 4,162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3163824"/>
            <a:ext cx="6510527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두 lane에서 합계 3 events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749039"/>
            <a:ext cx="932688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817620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822191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822191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822191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2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407407"/>
            <a:ext cx="9326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75988"/>
            <a:ext cx="8229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LANE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84831" y="4480559"/>
            <a:ext cx="8229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row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col 0x1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0288" y="4480559"/>
            <a:ext cx="1389888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2234"/>
                </a:solidFill>
                <a:latin typeface="Malgun Gothic"/>
              </a:defRPr>
            </a:pPr>
            <a:r>
              <a:t>pol 0x1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480559"/>
            <a:ext cx="107899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1 event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2706624"/>
            <a:ext cx="3675887" cy="2724912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4736" y="3054096"/>
            <a:ext cx="3054096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BCD6E7"/>
                </a:solidFill>
                <a:latin typeface="Malgun Gothic"/>
              </a:defRPr>
            </a:pPr>
            <a:r>
              <a:t>CONSERVATION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8" y="3547872"/>
            <a:ext cx="3090672" cy="34747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8,503 = 8,503 + 0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448" y="3950208"/>
            <a:ext cx="30906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CD6E7"/>
                </a:solidFill>
                <a:latin typeface="Malgun Gothic"/>
              </a:defRPr>
            </a:pPr>
            <a:r>
              <a:t>generated   delivered  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4462272"/>
            <a:ext cx="3054096" cy="53035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009E96"/>
                </a:solidFill>
                <a:latin typeface="Malgun Gothic"/>
              </a:defRPr>
            </a:pPr>
            <a:r>
              <a:t>phantom 0 · duplicate 0</a:t>
            </a:r>
            <a:br/>
            <a:r>
              <a:t>polarity mismatch 0 · drain empty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TB의 PASS 문자열이 아니라 raw ledger를 독립 경로로 재해석했다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04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최종 top: 285.714 MHz post-route PASS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Genus 23.14-s090_1 · Innovus 23.14-s088_1 · GPDK045 slow 0.9 V 125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6995160" cy="2907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335024"/>
            <a:ext cx="659282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POST-ROUTE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6592824" cy="31089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F2234"/>
                </a:solidFill>
                <a:latin typeface="Malgun Gothic"/>
              </a:defRPr>
            </a:pPr>
            <a:r>
              <a:t>fastest tested passing point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97280" y="3127248"/>
            <a:ext cx="6089904" cy="0"/>
          </a:xfrm>
          <a:prstGeom prst="line">
            <a:avLst/>
          </a:prstGeom>
          <a:ln w="25400">
            <a:solidFill>
              <a:srgbClr val="4C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200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944368"/>
            <a:ext cx="146304" cy="365760"/>
          </a:xfrm>
          <a:prstGeom prst="rect">
            <a:avLst/>
          </a:prstGeom>
          <a:solidFill>
            <a:srgbClr val="1F9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250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2944368"/>
            <a:ext cx="146304" cy="365760"/>
          </a:xfrm>
          <a:prstGeom prst="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21424" y="2944368"/>
            <a:ext cx="146304" cy="365760"/>
          </a:xfrm>
          <a:prstGeom prst="rect">
            <a:avLst/>
          </a:prstGeom>
          <a:solidFill>
            <a:srgbClr val="D23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2331720"/>
            <a:ext cx="1152144" cy="21945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F2234"/>
                </a:solidFill>
                <a:latin typeface="Malgun Gothic"/>
              </a:defRPr>
            </a:pPr>
            <a:r>
              <a:t>333.333 MHz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679192"/>
            <a:ext cx="969264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3447288"/>
            <a:ext cx="627278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009E96"/>
                </a:solidFill>
                <a:latin typeface="Malgun Gothic"/>
              </a:defRPr>
            </a:pPr>
            <a:r>
              <a:t>285.714 MHz: setup +0.454 ns · hold +0.167 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36992" y="1152144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417320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AREA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764792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3024" y="2139696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596 instances · raw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36992" y="2715768"/>
            <a:ext cx="3602736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2980944"/>
            <a:ext cx="93268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3328416"/>
            <a:ext cx="2322576" cy="32918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F2234"/>
                </a:solidFill>
                <a:latin typeface="Malgun Gothic"/>
              </a:defRPr>
            </a:pPr>
            <a:r>
              <a:t>0.1074 mW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4" y="3703320"/>
            <a:ext cx="274320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4C6073"/>
                </a:solidFill>
                <a:latin typeface="Malgun Gothic"/>
              </a:defRPr>
            </a:pPr>
            <a:r>
              <a:t>vectorless · activity 0.2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352544"/>
            <a:ext cx="10881360" cy="1005840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53712"/>
            <a:ext cx="1572768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EVIDENCE BOUNDARY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6896" y="4526280"/>
            <a:ext cx="865022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4C6073"/>
                </a:solidFill>
                <a:latin typeface="Malgun Gothic"/>
              </a:defRPr>
            </a:pPr>
            <a:r>
              <a:t>fastest tested PASS ≠ exact Fmax · area unit 미기재 · vectorless power ≠ workload signoff power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6896" y="4983480"/>
            <a:ext cx="865022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F935E"/>
                </a:solidFill>
                <a:latin typeface="Malgun Gothic"/>
              </a:defRPr>
            </a:pPr>
            <a:r>
              <a:t>internal DRC 0 · antenna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1차 제출 범위: 동작 RTL + tested timing/area/power — signoff 과장은 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World 좌표계 방향 ray 확장: 8,503 events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Source: team-defined software projection path · separate from final polarity RTL/PPA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52144"/>
            <a:ext cx="2788920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435608"/>
            <a:ext cx="2423160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10512"/>
            <a:ext cx="2423160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occurrences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30168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152144"/>
            <a:ext cx="3255264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4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35608"/>
            <a:ext cx="288950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7C4AB8"/>
                </a:solidFill>
                <a:latin typeface="Malgun Gothic"/>
              </a:defRPr>
            </a:pPr>
            <a:r>
              <a:t>IDENTITY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10512"/>
            <a:ext cx="2889504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4" y="1609344"/>
            <a:ext cx="402336" cy="237744"/>
          </a:xfrm>
          <a:prstGeom prst="rightArrow">
            <a:avLst/>
          </a:prstGeom>
          <a:solidFill>
            <a:srgbClr val="4C6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1152144"/>
            <a:ext cx="3236976" cy="12070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435608"/>
            <a:ext cx="28712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09E96"/>
                </a:solidFill>
                <a:latin typeface="Malgun Gothic"/>
              </a:defRPr>
            </a:pPr>
            <a:r>
              <a:t>WORLD-FRAME RAY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1810512"/>
            <a:ext cx="287121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0F2234"/>
                </a:solidFill>
                <a:latin typeface="Malgun Gothic"/>
              </a:defRPr>
            </a:pPr>
            <a:r>
              <a:t>occurrence-time 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21240" y="2377440"/>
            <a:ext cx="0" cy="530352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75120" y="2907792"/>
            <a:ext cx="3950208" cy="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75120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25328" y="2907792"/>
            <a:ext cx="0" cy="274320"/>
          </a:xfrm>
          <a:prstGeom prst="line">
            <a:avLst/>
          </a:prstGeom>
          <a:ln w="25400">
            <a:solidFill>
              <a:srgbClr val="009E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163824"/>
            <a:ext cx="4059936" cy="1408176"/>
          </a:xfrm>
          <a:prstGeom prst="roundRect">
            <a:avLst/>
          </a:prstGeom>
          <a:solidFill>
            <a:srgbClr val="FE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456432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D23A46"/>
                </a:solidFill>
                <a:latin typeface="Malgun Gothic"/>
              </a:defRPr>
            </a:pPr>
            <a:r>
              <a:t>현재 증거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13048"/>
            <a:ext cx="3547872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software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169663"/>
            <a:ext cx="354787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D23A46"/>
                </a:solidFill>
                <a:latin typeface="Malgun Gothic"/>
              </a:defRPr>
            </a:pPr>
            <a:r>
              <a:t>변환기 RTL/PPA는 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3163824"/>
            <a:ext cx="3035808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93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3248" y="3456432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1F935E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13048"/>
            <a:ext cx="2523744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8,420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4169663"/>
            <a:ext cx="2523744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821 grid cells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0848" y="3163824"/>
            <a:ext cx="2468880" cy="14081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3456432"/>
            <a:ext cx="1956816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68414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13048"/>
            <a:ext cx="1956816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0F2234"/>
                </a:solidFill>
                <a:latin typeface="Malgun Gothic"/>
              </a:defRPr>
            </a:pPr>
            <a:r>
              <a:t>83 bypass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7C4AB8"/>
                </a:solidFill>
                <a:latin typeface="Malgun Gothic"/>
              </a:defRPr>
            </a:pPr>
            <a:r>
              <a:t>event + timestamp + pose의 world-frame 방향 ray 투영을 software로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10896"/>
            <a:ext cx="1143000" cy="310896"/>
          </a:xfrm>
          <a:prstGeom prst="round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79476"/>
            <a:ext cx="1033271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06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2880"/>
            <a:ext cx="9646920" cy="56692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0F2234"/>
                </a:solidFill>
                <a:latin typeface="Malgun Gothic"/>
              </a:defRPr>
            </a:pPr>
            <a:r>
              <a:t>1차 성과 세 가지와 2차 검증 세 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877824"/>
            <a:ext cx="11027664" cy="0"/>
          </a:xfrm>
          <a:prstGeom prst="line">
            <a:avLst/>
          </a:prstGeom>
          <a:ln w="19050">
            <a:solidFill>
              <a:srgbClr val="DA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5216" y="6501384"/>
            <a:ext cx="103784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C6073"/>
                </a:solidFill>
                <a:latin typeface="Malgun Gothic"/>
              </a:defRPr>
            </a:pPr>
            <a:r>
              <a:t>Evidence: full50 family diagnostic · final UZH polarity replay · tested physical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92240"/>
            <a:ext cx="548640" cy="18288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r">
              <a:spcAft>
                <a:spcPts val="0"/>
              </a:spcAft>
              <a:defRPr sz="1200" b="1">
                <a:solidFill>
                  <a:srgbClr val="13344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9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1408176"/>
            <a:ext cx="1243584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009E96"/>
                </a:solidFill>
                <a:latin typeface="Malgun Gothic"/>
              </a:defRPr>
            </a:pPr>
            <a:r>
              <a:t>−95.9%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base Cluster2 → steal_buf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5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408176"/>
            <a:ext cx="1243584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5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2563EB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polarity mismatch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170432"/>
            <a:ext cx="3401568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8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408176"/>
            <a:ext cx="1243584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1476756"/>
            <a:ext cx="1133856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IMPLEMENT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01952"/>
            <a:ext cx="2962656" cy="402336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E68414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87168"/>
            <a:ext cx="2962656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4C6073"/>
                </a:solidFill>
                <a:latin typeface="Malgun Gothic"/>
              </a:defRPr>
            </a:pPr>
            <a:r>
              <a:t>fastest tested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456432"/>
            <a:ext cx="1316736" cy="274320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3344F"/>
                </a:solidFill>
                <a:latin typeface="Malgun Gothic"/>
              </a:defRPr>
            </a:pPr>
            <a:r>
              <a:t>2차 과제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4096512"/>
            <a:ext cx="475488" cy="310896"/>
          </a:xfrm>
          <a:prstGeom prst="roundRect">
            <a:avLst/>
          </a:prstGeom>
          <a:solidFill>
            <a:srgbClr val="E68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68414"/>
                </a:solidFill>
                <a:latin typeface="Malgun Gothic"/>
              </a:defRPr>
            </a:pPr>
            <a:r>
              <a:t>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repeat-flag + polarity grammar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5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17136" y="4096512"/>
            <a:ext cx="475488" cy="310896"/>
          </a:xfrm>
          <a:prstGeom prst="roundRect">
            <a:avLst/>
          </a:prstGeom>
          <a:solidFill>
            <a:srgbClr val="7C4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9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7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7C4AB8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38927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timestamp + pose full replay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858768"/>
            <a:ext cx="3401568" cy="1261872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93023" y="4096512"/>
            <a:ext cx="475488" cy="310896"/>
          </a:xfrm>
          <a:prstGeom prst="roundRect">
            <a:avLst/>
          </a:prstGeom>
          <a:solidFill>
            <a:srgbClr val="009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4165092"/>
            <a:ext cx="365760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4096512"/>
            <a:ext cx="713232" cy="20116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009E96"/>
                </a:solidFill>
                <a:latin typeface="Malgun Gothic"/>
              </a:defRPr>
            </a:pPr>
            <a:r>
              <a:t>PPA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4816" y="4453128"/>
            <a:ext cx="2340864" cy="384048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0F2234"/>
                </a:solidFill>
                <a:latin typeface="Malgun Gothic"/>
              </a:defRPr>
            </a:pPr>
            <a:r>
              <a:t>activity power + exact Fmax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42432"/>
            <a:ext cx="10881360" cy="566928"/>
          </a:xfrm>
          <a:prstGeom prst="roundRect">
            <a:avLst/>
          </a:prstGeom>
          <a:solidFill>
            <a:srgbClr val="EB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742432"/>
            <a:ext cx="91440" cy="566928"/>
          </a:xfrm>
          <a:prstGeom prst="rect">
            <a:avLst/>
          </a:prstGeom>
          <a:solidFill>
            <a:srgbClr val="133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79592"/>
            <a:ext cx="10405872" cy="256032"/>
          </a:xfrm>
          <a:prstGeom prst="rect">
            <a:avLst/>
          </a:prstGeom>
          <a:noFill/>
        </p:spPr>
        <p:txBody>
          <a:bodyPr wrap="square" anchor="t" lIns="27432" rIns="27432" tIns="13716" bIns="13716">
            <a:no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3344F"/>
                </a:solidFill>
                <a:latin typeface="Malgun Gothic"/>
              </a:defRPr>
            </a:pPr>
            <a:r>
              <a:t>Cluster2 위에 depth-2·steal·polarity를 통합해 손실과 의미를 함께 다뤘다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Cluster2 Steal-Buffer Polarity AER</dc:title>
  <dc:subject>Ground-up bottleneck, architecture, evidence, physical implementation, and world-coordinate extensibility</dc:subject>
  <dc:creator>AI-semi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