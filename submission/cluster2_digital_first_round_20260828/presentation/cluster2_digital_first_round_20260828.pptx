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658368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3500" b="1">
                <a:solidFill>
                  <a:srgbClr val="F6F9FC"/>
                </a:solidFill>
                <a:latin typeface="Malgun Gothic"/>
              </a:defRPr>
            </a:pPr>
            <a:r>
              <a:t>병목을 줄이고 의미를 보존하는 AER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417320"/>
            <a:ext cx="987552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800" b="1">
                <a:solidFill>
                  <a:srgbClr val="2AD3CD"/>
                </a:solidFill>
                <a:latin typeface="Malgun Gothic"/>
              </a:defRPr>
            </a:pPr>
            <a:r>
              <a:t>Cluster2 Steal-Buffer Polarity AER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2880360" cy="1874519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87168"/>
            <a:ext cx="242316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FF6376"/>
                </a:solidFill>
                <a:latin typeface="Malgun Gothic"/>
              </a:defRPr>
            </a:pPr>
            <a:r>
              <a:t>AER 병목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07792"/>
            <a:ext cx="242316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200" b="1">
                <a:solidFill>
                  <a:srgbClr val="F6F9FC"/>
                </a:solidFill>
                <a:latin typeface="Malgun Gothic"/>
              </a:defRPr>
            </a:pPr>
            <a:r>
              <a:t>직렬 출력</a:t>
            </a:r>
            <a:br/>
            <a:r>
              <a:t>재발생·불균형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2926080"/>
            <a:ext cx="566928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34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791" y="2240280"/>
            <a:ext cx="2880360" cy="1874519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2487168"/>
            <a:ext cx="242316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2AD3CD"/>
                </a:solidFill>
                <a:latin typeface="Malgun Gothic"/>
              </a:defRPr>
            </a:pPr>
            <a:r>
              <a:t>제안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907792"/>
            <a:ext cx="242316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200" b="1">
                <a:solidFill>
                  <a:srgbClr val="F6F9FC"/>
                </a:solidFill>
                <a:latin typeface="Malgun Gothic"/>
              </a:defRPr>
            </a:pPr>
            <a:r>
              <a:t>bitmap · FIFO</a:t>
            </a:r>
            <a:br/>
            <a:r>
              <a:t>steal · polarity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3" y="2926080"/>
            <a:ext cx="566928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34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53527" y="2240280"/>
            <a:ext cx="2880360" cy="1874519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2487168"/>
            <a:ext cx="242316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37CD85"/>
                </a:solidFill>
                <a:latin typeface="Malgun Gothic"/>
              </a:defRPr>
            </a:pPr>
            <a:r>
              <a:t>검증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2907792"/>
            <a:ext cx="242316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200" b="1">
                <a:solidFill>
                  <a:srgbClr val="F6F9FC"/>
                </a:solidFill>
                <a:latin typeface="Malgun Gothic"/>
              </a:defRPr>
            </a:pPr>
            <a:r>
              <a:t>full50 loss 0.47%</a:t>
            </a:r>
            <a:br/>
            <a:r>
              <a:t>UZH 8,503 / 8,503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36592"/>
            <a:ext cx="9710928" cy="475488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855464"/>
            <a:ext cx="9308592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600" b="1">
                <a:solidFill>
                  <a:srgbClr val="ACC2D6"/>
                </a:solidFill>
                <a:latin typeface="Malgun Gothic"/>
              </a:defRPr>
            </a:pPr>
            <a:r>
              <a:t>문제 정의  →  구조 설계  →  정량 개선  →  RTL/PPA  →  CAV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6309360"/>
            <a:ext cx="100584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900" b="0">
                <a:solidFill>
                  <a:srgbClr val="ACC2D6"/>
                </a:solidFill>
                <a:latin typeface="Malgun Gothic"/>
              </a:defRPr>
            </a:pPr>
            <a:r>
              <a:t>2026-08-28  |  Xcelium · Genus · Innovus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01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Ryu의 문제 흐름을 여섯 설계 요구사항으로 분해했다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team decomposition of Ryu et al., CVPRW 2019 · direct = scoped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115568"/>
            <a:ext cx="5230368" cy="1060704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280160"/>
            <a:ext cx="685800" cy="274320"/>
          </a:xfrm>
          <a:prstGeom prst="roundRect">
            <a:avLst/>
          </a:prstGeom>
          <a:solidFill>
            <a:srgbClr val="F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325880"/>
            <a:ext cx="594360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1">
                <a:solidFill>
                  <a:srgbClr val="071627"/>
                </a:solidFill>
                <a:latin typeface="Malgun Gothic"/>
              </a:defRPr>
            </a:pPr>
            <a:r>
              <a:t>부분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1280160"/>
            <a:ext cx="1965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1">
                <a:solidFill>
                  <a:srgbClr val="FFB746"/>
                </a:solidFill>
                <a:latin typeface="Malgun Gothic"/>
              </a:defRPr>
            </a:pPr>
            <a:r>
              <a:t>① 주소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1618488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400" b="1">
                <a:solidFill>
                  <a:srgbClr val="F6F9FC"/>
                </a:solidFill>
                <a:latin typeface="Malgun Gothic"/>
              </a:defRPr>
            </a:pPr>
            <a:r>
              <a:t>bitmap 집약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1618488"/>
            <a:ext cx="19385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100" b="0">
                <a:solidFill>
                  <a:srgbClr val="ACC2D6"/>
                </a:solidFill>
                <a:latin typeface="Malgun Gothic"/>
              </a:defRPr>
            </a:pPr>
            <a:r>
              <a:t>repeat-flag 후속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15568"/>
            <a:ext cx="5230368" cy="1060704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685800" cy="274320"/>
          </a:xfrm>
          <a:prstGeom prst="roundRect">
            <a:avLst/>
          </a:prstGeom>
          <a:solidFill>
            <a:srgbClr val="37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594360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1">
                <a:solidFill>
                  <a:srgbClr val="071627"/>
                </a:solidFill>
                <a:latin typeface="Malgun Gothic"/>
              </a:defRPr>
            </a:pPr>
            <a:r>
              <a:t>직접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280160"/>
            <a:ext cx="1965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1">
                <a:solidFill>
                  <a:srgbClr val="37CD85"/>
                </a:solidFill>
                <a:latin typeface="Malgun Gothic"/>
              </a:defRPr>
            </a:pPr>
            <a:r>
              <a:t>② bandwidth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618488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400" b="1">
                <a:solidFill>
                  <a:srgbClr val="F6F9FC"/>
                </a:solidFill>
                <a:latin typeface="Malgun Gothic"/>
              </a:defRPr>
            </a:pPr>
            <a:r>
              <a:t>2 row-bitmap lanes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618488"/>
            <a:ext cx="19385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100" b="0">
                <a:solidFill>
                  <a:srgbClr val="ACC2D6"/>
                </a:solidFill>
                <a:latin typeface="Malgun Gothic"/>
              </a:defRPr>
            </a:pPr>
            <a:r>
              <a:t>최대 8 events/cycle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2468880"/>
            <a:ext cx="5230368" cy="1060704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2633472"/>
            <a:ext cx="685800" cy="274320"/>
          </a:xfrm>
          <a:prstGeom prst="roundRect">
            <a:avLst/>
          </a:prstGeom>
          <a:solidFill>
            <a:srgbClr val="37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679192"/>
            <a:ext cx="594360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1">
                <a:solidFill>
                  <a:srgbClr val="071627"/>
                </a:solidFill>
                <a:latin typeface="Malgun Gothic"/>
              </a:defRPr>
            </a:pPr>
            <a:r>
              <a:t>직접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2633472"/>
            <a:ext cx="1965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1">
                <a:solidFill>
                  <a:srgbClr val="37CD85"/>
                </a:solidFill>
                <a:latin typeface="Malgun Gothic"/>
              </a:defRPr>
            </a:pPr>
            <a:r>
              <a:t>③ arbitration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2971800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400" b="1">
                <a:solidFill>
                  <a:srgbClr val="F6F9FC"/>
                </a:solidFill>
                <a:latin typeface="Malgun Gothic"/>
              </a:defRPr>
            </a:pPr>
            <a:r>
              <a:t>병렬 retire + depth-2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2463" y="2971800"/>
            <a:ext cx="19385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100" b="0">
                <a:solidFill>
                  <a:srgbClr val="ACC2D6"/>
                </a:solidFill>
                <a:latin typeface="Malgun Gothic"/>
              </a:defRPr>
            </a:pPr>
            <a:r>
              <a:t>대기·재발생 완화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468880"/>
            <a:ext cx="5230368" cy="1060704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B2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2633472"/>
            <a:ext cx="685800" cy="274320"/>
          </a:xfrm>
          <a:prstGeom prst="roundRect">
            <a:avLst/>
          </a:prstGeom>
          <a:solidFill>
            <a:srgbClr val="B2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679192"/>
            <a:ext cx="594360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1">
                <a:solidFill>
                  <a:srgbClr val="071627"/>
                </a:solidFill>
                <a:latin typeface="Malgun Gothic"/>
              </a:defRPr>
            </a:pPr>
            <a:r>
              <a:t>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633472"/>
            <a:ext cx="1965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1">
                <a:solidFill>
                  <a:srgbClr val="B27EFF"/>
                </a:solidFill>
                <a:latin typeface="Malgun Gothic"/>
              </a:defRPr>
            </a:pPr>
            <a:r>
              <a:t>④ unfair arbitration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71800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400" b="1">
                <a:solidFill>
                  <a:srgbClr val="F6F9FC"/>
                </a:solidFill>
                <a:latin typeface="Malgun Gothic"/>
              </a:defRPr>
            </a:pPr>
            <a:r>
              <a:t>rotating arbiter + steal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2971800"/>
            <a:ext cx="19385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100" b="0">
                <a:solidFill>
                  <a:srgbClr val="ACC2D6"/>
                </a:solidFill>
                <a:latin typeface="Malgun Gothic"/>
              </a:defRPr>
            </a:pPr>
            <a:r>
              <a:t>별도 fairness metric 없음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3822191"/>
            <a:ext cx="5230368" cy="1060704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6112" y="3986783"/>
            <a:ext cx="685800" cy="274320"/>
          </a:xfrm>
          <a:prstGeom prst="roundRect">
            <a:avLst/>
          </a:prstGeom>
          <a:solidFill>
            <a:srgbClr val="FF6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032504"/>
            <a:ext cx="594360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1">
                <a:solidFill>
                  <a:srgbClr val="071627"/>
                </a:solidFill>
                <a:latin typeface="Malgun Gothic"/>
              </a:defRPr>
            </a:pPr>
            <a:r>
              <a:t>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9072" y="3986783"/>
            <a:ext cx="1965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1">
                <a:solidFill>
                  <a:srgbClr val="FF6376"/>
                </a:solidFill>
                <a:latin typeface="Malgun Gothic"/>
              </a:defRPr>
            </a:pPr>
            <a:r>
              <a:t>⑤ timestamp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9072" y="4325112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400" b="1">
                <a:solidFill>
                  <a:srgbClr val="F6F9FC"/>
                </a:solidFill>
                <a:latin typeface="Malgun Gothic"/>
              </a:defRPr>
            </a:pPr>
            <a:r>
              <a:t>occurrence-time sidecar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12463" y="4325112"/>
            <a:ext cx="19385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100" b="0">
                <a:solidFill>
                  <a:srgbClr val="ACC2D6"/>
                </a:solidFill>
                <a:latin typeface="Malgun Gothic"/>
              </a:defRPr>
            </a:pPr>
            <a:r>
              <a:t>DUT payload 통합은 후속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822191"/>
            <a:ext cx="5230368" cy="1060704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3986783"/>
            <a:ext cx="685800" cy="274320"/>
          </a:xfrm>
          <a:prstGeom prst="roundRect">
            <a:avLst/>
          </a:prstGeom>
          <a:solidFill>
            <a:srgbClr val="FF6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032504"/>
            <a:ext cx="594360" cy="1554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1">
                <a:solidFill>
                  <a:srgbClr val="071627"/>
                </a:solidFill>
                <a:latin typeface="Malgun Gothic"/>
              </a:defRPr>
            </a:pPr>
            <a:r>
              <a:t>HOLD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986783"/>
            <a:ext cx="1965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1">
                <a:solidFill>
                  <a:srgbClr val="FF6376"/>
                </a:solidFill>
                <a:latin typeface="Malgun Gothic"/>
              </a:defRPr>
            </a:pPr>
            <a:r>
              <a:t>⑥ motion artifact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325112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400" b="1">
                <a:solidFill>
                  <a:srgbClr val="F6F9FC"/>
                </a:solidFill>
                <a:latin typeface="Malgun Gothic"/>
              </a:defRPr>
            </a:pPr>
            <a:r>
              <a:t>sensor/system 대응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4325112"/>
            <a:ext cx="19385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100" b="0">
                <a:solidFill>
                  <a:srgbClr val="ACC2D6"/>
                </a:solidFill>
                <a:latin typeface="Malgun Gothic"/>
              </a:defRPr>
            </a:pPr>
            <a:r>
              <a:t>이번 RTL에서는 미검증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B746"/>
                </a:solidFill>
                <a:latin typeface="Malgun Gothic"/>
              </a:defRPr>
            </a:pPr>
            <a:r>
              <a:t>②③은 직접 완화 · ①④는 부분/구조 대응 · ⑤⑥은 이번 RTL의 HOLD 범위다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01 문제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Ryu의 문제 흐름을 여섯 설계 요구사항으로 분해했다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01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scalar 출력은 동시 입력을 source-local loss로 바꾼다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recovered scalar Fovea Xcelium full50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33856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4793FF"/>
                </a:solidFill>
                <a:latin typeface="Malgun Gothic"/>
              </a:defRPr>
            </a:pPr>
            <a:r>
              <a:t>동시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1536192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1536192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00784" y="1536192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21408" y="1536192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" y="1956816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1956816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00784" y="1956816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21408" y="1956816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2377440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80160" y="2377440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00784" y="2377440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21408" y="2377440"/>
            <a:ext cx="301752" cy="3017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1984248"/>
            <a:ext cx="6400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3400" b="1">
                <a:solidFill>
                  <a:srgbClr val="FFB74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1280160"/>
            <a:ext cx="2962656" cy="1920240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1600200"/>
            <a:ext cx="2450592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6F9FC"/>
                </a:solidFill>
                <a:latin typeface="Malgun Gothic"/>
              </a:defRPr>
            </a:pPr>
            <a:r>
              <a:t>공유 arbitration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496" y="2103120"/>
            <a:ext cx="2212848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0">
                <a:solidFill>
                  <a:srgbClr val="ACC2D6"/>
                </a:solidFill>
                <a:latin typeface="Malgun Gothic"/>
              </a:defRPr>
            </a:pPr>
            <a:r>
              <a:t>여러 event가 하나의</a:t>
            </a:r>
            <a:br/>
            <a:r>
              <a:t>출력 순서를 기다림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984248"/>
            <a:ext cx="6400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3400" b="1">
                <a:solidFill>
                  <a:srgbClr val="FF637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34656" y="1280160"/>
            <a:ext cx="3703320" cy="192024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7264" y="1664208"/>
            <a:ext cx="3127248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300" b="1">
                <a:solidFill>
                  <a:srgbClr val="FF6376"/>
                </a:solidFill>
                <a:latin typeface="Malgun Gothic"/>
              </a:defRPr>
            </a:pPr>
            <a:r>
              <a:t>1 EVENT / 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2350008"/>
            <a:ext cx="3255264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F6F9FC"/>
                </a:solidFill>
                <a:latin typeface="Malgun Gothic"/>
              </a:defRPr>
            </a:pPr>
            <a:r>
              <a:t>대기 누적  →  local full  →  overrun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3767328"/>
            <a:ext cx="3246120" cy="105156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895344"/>
            <a:ext cx="291693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900" b="1">
                <a:solidFill>
                  <a:srgbClr val="ACC2D6"/>
                </a:solidFill>
                <a:latin typeface="Malgun Gothic"/>
              </a:defRPr>
            </a:pPr>
            <a:r>
              <a:t>ACCEPTED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133088"/>
            <a:ext cx="2916936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400" b="1">
                <a:solidFill>
                  <a:srgbClr val="FFB746"/>
                </a:solidFill>
                <a:latin typeface="Malgun Gothic"/>
              </a:defRPr>
            </a:pPr>
            <a:r>
              <a:t>78,229 / 106,416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572000"/>
            <a:ext cx="291693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00" b="0">
                <a:solidFill>
                  <a:srgbClr val="ACC2D6"/>
                </a:solidFill>
                <a:latin typeface="Malgun Gothic"/>
              </a:defRPr>
            </a:pPr>
            <a:r>
              <a:t>73.51%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767328"/>
            <a:ext cx="2788920" cy="105156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3895344"/>
            <a:ext cx="245973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900" b="1">
                <a:solidFill>
                  <a:srgbClr val="ACC2D6"/>
                </a:solidFill>
                <a:latin typeface="Malgun Gothic"/>
              </a:defRPr>
            </a:pPr>
            <a:r>
              <a:t>OVERRUN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4133088"/>
            <a:ext cx="2459736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400" b="1">
                <a:solidFill>
                  <a:srgbClr val="FF6376"/>
                </a:solidFill>
                <a:latin typeface="Malgun Gothic"/>
              </a:defRPr>
            </a:pPr>
            <a:r>
              <a:t>28,187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4572000"/>
            <a:ext cx="245973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00" b="0">
                <a:solidFill>
                  <a:srgbClr val="ACC2D6"/>
                </a:solidFill>
                <a:latin typeface="Malgun Gothic"/>
              </a:defRPr>
            </a:pPr>
            <a:r>
              <a:t>full50 baseline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62672" y="3767328"/>
            <a:ext cx="3566160" cy="105156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7264" y="3895344"/>
            <a:ext cx="323697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900" b="1">
                <a:solidFill>
                  <a:srgbClr val="ACC2D6"/>
                </a:solidFill>
                <a:latin typeface="Malgun Gothic"/>
              </a:defRPr>
            </a:pPr>
            <a:r>
              <a:t>THROUGHPUT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7264" y="4133088"/>
            <a:ext cx="3236976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400" b="1">
                <a:solidFill>
                  <a:srgbClr val="FF6376"/>
                </a:solidFill>
                <a:latin typeface="Malgun Gothic"/>
              </a:defRPr>
            </a:pPr>
            <a:r>
              <a:t>0.673901 EPC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7264" y="4572000"/>
            <a:ext cx="323697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00" b="0">
                <a:solidFill>
                  <a:srgbClr val="ACC2D6"/>
                </a:solidFill>
                <a:latin typeface="Malgun Gothic"/>
              </a:defRPr>
            </a:pPr>
            <a:r>
              <a:t>fixed-window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B746"/>
                </a:solidFill>
                <a:latin typeface="Malgun Gothic"/>
              </a:defRPr>
            </a:pPr>
            <a:r>
              <a:t>따라서 출력 폭, 재발생 흡수, traffic 균형을 동시에 풀어야 한다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01 문제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scalar 출력은 동시 입력을 source-local loss로 바꾼다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02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네 메커니즘이 하나의 retire 경로에서 함께 동작한다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final polarity RTL SHA-256 20d601a9…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1874519" cy="228600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3352"/>
            <a:ext cx="1545336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4793FF"/>
                </a:solidFill>
                <a:latin typeface="Malgun Gothic"/>
              </a:defRPr>
            </a:pPr>
            <a:r>
              <a:t>16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21992"/>
            <a:ext cx="150876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6F9FC"/>
                </a:solidFill>
                <a:latin typeface="Malgun Gothic"/>
              </a:defRPr>
            </a:pPr>
            <a:r>
              <a:t>event + polarity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417320"/>
            <a:ext cx="2194560" cy="228600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673352"/>
            <a:ext cx="1865376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B746"/>
                </a:solidFill>
                <a:latin typeface="Malgun Gothic"/>
              </a:defRPr>
            </a:pPr>
            <a:r>
              <a:t>16 × DEPTH-2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21992"/>
            <a:ext cx="182880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6F9FC"/>
                </a:solidFill>
                <a:latin typeface="Malgun Gothic"/>
              </a:defRPr>
            </a:pPr>
            <a:r>
              <a:t>pending count</a:t>
            </a:r>
            <a:br/>
            <a:r>
              <a:t>+ 2 polarity slots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1051560"/>
            <a:ext cx="2331720" cy="141732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5272" y="1307592"/>
            <a:ext cx="2002536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2AD3CD"/>
                </a:solidFill>
                <a:latin typeface="Malgun Gothic"/>
              </a:defRPr>
            </a:pPr>
            <a:r>
              <a:t>CENTER 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1856231"/>
            <a:ext cx="196596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6F9FC"/>
                </a:solidFill>
                <a:latin typeface="Malgun Gothic"/>
              </a:defRPr>
            </a:pPr>
            <a:r>
              <a:t>row bitmap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2788920"/>
            <a:ext cx="2331720" cy="141732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B2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3044952"/>
            <a:ext cx="2002536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B27EFF"/>
                </a:solidFill>
                <a:latin typeface="Malgun Gothic"/>
              </a:defRPr>
            </a:pPr>
            <a:r>
              <a:t>PERIPH. 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593591"/>
            <a:ext cx="196596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6F9FC"/>
                </a:solidFill>
                <a:latin typeface="Malgun Gothic"/>
              </a:defRPr>
            </a:pPr>
            <a:r>
              <a:t>row bitmap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417320"/>
            <a:ext cx="2880360" cy="228600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673352"/>
            <a:ext cx="2551176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37CD85"/>
                </a:solidFill>
                <a:latin typeface="Malgun Gothic"/>
              </a:defRPr>
            </a:pPr>
            <a:r>
              <a:t>RETIRE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21992"/>
            <a:ext cx="251460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6F9FC"/>
                </a:solidFill>
                <a:latin typeface="Malgun Gothic"/>
              </a:defRPr>
            </a:pPr>
            <a:r>
              <a:t>row + col_mask</a:t>
            </a:r>
            <a:br/>
            <a:r>
              <a:t>+ pol_mask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9736" y="2304288"/>
            <a:ext cx="34747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8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304288"/>
            <a:ext cx="34747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8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2304288"/>
            <a:ext cx="34747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800" b="1">
                <a:solidFill>
                  <a:srgbClr val="37CD85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4462272"/>
            <a:ext cx="2697480" cy="420624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B2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9824" y="4572000"/>
            <a:ext cx="2322576" cy="19202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B27EFF"/>
                </a:solidFill>
                <a:latin typeface="Malgun Gothic"/>
              </a:defRPr>
            </a:pPr>
            <a:r>
              <a:t>traffic 쏠림 시 lane steal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0496" y="4462272"/>
            <a:ext cx="2240280" cy="420624"/>
          </a:xfrm>
          <a:prstGeom prst="roundRect">
            <a:avLst/>
          </a:prstGeom>
          <a:solidFill>
            <a:srgbClr val="37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4572000"/>
            <a:ext cx="1920240" cy="19202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071627"/>
                </a:solidFill>
                <a:latin typeface="Malgun Gothic"/>
              </a:defRPr>
            </a:pPr>
            <a:r>
              <a:t>최대 8 events/cycle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37CD85"/>
                </a:solidFill>
                <a:latin typeface="Malgun Gothic"/>
              </a:defRPr>
            </a:pPr>
            <a:r>
              <a:t>Cluster2의 병렬 row 전송 위에 depth-2·steal·polarity lockstep을 통합했다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02 구조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네 메커니즘이 하나의 retire 경로에서 함께 동작한다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02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bitmap은 출력 폭을, depth-2는 같은 source 재발생을 푼다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final RTL contract · full50 bottleneck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143000"/>
            <a:ext cx="5230368" cy="416052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426464"/>
            <a:ext cx="46817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2AD3CD"/>
                </a:solidFill>
                <a:latin typeface="Malgun Gothic"/>
              </a:defRPr>
            </a:pPr>
            <a:r>
              <a:t>IDEA 1  ROW BITMAP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029968"/>
            <a:ext cx="475488" cy="47548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74519" y="2029968"/>
            <a:ext cx="475488" cy="47548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40" y="2029968"/>
            <a:ext cx="475488" cy="47548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2029968"/>
            <a:ext cx="475488" cy="47548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06624"/>
            <a:ext cx="4526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ACC2D6"/>
                </a:solidFill>
                <a:latin typeface="Malgun Gothic"/>
              </a:defRPr>
            </a:pPr>
            <a:r>
              <a:t>같은 row의 4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054096"/>
            <a:ext cx="5029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30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3312" y="3584448"/>
            <a:ext cx="3931920" cy="80467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803904"/>
            <a:ext cx="338328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000" b="1">
                <a:solidFill>
                  <a:srgbClr val="F6F9FC"/>
                </a:solidFill>
                <a:latin typeface="Malgun Gothic"/>
              </a:defRPr>
            </a:pPr>
            <a:r>
              <a:t>col_mask = 4'b1111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18304"/>
            <a:ext cx="4297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2AD3CD"/>
                </a:solidFill>
                <a:latin typeface="Malgun Gothic"/>
              </a:defRPr>
            </a:pPr>
            <a:r>
              <a:t>1개 주소가 최대 4 events 표현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143000"/>
            <a:ext cx="5230368" cy="416052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426464"/>
            <a:ext cx="46817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FFB746"/>
                </a:solidFill>
                <a:latin typeface="Malgun Gothic"/>
              </a:defRPr>
            </a:pPr>
            <a:r>
              <a:t>IDEA 2  DEPTH-2 /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1920240"/>
            <a:ext cx="329184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ACC2D6"/>
                </a:solidFill>
                <a:latin typeface="Malgun Gothic"/>
              </a:defRPr>
            </a:pPr>
            <a:r>
              <a:t>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1865376"/>
            <a:ext cx="960120" cy="5303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9752" y="2020824"/>
            <a:ext cx="81381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6F9FC"/>
                </a:solidFill>
                <a:latin typeface="Malgun Gothic"/>
              </a:defRPr>
            </a:pPr>
            <a:r>
              <a:t>event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1865376"/>
            <a:ext cx="960120" cy="5303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2020824"/>
            <a:ext cx="81381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6F9FC"/>
                </a:solidFill>
                <a:latin typeface="Malgun Gothic"/>
              </a:defRPr>
            </a:pPr>
            <a:r>
              <a:t>event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1865376"/>
            <a:ext cx="960120" cy="530352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0072" y="2020824"/>
            <a:ext cx="81381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6F9FC"/>
                </a:solidFill>
                <a:latin typeface="Malgun Gothic"/>
              </a:defRPr>
            </a:pPr>
            <a:r>
              <a:t>grant 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88352" y="2880360"/>
            <a:ext cx="2999232" cy="1051560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3218688"/>
            <a:ext cx="2596896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700" b="1">
                <a:solidFill>
                  <a:srgbClr val="F6F9FC"/>
                </a:solidFill>
                <a:latin typeface="Malgun Gothic"/>
              </a:defRPr>
            </a:pPr>
            <a:r>
              <a:t>slot 0: A  |  slot 1: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343400"/>
            <a:ext cx="449884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FFB746"/>
                </a:solidFill>
                <a:latin typeface="Malgun Gothic"/>
              </a:defRPr>
            </a:pPr>
            <a:r>
              <a:t>두 번째 event를 overrun 대신 저장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37CD85"/>
                </a:solidFill>
                <a:latin typeface="Malgun Gothic"/>
              </a:defRPr>
            </a:pPr>
            <a:r>
              <a:t>병렬 표현과 local buffering을 분리했기 때문에 두 병목을 동시에 완화한다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02 구조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bitmap은 출력 폭을, depth-2는 같은 source 재발생을 푼다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02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lane steal은 불균형을, lockstep은 event 의미를 지킨다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final polarity RTL · native observational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143000"/>
            <a:ext cx="5230368" cy="416052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B2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426464"/>
            <a:ext cx="46817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B27EFF"/>
                </a:solidFill>
                <a:latin typeface="Malgun Gothic"/>
              </a:defRPr>
            </a:pPr>
            <a:r>
              <a:t>IDEA 3  CONDITIONAL STEAL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993392"/>
            <a:ext cx="1664208" cy="1371600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231136"/>
            <a:ext cx="1207008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2AD3CD"/>
                </a:solidFill>
                <a:latin typeface="Malgun Gothic"/>
              </a:defRPr>
            </a:pPr>
            <a:r>
              <a:t>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79192"/>
            <a:ext cx="1207008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F6F9FC"/>
                </a:solidFill>
                <a:latin typeface="Malgun Gothic"/>
              </a:defRPr>
            </a:pPr>
            <a:r>
              <a:t>busy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1993392"/>
            <a:ext cx="1664208" cy="1371600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AC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231136"/>
            <a:ext cx="1207008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ACC2D6"/>
                </a:solidFill>
                <a:latin typeface="Malgun Gothic"/>
              </a:defRPr>
            </a:pPr>
            <a:r>
              <a:t>PERIPH.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79192"/>
            <a:ext cx="1207008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ACC2D6"/>
                </a:solidFill>
                <a:latin typeface="Malgun Gothic"/>
              </a:defRPr>
            </a:pPr>
            <a:r>
              <a:t>idle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514600"/>
            <a:ext cx="1060704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B27EFF"/>
                </a:solidFill>
                <a:latin typeface="Malgun Gothic"/>
              </a:defRPr>
            </a:pPr>
            <a:r>
              <a:t>← steal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50791"/>
            <a:ext cx="4480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B27EFF"/>
                </a:solidFill>
                <a:latin typeface="Malgun Gothic"/>
              </a:defRPr>
            </a:pPr>
            <a:r>
              <a:t>idle class의 처리력을 재사용</a:t>
            </a:r>
            <a:br/>
            <a:r>
              <a:t>(global fairness 수치는 별도)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143000"/>
            <a:ext cx="5230368" cy="416052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426464"/>
            <a:ext cx="468172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4793FF"/>
                </a:solidFill>
                <a:latin typeface="Malgun Gothic"/>
              </a:defRPr>
            </a:pPr>
            <a:r>
              <a:t>IDEA 4  POLARITY LOCKSTEP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1975104"/>
            <a:ext cx="4078224" cy="74980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17627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400" b="1">
                <a:solidFill>
                  <a:srgbClr val="4793FF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176272"/>
            <a:ext cx="157276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1">
                <a:solidFill>
                  <a:srgbClr val="F6F9FC"/>
                </a:solidFill>
                <a:latin typeface="Malgun Gothic"/>
              </a:defRPr>
            </a:pPr>
            <a:r>
              <a:t>row2 col1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176272"/>
            <a:ext cx="12344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300" b="1">
                <a:solidFill>
                  <a:srgbClr val="4793FF"/>
                </a:solidFill>
                <a:latin typeface="Malgun Gothic"/>
              </a:defRPr>
            </a:pPr>
            <a:r>
              <a:t>pol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3026664"/>
            <a:ext cx="4078224" cy="74980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322783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400" b="1">
                <a:solidFill>
                  <a:srgbClr val="4793FF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27832"/>
            <a:ext cx="157276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1">
                <a:solidFill>
                  <a:srgbClr val="F6F9FC"/>
                </a:solidFill>
                <a:latin typeface="Malgun Gothic"/>
              </a:defRPr>
            </a:pPr>
            <a:r>
              <a:t>row2 col2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3227832"/>
            <a:ext cx="12344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300" b="1">
                <a:solidFill>
                  <a:srgbClr val="4793FF"/>
                </a:solidFill>
                <a:latin typeface="Malgun Gothic"/>
              </a:defRPr>
            </a:pPr>
            <a:r>
              <a:t>pol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297680"/>
            <a:ext cx="45537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4793FF"/>
                </a:solidFill>
                <a:latin typeface="Malgun Gothic"/>
              </a:defRPr>
            </a:pPr>
            <a:r>
              <a:t>주소·polarity를 같은 slot에서 push/pop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37CD85"/>
                </a:solidFill>
                <a:latin typeface="Malgun Gothic"/>
              </a:defRPr>
            </a:pPr>
            <a:r>
              <a:t>steal_buf는 처리력 낭비와 재발생 손실을 잡고, polarity FIFO는 의미를 보존한다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02 구조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lane steal은 불균형을, lockstep은 event 의미를 지킨다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02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주소 overhead는 전송 부호화 계층에서 더 줄일 수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row-trim/repeat-flag architecture studies · integration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3163824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2AD3CD"/>
                </a:solidFill>
                <a:latin typeface="Malgun Gothic"/>
              </a:defRPr>
            </a:pPr>
            <a:r>
              <a:t>현재 최종 RTL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097280"/>
            <a:ext cx="685800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B746"/>
                </a:solidFill>
                <a:latin typeface="Malgun Gothic"/>
              </a:defRPr>
            </a:pPr>
            <a:r>
              <a:t>별도 address-codec 실험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481328"/>
            <a:ext cx="3291840" cy="3401568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810512"/>
            <a:ext cx="27432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2AD3CD"/>
                </a:solidFill>
                <a:latin typeface="Malgun Gothic"/>
              </a:defRPr>
            </a:pPr>
            <a:r>
              <a:t>ROW + MASK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414016"/>
            <a:ext cx="2084831" cy="11155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6F9FC"/>
                </a:solidFill>
                <a:latin typeface="Malgun Gothic"/>
              </a:defRPr>
            </a:pPr>
            <a:r>
              <a:t>row</a:t>
            </a:r>
            <a:br/>
            <a:r>
              <a:t>col_mask</a:t>
            </a:r>
            <a:br/>
            <a:r>
              <a:t>pol_mask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24528"/>
            <a:ext cx="278892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ACC2D6"/>
                </a:solidFill>
                <a:latin typeface="Malgun Gothic"/>
              </a:defRPr>
            </a:pPr>
            <a:r>
              <a:t>bitmap으로 반복 주소 집약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81328"/>
            <a:ext cx="3182112" cy="3401568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AC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1810512"/>
            <a:ext cx="2670048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ACC2D6"/>
                </a:solidFill>
                <a:latin typeface="Malgun Gothic"/>
              </a:defRPr>
            </a:pPr>
            <a:r>
              <a:t>ROW-TRIM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441448"/>
            <a:ext cx="237744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800" b="1">
                <a:solidFill>
                  <a:srgbClr val="ACC2D6"/>
                </a:solidFill>
                <a:latin typeface="Malgun Gothic"/>
              </a:defRPr>
            </a:pPr>
            <a:r>
              <a:t>−14.29%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182112"/>
            <a:ext cx="2596896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F6F9FC"/>
                </a:solidFill>
                <a:latin typeface="Malgun Gothic"/>
              </a:defRPr>
            </a:pPr>
            <a:r>
              <a:t>기본 Cluster2 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840480"/>
            <a:ext cx="27432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F6376"/>
                </a:solidFill>
                <a:latin typeface="Malgun Gothic"/>
              </a:defRPr>
            </a:pPr>
            <a:r>
              <a:t>address-only 실험</a:t>
            </a:r>
            <a:br/>
            <a:r>
              <a:t>steal 확장 row에는 적용 불가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4" y="1481328"/>
            <a:ext cx="3547872" cy="3401568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1810512"/>
            <a:ext cx="2999232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FFB746"/>
                </a:solidFill>
                <a:latin typeface="Malgun Gothic"/>
              </a:defRPr>
            </a:pPr>
            <a:r>
              <a:t>REPEAT-FLAG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441448"/>
            <a:ext cx="2414016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800" b="1">
                <a:solidFill>
                  <a:srgbClr val="FFB746"/>
                </a:solidFill>
                <a:latin typeface="Malgun Gothic"/>
              </a:defRPr>
            </a:pPr>
            <a:r>
              <a:t>−15.61%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182112"/>
            <a:ext cx="2633472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F6F9FC"/>
                </a:solidFill>
                <a:latin typeface="Malgun Gothic"/>
              </a:defRPr>
            </a:pPr>
            <a:r>
              <a:t>steal_buf address 실험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840480"/>
            <a:ext cx="2706624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FB746"/>
                </a:solidFill>
                <a:latin typeface="Malgun Gothic"/>
              </a:defRPr>
            </a:pPr>
            <a:r>
              <a:t>address-only 실험</a:t>
            </a:r>
            <a:br/>
            <a:r>
              <a:t>polarity grammar 재검증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B746"/>
                </a:solidFill>
                <a:latin typeface="Malgun Gothic"/>
              </a:defRPr>
            </a:pPr>
            <a:r>
              <a:t>최종 제출은 ROW+MASK이고, repeat-flag는 polarity 재검증이 필요한 2차 후보다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02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주소 overhead는 전송 부호화 계층에서 더 줄일 수 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03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steal_buf는 기본 Cluster2의 source-overrun을 95.9% 줄였다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recovered scalar/base + upstream steal_buf full50 · same 106,416-event denominator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517903"/>
            <a:ext cx="1353312" cy="2834640"/>
          </a:xfrm>
          <a:prstGeom prst="rect">
            <a:avLst/>
          </a:prstGeom>
          <a:solidFill>
            <a:srgbClr val="FF6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152144"/>
            <a:ext cx="2084831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200" b="1">
                <a:solidFill>
                  <a:srgbClr val="FF6376"/>
                </a:solidFill>
                <a:latin typeface="Malgun Gothic"/>
              </a:defRPr>
            </a:pPr>
            <a:r>
              <a:t>26.49%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590288"/>
            <a:ext cx="230428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F6F9FC"/>
                </a:solidFill>
                <a:latin typeface="Malgun Gothic"/>
              </a:defRPr>
            </a:pPr>
            <a:r>
              <a:t>SCALAR FOVEA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956048"/>
            <a:ext cx="2304288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0">
                <a:solidFill>
                  <a:srgbClr val="ACC2D6"/>
                </a:solidFill>
                <a:latin typeface="Malgun Gothic"/>
              </a:defRPr>
            </a:pPr>
            <a:r>
              <a:t>loss 28,187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3119812"/>
            <a:ext cx="1353312" cy="1232731"/>
          </a:xfrm>
          <a:prstGeom prst="rect">
            <a:avLst/>
          </a:prstGeom>
          <a:solidFill>
            <a:srgbClr val="F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754052"/>
            <a:ext cx="2084831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200" b="1">
                <a:solidFill>
                  <a:srgbClr val="FFB746"/>
                </a:solidFill>
                <a:latin typeface="Malgun Gothic"/>
              </a:defRPr>
            </a:pPr>
            <a:r>
              <a:t>11.52%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4590288"/>
            <a:ext cx="230428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F6F9FC"/>
                </a:solidFill>
                <a:latin typeface="Malgun Gothic"/>
              </a:defRPr>
            </a:pPr>
            <a:r>
              <a:t>BASE CLUSTER2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4956048"/>
            <a:ext cx="2304288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0">
                <a:solidFill>
                  <a:srgbClr val="ACC2D6"/>
                </a:solidFill>
                <a:latin typeface="Malgun Gothic"/>
              </a:defRPr>
            </a:pPr>
            <a:r>
              <a:t>loss 12,259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1423" y="4261104"/>
            <a:ext cx="1353312" cy="91440"/>
          </a:xfrm>
          <a:prstGeom prst="rect">
            <a:avLst/>
          </a:prstGeom>
          <a:solidFill>
            <a:srgbClr val="37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170432"/>
            <a:ext cx="2084831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200" b="1">
                <a:solidFill>
                  <a:srgbClr val="37CD85"/>
                </a:solidFill>
                <a:latin typeface="Malgun Gothic"/>
              </a:defRPr>
            </a:pPr>
            <a:r>
              <a:t>0.47%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4590288"/>
            <a:ext cx="230428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F6F9FC"/>
                </a:solidFill>
                <a:latin typeface="Malgun Gothic"/>
              </a:defRPr>
            </a:pPr>
            <a:r>
              <a:t>STEAL_BUF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956048"/>
            <a:ext cx="2304288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0">
                <a:solidFill>
                  <a:srgbClr val="ACC2D6"/>
                </a:solidFill>
                <a:latin typeface="Malgun Gothic"/>
              </a:defRPr>
            </a:pPr>
            <a:r>
              <a:t>loss 502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417320"/>
            <a:ext cx="2331720" cy="1371600"/>
          </a:xfrm>
          <a:prstGeom prst="roundRect">
            <a:avLst/>
          </a:prstGeom>
          <a:solidFill>
            <a:srgbClr val="37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664208"/>
            <a:ext cx="1929384" cy="42062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700" b="1">
                <a:solidFill>
                  <a:srgbClr val="071627"/>
                </a:solidFill>
                <a:latin typeface="Malgun Gothic"/>
              </a:defRPr>
            </a:pPr>
            <a:r>
              <a:t>−95.9%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212848"/>
            <a:ext cx="20116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071627"/>
                </a:solidFill>
                <a:latin typeface="Malgun Gothic"/>
              </a:defRPr>
            </a:pPr>
            <a:r>
              <a:t>남은 loss = 1/24.42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9952" y="3108960"/>
            <a:ext cx="2697480" cy="1078992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3319272"/>
            <a:ext cx="22860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600" b="1">
                <a:solidFill>
                  <a:srgbClr val="37CD85"/>
                </a:solidFill>
                <a:latin typeface="Malgun Gothic"/>
              </a:defRPr>
            </a:pPr>
            <a:r>
              <a:t>48 / 50 traces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3721608"/>
            <a:ext cx="2322576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1">
                <a:solidFill>
                  <a:srgbClr val="ACC2D6"/>
                </a:solidFill>
                <a:latin typeface="Malgun Gothic"/>
              </a:defRPr>
            </a:pPr>
            <a:r>
              <a:t>overrun 0 · worst 5.39%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B746"/>
                </a:solidFill>
                <a:latin typeface="Malgun Gothic"/>
              </a:defRPr>
            </a:pPr>
            <a:r>
              <a:t>architecture-family full50 결과이며, 다음 UZH polarity-v1 검증과는 별도 population이다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03 결과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steal_buf는 기본 Cluster2의 source-overrun을 95.9% 줄였다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03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실제 TB가 입력부터 cycle ledger까지 독립 검증한다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Xcelium 23.09-s013 · polarity-v1 native observational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25296"/>
            <a:ext cx="2212848" cy="114300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444752"/>
            <a:ext cx="1883664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4793FF"/>
                </a:solidFill>
                <a:latin typeface="Malgun Gothic"/>
              </a:defRPr>
            </a:pPr>
            <a:r>
              <a:t>UZH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10512"/>
            <a:ext cx="18836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6F9FC"/>
                </a:solidFill>
                <a:latin typeface="Malgun Gothic"/>
              </a:defRPr>
            </a:pPr>
            <a:r>
              <a:t>8,503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00200"/>
            <a:ext cx="329184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4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2112" y="1225296"/>
            <a:ext cx="2212848" cy="114300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1444752"/>
            <a:ext cx="1883664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2AD3CD"/>
                </a:solidFill>
                <a:latin typeface="Malgun Gothic"/>
              </a:defRPr>
            </a:pPr>
            <a:r>
              <a:t>RTL + TB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1810512"/>
            <a:ext cx="18836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6F9FC"/>
                </a:solidFill>
                <a:latin typeface="Malgun Gothic"/>
              </a:defRPr>
            </a:pPr>
            <a:r>
              <a:t>Xcelium 23.09-s013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1600200"/>
            <a:ext cx="329184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4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1225296"/>
            <a:ext cx="2212848" cy="114300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B2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1444752"/>
            <a:ext cx="1883664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B27EFF"/>
                </a:solidFill>
                <a:latin typeface="Malgun Gothic"/>
              </a:defRPr>
            </a:pPr>
            <a:r>
              <a:t>CYCLE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810512"/>
            <a:ext cx="18836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6F9FC"/>
                </a:solidFill>
                <a:latin typeface="Malgun Gothic"/>
              </a:defRPr>
            </a:pPr>
            <a:r>
              <a:t>independent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1600200"/>
            <a:ext cx="329184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4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225296"/>
            <a:ext cx="2212848" cy="114300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444752"/>
            <a:ext cx="1883664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37CD85"/>
                </a:solidFill>
                <a:latin typeface="Malgun Gothic"/>
              </a:defRPr>
            </a:pPr>
            <a: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810512"/>
            <a:ext cx="18836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6F9FC"/>
                </a:solidFill>
                <a:latin typeface="Malgun Gothic"/>
              </a:defRPr>
            </a:pPr>
            <a:r>
              <a:t>8,503 / 8,503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487168"/>
            <a:ext cx="9601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800" b="1">
                <a:solidFill>
                  <a:srgbClr val="ACC2D6"/>
                </a:solidFill>
                <a:latin typeface="Malgun Gothic"/>
              </a:defRPr>
            </a:pPr>
            <a:r>
              <a:t>TB · redred_cluster2_polarity_v1_native_observational_tb.sv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2761488"/>
            <a:ext cx="10561320" cy="1225296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2990088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2AD3CD"/>
                </a:solidFill>
                <a:latin typeface="Malgun Gothic"/>
              </a:defRPr>
            </a:pPr>
            <a:r>
              <a:t>REAL RETIRE · CYCLE 4162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2953512"/>
            <a:ext cx="312724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600" b="1">
                <a:solidFill>
                  <a:srgbClr val="F6F9FC"/>
                </a:solidFill>
                <a:latin typeface="Malgun Gothic"/>
              </a:defRPr>
            </a:pPr>
            <a:r>
              <a:t>lane0  row2  col=0x6  pol=0x0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2953512"/>
            <a:ext cx="312724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600" b="1">
                <a:solidFill>
                  <a:srgbClr val="F6F9FC"/>
                </a:solidFill>
                <a:latin typeface="Malgun Gothic"/>
              </a:defRPr>
            </a:pPr>
            <a:r>
              <a:t>lane1  row0  col=0x1  pol=0x1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493008"/>
            <a:ext cx="66751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37CD85"/>
                </a:solidFill>
                <a:latin typeface="Malgun Gothic"/>
              </a:defRPr>
            </a:pPr>
            <a:r>
              <a:t>col_mask popcount 2 + 1  →  두 lane에서 3 events 동시 retire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" y="4361688"/>
            <a:ext cx="2249424" cy="74980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535424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ACC2D6"/>
                </a:solidFill>
                <a:latin typeface="Malgun Gothic"/>
              </a:defRPr>
            </a:pPr>
            <a:r>
              <a:t>overrun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6312" y="4489704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900" b="1">
                <a:solidFill>
                  <a:srgbClr val="37CD8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84448" y="4361688"/>
            <a:ext cx="2249424" cy="74980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4176" y="4535424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ACC2D6"/>
                </a:solidFill>
                <a:latin typeface="Malgun Gothic"/>
              </a:defRPr>
            </a:pPr>
            <a:r>
              <a:t>phantom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4489704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900" b="1">
                <a:solidFill>
                  <a:srgbClr val="37CD8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4361688"/>
            <a:ext cx="2249424" cy="74980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4535424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ACC2D6"/>
                </a:solidFill>
                <a:latin typeface="Malgun Gothic"/>
              </a:defRPr>
            </a:pPr>
            <a:r>
              <a:t>duplicate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0104" y="4489704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900" b="1">
                <a:solidFill>
                  <a:srgbClr val="37CD8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4361688"/>
            <a:ext cx="2249424" cy="749808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87967" y="4535424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ACC2D6"/>
                </a:solidFill>
                <a:latin typeface="Malgun Gothic"/>
              </a:defRPr>
            </a:pPr>
            <a:r>
              <a:t>pol mismatch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4489704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1900" b="1">
                <a:solidFill>
                  <a:srgbClr val="37CD8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37CD85"/>
                </a:solidFill>
                <a:latin typeface="Malgun Gothic"/>
              </a:defRPr>
            </a:pPr>
            <a:r>
              <a:t>UZH shapes_rotation 4×4 patch · 1 ms bins · selected-event polarity sequence · drain empty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03 결과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실제 TB가 입력부터 cycle ledger까지 독립 검증한다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04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최종 polarity RTL은 285.714 MHz에서 setup·hold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Genus/Innovus slow 0.9 V 125 °C · discrete timing 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143000"/>
            <a:ext cx="3182112" cy="105156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271016"/>
            <a:ext cx="2852928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900" b="1">
                <a:solidFill>
                  <a:srgbClr val="ACC2D6"/>
                </a:solidFill>
                <a:latin typeface="Malgun Gothic"/>
              </a:defRPr>
            </a:pPr>
            <a:r>
              <a:t>FASTEST TESTED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508760"/>
            <a:ext cx="2852928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400" b="1">
                <a:solidFill>
                  <a:srgbClr val="37CD85"/>
                </a:solidFill>
                <a:latin typeface="Malgun Gothic"/>
              </a:defRPr>
            </a:pPr>
            <a:r>
              <a:t>285.714 MHz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947672"/>
            <a:ext cx="2852928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00" b="0">
                <a:solidFill>
                  <a:srgbClr val="ACC2D6"/>
                </a:solidFill>
                <a:latin typeface="Malgun Gothic"/>
              </a:defRPr>
            </a:pPr>
            <a:r>
              <a:t>setup +0.454 ns · hold +0.167 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143000"/>
            <a:ext cx="3182112" cy="105156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271016"/>
            <a:ext cx="2852928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900" b="1">
                <a:solidFill>
                  <a:srgbClr val="ACC2D6"/>
                </a:solidFill>
                <a:latin typeface="Malgun Gothic"/>
              </a:defRPr>
            </a:pPr>
            <a:r>
              <a:t>SYNTHESIS → P&amp;R AREA 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554480"/>
            <a:ext cx="2852928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2AD3CD"/>
                </a:solidFill>
                <a:latin typeface="Malgun Gothic"/>
              </a:defRPr>
            </a:pPr>
            <a:r>
              <a:t>Genus 1156.644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847088"/>
            <a:ext cx="2852928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6F9FC"/>
                </a:solidFill>
                <a:latin typeface="Malgun Gothic"/>
              </a:defRPr>
            </a:pPr>
            <a:r>
              <a:t>Innovus 1254.114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6096" y="1143000"/>
            <a:ext cx="3639312" cy="105156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1271016"/>
            <a:ext cx="3310128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900" b="1">
                <a:solidFill>
                  <a:srgbClr val="ACC2D6"/>
                </a:solidFill>
                <a:latin typeface="Malgun Gothic"/>
              </a:defRPr>
            </a:pPr>
            <a:r>
              <a:t>VECTORLESS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1508760"/>
            <a:ext cx="3310128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400" b="1">
                <a:solidFill>
                  <a:srgbClr val="FFB746"/>
                </a:solidFill>
                <a:latin typeface="Malgun Gothic"/>
              </a:defRPr>
            </a:pPr>
            <a:r>
              <a:t>0.107389 mW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1947672"/>
            <a:ext cx="3310128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00" b="0">
                <a:solidFill>
                  <a:srgbClr val="ACC2D6"/>
                </a:solidFill>
                <a:latin typeface="Malgun Gothic"/>
              </a:defRPr>
            </a:pPr>
            <a:r>
              <a:t>default activity 0.2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" y="2999232"/>
            <a:ext cx="9829800" cy="91440"/>
          </a:xfrm>
          <a:prstGeom prst="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98448" y="2798064"/>
            <a:ext cx="420624" cy="420624"/>
          </a:xfrm>
          <a:prstGeom prst="roundRect">
            <a:avLst/>
          </a:prstGeom>
          <a:solidFill>
            <a:srgbClr val="37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3447288"/>
            <a:ext cx="1078992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37CD85"/>
                </a:solidFill>
                <a:latin typeface="Malgun Gothic"/>
              </a:defRPr>
            </a:pPr>
            <a:r>
              <a:t>222.2 MHz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40480"/>
            <a:ext cx="122529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0">
                <a:solidFill>
                  <a:srgbClr val="ACC2D6"/>
                </a:solidFill>
                <a:latin typeface="Malgun Gothic"/>
              </a:defRPr>
            </a:pPr>
            <a:r>
              <a:t>setup +1.349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68496" y="2798064"/>
            <a:ext cx="420624" cy="420624"/>
          </a:xfrm>
          <a:prstGeom prst="roundRect">
            <a:avLst/>
          </a:prstGeom>
          <a:solidFill>
            <a:srgbClr val="37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3447288"/>
            <a:ext cx="1078992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37CD85"/>
                </a:solidFill>
                <a:latin typeface="Malgun Gothic"/>
              </a:defRPr>
            </a:pPr>
            <a:r>
              <a:t>250.0 MHz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40480"/>
            <a:ext cx="122529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0">
                <a:solidFill>
                  <a:srgbClr val="ACC2D6"/>
                </a:solidFill>
                <a:latin typeface="Malgun Gothic"/>
              </a:defRPr>
            </a:pPr>
            <a:r>
              <a:t>setup +0.849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56832" y="2798064"/>
            <a:ext cx="420624" cy="420624"/>
          </a:xfrm>
          <a:prstGeom prst="roundRect">
            <a:avLst/>
          </a:prstGeom>
          <a:solidFill>
            <a:srgbClr val="37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447288"/>
            <a:ext cx="1078992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37CD85"/>
                </a:solidFill>
                <a:latin typeface="Malgun Gothic"/>
              </a:defRPr>
            </a:pPr>
            <a:r>
              <a:t>285.7 MHz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3840480"/>
            <a:ext cx="122529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0">
                <a:solidFill>
                  <a:srgbClr val="ACC2D6"/>
                </a:solidFill>
                <a:latin typeface="Malgun Gothic"/>
              </a:defRPr>
            </a:pPr>
            <a:r>
              <a:t>setup +0.454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91472" y="2798064"/>
            <a:ext cx="420624" cy="420624"/>
          </a:xfrm>
          <a:prstGeom prst="roundRect">
            <a:avLst/>
          </a:prstGeom>
          <a:solidFill>
            <a:srgbClr val="FF6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62288" y="3447288"/>
            <a:ext cx="1078992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6376"/>
                </a:solidFill>
                <a:latin typeface="Malgun Gothic"/>
              </a:defRPr>
            </a:pPr>
            <a:r>
              <a:t>333.3 MHz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840480"/>
            <a:ext cx="1225296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00" b="0">
                <a:solidFill>
                  <a:srgbClr val="ACC2D6"/>
                </a:solidFill>
                <a:latin typeface="Malgun Gothic"/>
              </a:defRPr>
            </a:pPr>
            <a:r>
              <a:t>setup −0.004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" y="4407408"/>
            <a:ext cx="6547104" cy="676656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608576"/>
            <a:ext cx="618134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F6F9FC"/>
                </a:solidFill>
                <a:latin typeface="Malgun Gothic"/>
              </a:defRPr>
            </a:pPr>
            <a:r>
              <a:t>각 period: Genus generic→map→opt  |  Innovus place→CTS→route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54112" y="4407408"/>
            <a:ext cx="3310128" cy="676656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4608576"/>
            <a:ext cx="2944368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37CD85"/>
                </a:solidFill>
                <a:latin typeface="Malgun Gothic"/>
              </a:defRPr>
            </a:pPr>
            <a:r>
              <a:t>internal DRC 0 · antenna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266944"/>
            <a:ext cx="1001268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800" b="1">
                <a:solidFill>
                  <a:srgbClr val="ACC2D6"/>
                </a:solidFill>
                <a:latin typeface="Malgun Gothic"/>
              </a:defRPr>
            </a:pPr>
            <a:r>
              <a:t>single slow Non-OCV · SI off · no SPEF/RCDB · internal flow, not signoff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B746"/>
                </a:solidFill>
                <a:latin typeface="Malgun Gothic"/>
              </a:defRPr>
            </a:pPr>
            <a:r>
              <a:t>285.714 MHz는 검증 동작점이며, 333.333 MHz는 첫 faster setup FAIL이다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04 구현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최종 polarity RTL은 285.714 MHz에서 setup·hold 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05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별도 software path에서 CAV 좌표계 전수 분기를 검증했다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Source: sealed legacy address-only official UZH→CAV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078992"/>
            <a:ext cx="10771632" cy="457200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197864"/>
            <a:ext cx="103327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B27EFF"/>
                </a:solidFill>
                <a:latin typeface="Malgun Gothic"/>
              </a:defRPr>
            </a:pPr>
            <a:r>
              <a:t>검증 완료 · legacy address-only software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847088"/>
            <a:ext cx="2139696" cy="1353312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103120"/>
            <a:ext cx="1828800" cy="2103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4793FF"/>
                </a:solidFill>
                <a:latin typeface="Malgun Gothic"/>
              </a:defRPr>
            </a:pPr>
            <a:r>
              <a:t>UZH + 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51176"/>
            <a:ext cx="18288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F6F9FC"/>
                </a:solidFill>
                <a:latin typeface="Malgun Gothic"/>
              </a:defRPr>
            </a:pPr>
            <a:r>
              <a:t>8,503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295144"/>
            <a:ext cx="3657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4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5264" y="1847088"/>
            <a:ext cx="2139696" cy="1353312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103120"/>
            <a:ext cx="1828800" cy="2103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37CD85"/>
                </a:solidFill>
                <a:latin typeface="Malgun Gothic"/>
              </a:defRPr>
            </a:pPr>
            <a:r>
              <a:t>TB-SIDE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551176"/>
            <a:ext cx="18288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F6F9FC"/>
                </a:solidFill>
                <a:latin typeface="Malgun Gothic"/>
              </a:defRPr>
            </a:pPr>
            <a:r>
              <a:t>8,503 / 8,503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295144"/>
            <a:ext cx="3657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4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1847088"/>
            <a:ext cx="2139696" cy="1353312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B2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2103120"/>
            <a:ext cx="1828800" cy="2103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B27EFF"/>
                </a:solidFill>
                <a:latin typeface="Malgun Gothic"/>
              </a:defRPr>
            </a:pPr>
            <a:r>
              <a:t>CAUSAL-CAV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551176"/>
            <a:ext cx="18288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F6F9FC"/>
                </a:solidFill>
                <a:latin typeface="Malgun Gothic"/>
              </a:defRPr>
            </a:pPr>
            <a:r>
              <a:t>occurrence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1975104"/>
            <a:ext cx="384048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200" b="1">
                <a:solidFill>
                  <a:srgbClr val="2AD3CD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898648"/>
            <a:ext cx="384048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200" b="1">
                <a:solidFill>
                  <a:srgbClr val="FFB74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691640"/>
            <a:ext cx="2331720" cy="105156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2011680"/>
            <a:ext cx="193852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2AD3CD"/>
                </a:solidFill>
                <a:latin typeface="Malgun Gothic"/>
              </a:defRPr>
            </a:pPr>
            <a:r>
              <a:t>WORLD  8,420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2962656"/>
            <a:ext cx="2331720" cy="1051560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3282696"/>
            <a:ext cx="193852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B746"/>
                </a:solidFill>
                <a:latin typeface="Malgun Gothic"/>
              </a:defRPr>
            </a:pPr>
            <a:r>
              <a:t>BYPASS  83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" y="4160520"/>
            <a:ext cx="5120640" cy="713232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" y="4379976"/>
            <a:ext cx="4645152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400" b="1">
                <a:solidFill>
                  <a:srgbClr val="B27EFF"/>
                </a:solidFill>
                <a:latin typeface="Malgun Gothic"/>
              </a:defRPr>
            </a:pPr>
            <a:r>
              <a:t>ID는 RTL payload 아님 · WORLD grid 821 cells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160520"/>
            <a:ext cx="4754880" cy="713232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4379976"/>
            <a:ext cx="431596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B746"/>
                </a:solidFill>
                <a:latin typeface="Malgun Gothic"/>
              </a:defRPr>
            </a:pPr>
            <a:r>
              <a:t>NEXT · polarity full replay → CAV RTL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B746"/>
                </a:solidFill>
                <a:latin typeface="Malgun Gothic"/>
              </a:defRPr>
            </a:pPr>
            <a:r>
              <a:t>확장성은 software 기능 경로로 입증했고, polarity→CAV RTL/PPA는 2차 과제다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05 확장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별도 software path에서 CAV 좌표계 전수 분기를 검증했다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결론: 병목·의미·구현·확장성을 하나의 흐름으로 검증했다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033272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600" b="0">
                <a:solidFill>
                  <a:srgbClr val="ACC2D6"/>
                </a:solidFill>
                <a:latin typeface="Malgun Gothic"/>
              </a:defRPr>
            </a:pPr>
            <a:r>
              <a:t>Source bundle: receipts · raw reports · SHA256SUMS · PROVENANCE.json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92240"/>
            <a:ext cx="548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1">
                <a:solidFill>
                  <a:srgbClr val="2AD3CD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61872"/>
            <a:ext cx="3218688" cy="2029968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2A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36192"/>
            <a:ext cx="276148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2AD3CD"/>
                </a:solidFill>
                <a:latin typeface="Malgun Gothic"/>
              </a:defRPr>
            </a:pPr>
            <a:r>
              <a:t>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93392"/>
            <a:ext cx="2761488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000" b="1">
                <a:solidFill>
                  <a:srgbClr val="F6F9FC"/>
                </a:solidFill>
                <a:latin typeface="Malgun Gothic"/>
              </a:defRPr>
            </a:pPr>
            <a:r>
              <a:t>bitmap · FIFO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42032"/>
            <a:ext cx="276148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2AD3CD"/>
                </a:solidFill>
                <a:latin typeface="Malgun Gothic"/>
              </a:defRPr>
            </a:pPr>
            <a:r>
              <a:t>steal · polarity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261872"/>
            <a:ext cx="3218688" cy="2029968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37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36192"/>
            <a:ext cx="276148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37CD85"/>
                </a:solidFill>
                <a:latin typeface="Malgun Gothic"/>
              </a:defRPr>
            </a:pPr>
            <a:r>
              <a:t>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93392"/>
            <a:ext cx="2761488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000" b="1">
                <a:solidFill>
                  <a:srgbClr val="F6F9FC"/>
                </a:solidFill>
                <a:latin typeface="Malgun Gothic"/>
              </a:defRPr>
            </a:pPr>
            <a:r>
              <a:t>loss 0.47%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42032"/>
            <a:ext cx="276148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37CD85"/>
                </a:solidFill>
                <a:latin typeface="Malgun Gothic"/>
              </a:defRPr>
            </a:pPr>
            <a:r>
              <a:t>95.9% 감소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8704" y="1261872"/>
            <a:ext cx="3218688" cy="2029968"/>
          </a:xfrm>
          <a:prstGeom prst="roundRect">
            <a:avLst/>
          </a:prstGeom>
          <a:solidFill>
            <a:srgbClr val="12304C"/>
          </a:solidFill>
          <a:ln w="19050">
            <a:solidFill>
              <a:srgbClr val="4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1536192"/>
            <a:ext cx="276148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300" b="1">
                <a:solidFill>
                  <a:srgbClr val="4793FF"/>
                </a:solidFill>
                <a:latin typeface="Malgun Gothic"/>
              </a:defRPr>
            </a:pPr>
            <a:r>
              <a:t>최종 RTL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1993392"/>
            <a:ext cx="2761488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000" b="1">
                <a:solidFill>
                  <a:srgbClr val="F6F9FC"/>
                </a:solidFill>
                <a:latin typeface="Malgun Gothic"/>
              </a:defRPr>
            </a:pPr>
            <a:r>
              <a:t>8,503 / 8,503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542032"/>
            <a:ext cx="2761488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4793FF"/>
                </a:solidFill>
                <a:latin typeface="Malgun Gothic"/>
              </a:defRPr>
            </a:pPr>
            <a:r>
              <a:t>285.714 MHz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822191"/>
            <a:ext cx="10424160" cy="1097280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114800"/>
            <a:ext cx="694944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B746"/>
                </a:solidFill>
                <a:latin typeface="Malgun Gothic"/>
              </a:defRPr>
            </a:pPr>
            <a:r>
              <a:t>2차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10512" y="4023360"/>
            <a:ext cx="1517904" cy="493776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83664" y="4178808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6F9FC"/>
                </a:solidFill>
                <a:latin typeface="Malgun Gothic"/>
              </a:defRPr>
            </a:pPr>
            <a:r>
              <a:t>repeat-flag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6704" y="4114800"/>
            <a:ext cx="22860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ACC2D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21024" y="4023360"/>
            <a:ext cx="1517904" cy="493776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4178808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6F9FC"/>
                </a:solidFill>
                <a:latin typeface="Malgun Gothic"/>
              </a:defRPr>
            </a:pPr>
            <a:r>
              <a:t>polarity→CAV replay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4114800"/>
            <a:ext cx="22860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ACC2D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31536" y="4023360"/>
            <a:ext cx="1517904" cy="493776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4688" y="4178808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6F9FC"/>
                </a:solidFill>
                <a:latin typeface="Malgun Gothic"/>
              </a:defRPr>
            </a:pPr>
            <a:r>
              <a:t>CAV RTL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7" y="4114800"/>
            <a:ext cx="22860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ACC2D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42048" y="4023360"/>
            <a:ext cx="1517904" cy="493776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178808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6F9FC"/>
                </a:solidFill>
                <a:latin typeface="Malgun Gothic"/>
              </a:defRPr>
            </a:pPr>
            <a:r>
              <a:t>activity power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114800"/>
            <a:ext cx="22860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ACC2D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4023360"/>
            <a:ext cx="1517904" cy="493776"/>
          </a:xfrm>
          <a:prstGeom prst="roundRect">
            <a:avLst/>
          </a:prstGeom>
          <a:solidFill>
            <a:srgbClr val="193E5C"/>
          </a:solidFill>
          <a:ln w="19050">
            <a:solidFill>
              <a:srgbClr val="FF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2" y="4178808"/>
            <a:ext cx="13716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F6F9FC"/>
                </a:solidFill>
                <a:latin typeface="Malgun Gothic"/>
              </a:defRPr>
            </a:pPr>
            <a:r>
              <a:t>exact Fmax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669280"/>
            <a:ext cx="10771632" cy="566928"/>
          </a:xfrm>
          <a:prstGeom prst="roundRect">
            <a:avLst/>
          </a:prstGeom>
          <a:solidFill>
            <a:srgbClr val="12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806440"/>
            <a:ext cx="103327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37CD85"/>
                </a:solidFill>
                <a:latin typeface="Malgun Gothic"/>
              </a:defRPr>
            </a:pPr>
            <a:r>
              <a:t>1차 GO: polarity RTL·TB·PPA·CAV software evidence  |  2차: link·CAV RTL·정밀 PPA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128016"/>
            <a:ext cx="11247120" cy="621792"/>
          </a:xfrm>
          <a:prstGeom prst="rect">
            <a:avLst/>
          </a:prstGeom>
          <a:solidFill>
            <a:srgbClr val="07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237744"/>
            <a:ext cx="1280160" cy="310896"/>
          </a:xfrm>
          <a:prstGeom prst="roundRect">
            <a:avLst/>
          </a:prstGeom>
          <a:solidFill>
            <a:srgbClr val="19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283464"/>
            <a:ext cx="1188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000" b="1">
                <a:solidFill>
                  <a:srgbClr val="2AD3CD"/>
                </a:solidFill>
                <a:latin typeface="Malgun Gothic"/>
              </a:defRPr>
            </a:pPr>
            <a:r>
              <a:t>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3392" y="182880"/>
            <a:ext cx="9555480" cy="49377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F6F9FC"/>
                </a:solidFill>
                <a:latin typeface="Malgun Gothic"/>
              </a:defRPr>
            </a:pPr>
            <a:r>
              <a:t>결론: 병목·의미·구현·확장성을 하나의 흐름으로 검증했다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804672"/>
            <a:ext cx="11137392" cy="22860"/>
          </a:xfrm>
          <a:prstGeom prst="rect">
            <a:avLst/>
          </a:prstGeom>
          <a:solidFill>
            <a:srgbClr val="2A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Cluster2 Steal-Buffer Polarity AER</dc:title>
  <dc:subject>AER bottleneck, architecture, quantitative improvement, RTL simulation, physical implementation, CAV extension</dc:subject>
  <dc:creator>AI-semi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