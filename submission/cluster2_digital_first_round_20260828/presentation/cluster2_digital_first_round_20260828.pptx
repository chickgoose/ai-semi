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34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475488"/>
            <a:ext cx="1572768" cy="310896"/>
          </a:xfrm>
          <a:prstGeom prst="round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44068"/>
            <a:ext cx="146304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DIGITAL 1차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6583680" cy="129844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Malgun Gothic"/>
              </a:defRPr>
            </a:pPr>
            <a:r>
              <a:t>Cluster2 Steal-Buffer</a:t>
            </a:r>
            <a:br/>
            <a:r>
              <a:t>Polarity AER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514600"/>
            <a:ext cx="7498079" cy="38404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D2E2EE"/>
                </a:solidFill>
                <a:latin typeface="Malgun Gothic"/>
              </a:defRPr>
            </a:pPr>
            <a:r>
              <a:t>동시성은 넓히고 · 재발생은 흡수하고 · event 의미는 보존한다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" y="3273552"/>
            <a:ext cx="2322576" cy="1024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74720"/>
            <a:ext cx="2066543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16 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85615"/>
            <a:ext cx="2066543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event + polarity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90672" y="3675887"/>
            <a:ext cx="219456" cy="182880"/>
          </a:xfrm>
          <a:prstGeom prst="rightArrow">
            <a:avLst/>
          </a:prstGeom>
          <a:solidFill>
            <a:srgbClr val="8DA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92424" y="3273552"/>
            <a:ext cx="2322576" cy="1024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3474720"/>
            <a:ext cx="2066543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LOCAL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3785615"/>
            <a:ext cx="2066543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depth-2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788152" y="3675887"/>
            <a:ext cx="219456" cy="182880"/>
          </a:xfrm>
          <a:prstGeom prst="rightArrow">
            <a:avLst/>
          </a:prstGeom>
          <a:solidFill>
            <a:srgbClr val="8DA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89904" y="3273552"/>
            <a:ext cx="2322576" cy="1024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3474720"/>
            <a:ext cx="2066543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SCHEDULE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785615"/>
            <a:ext cx="2066543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2 lanes + steal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485632" y="3675887"/>
            <a:ext cx="219456" cy="182880"/>
          </a:xfrm>
          <a:prstGeom prst="rightArrow">
            <a:avLst/>
          </a:prstGeom>
          <a:solidFill>
            <a:srgbClr val="8DA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787384" y="3273552"/>
            <a:ext cx="2322576" cy="1024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5400" y="3474720"/>
            <a:ext cx="2066543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1F935E"/>
                </a:solidFill>
                <a:latin typeface="Malgun Gothic"/>
              </a:defRPr>
            </a:pPr>
            <a:r>
              <a:t>RETIRE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3785615"/>
            <a:ext cx="2066543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row / mask / pol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" y="4800600"/>
            <a:ext cx="3419856" cy="1188720"/>
          </a:xfrm>
          <a:prstGeom prst="roundRect">
            <a:avLst/>
          </a:prstGeom>
          <a:solidFill>
            <a:srgbClr val="1C4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001768"/>
            <a:ext cx="301752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FULL50 LOSS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5303520"/>
            <a:ext cx="3017520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11.52% → 0.47%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5687568"/>
            <a:ext cx="301752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C4D8E7"/>
                </a:solidFill>
                <a:latin typeface="Malgun Gothic"/>
              </a:defRPr>
            </a:pPr>
            <a:r>
              <a:t>base 대비 −95.9%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25696" y="4800600"/>
            <a:ext cx="3419856" cy="1188720"/>
          </a:xfrm>
          <a:prstGeom prst="roundRect">
            <a:avLst/>
          </a:prstGeom>
          <a:solidFill>
            <a:srgbClr val="1C4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5001768"/>
            <a:ext cx="301752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POLARITY REPLAY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5303520"/>
            <a:ext cx="3017520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8,503 / 8,503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26864" y="5687568"/>
            <a:ext cx="301752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C4D8E7"/>
                </a:solidFill>
                <a:latin typeface="Malgun Gothic"/>
              </a:defRPr>
            </a:pPr>
            <a:r>
              <a:t>mismatch 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6448" y="4800600"/>
            <a:ext cx="3419856" cy="1188720"/>
          </a:xfrm>
          <a:prstGeom prst="roundRect">
            <a:avLst/>
          </a:prstGeom>
          <a:solidFill>
            <a:srgbClr val="1C4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57616" y="5001768"/>
            <a:ext cx="301752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FASTEST TESTED PASS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5303520"/>
            <a:ext cx="3017520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285.714 MHz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5687568"/>
            <a:ext cx="301752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C4D8E7"/>
                </a:solidFill>
                <a:latin typeface="Malgun Gothic"/>
              </a:defRPr>
            </a:pPr>
            <a:r>
              <a:t>post-route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" y="6437376"/>
            <a:ext cx="365760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B4CADB"/>
                </a:solidFill>
                <a:latin typeface="Malgun Gothic"/>
              </a:defRPr>
            </a:pPr>
            <a:r>
              <a:t>AI-semi · 2026-08-28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01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Ryu의 문제 흐름을 여섯 설계 요구로 분해했다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Framing: team decomposition of Ryu's problem flow; not a literal numbered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88720"/>
            <a:ext cx="3401568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1353312"/>
            <a:ext cx="475488" cy="310896"/>
          </a:xfrm>
          <a:prstGeom prst="roundRect">
            <a:avLst/>
          </a:prstGeom>
          <a:solidFill>
            <a:srgbClr val="E68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421892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24911" y="1353312"/>
            <a:ext cx="1133856" cy="310896"/>
          </a:xfrm>
          <a:prstGeom prst="roundRect">
            <a:avLst/>
          </a:prstGeom>
          <a:solidFill>
            <a:srgbClr val="FFF2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79775" y="1421892"/>
            <a:ext cx="102412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PARTIAL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1847088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F2234"/>
                </a:solidFill>
                <a:latin typeface="Malgun Gothic"/>
              </a:defRPr>
            </a:pPr>
            <a:r>
              <a:t>주소 overhead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2267712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C6073"/>
                </a:solidFill>
                <a:latin typeface="Malgun Gothic"/>
              </a:defRPr>
            </a:pPr>
            <a:r>
              <a:t>bitmap + codec 후보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4255" y="1188720"/>
            <a:ext cx="3401568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17136" y="1353312"/>
            <a:ext cx="475488" cy="310896"/>
          </a:xfrm>
          <a:prstGeom prst="round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1999" y="1421892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799" y="1353312"/>
            <a:ext cx="1133856" cy="310896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3" y="1421892"/>
            <a:ext cx="102412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DIRECT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423" y="1847088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F2234"/>
                </a:solidFill>
                <a:latin typeface="Malgun Gothic"/>
              </a:defRPr>
            </a:pPr>
            <a:r>
              <a:t>직렬 bandwidth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5423" y="2267712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C6073"/>
                </a:solidFill>
                <a:latin typeface="Malgun Gothic"/>
              </a:defRPr>
            </a:pPr>
            <a:r>
              <a:t>2 row-bitmap lanes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10144" y="1188720"/>
            <a:ext cx="3401568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93023" y="1353312"/>
            <a:ext cx="475488" cy="310896"/>
          </a:xfrm>
          <a:prstGeom prst="round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1421892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76688" y="1353312"/>
            <a:ext cx="1133856" cy="310896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31552" y="1421892"/>
            <a:ext cx="102412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DIRECT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1847088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F2234"/>
                </a:solidFill>
                <a:latin typeface="Malgun Gothic"/>
              </a:defRPr>
            </a:pPr>
            <a:r>
              <a:t>arbitration latency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2267712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C6073"/>
                </a:solidFill>
                <a:latin typeface="Malgun Gothic"/>
              </a:defRPr>
            </a:pPr>
            <a:r>
              <a:t>grouped retire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3182112"/>
            <a:ext cx="3401568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7" y="3346704"/>
            <a:ext cx="475488" cy="3108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3415284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24911" y="3346704"/>
            <a:ext cx="1133856" cy="310896"/>
          </a:xfrm>
          <a:prstGeom prst="roundRect">
            <a:avLst/>
          </a:prstGeom>
          <a:solidFill>
            <a:srgbClr val="E8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79775" y="3415284"/>
            <a:ext cx="102412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STRUCTURAL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" y="3840480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F2234"/>
                </a:solidFill>
                <a:latin typeface="Malgun Gothic"/>
              </a:defRPr>
            </a:pPr>
            <a:r>
              <a:t>class 불균형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9536" y="4261104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C6073"/>
                </a:solidFill>
                <a:latin typeface="Malgun Gothic"/>
              </a:defRPr>
            </a:pPr>
            <a:r>
              <a:t>rotate + lane steal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34255" y="3182112"/>
            <a:ext cx="3401568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517136" y="3346704"/>
            <a:ext cx="475488" cy="310896"/>
          </a:xfrm>
          <a:prstGeom prst="roundRect">
            <a:avLst/>
          </a:prstGeom>
          <a:solidFill>
            <a:srgbClr val="D2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1999" y="3415284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05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799" y="3346704"/>
            <a:ext cx="1133856" cy="310896"/>
          </a:xfrm>
          <a:prstGeom prst="roundRect">
            <a:avLst/>
          </a:prstGeom>
          <a:solidFill>
            <a:srgbClr val="FE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3" y="3415284"/>
            <a:ext cx="102412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35423" y="3840480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F2234"/>
                </a:solidFill>
                <a:latin typeface="Malgun Gothic"/>
              </a:defRPr>
            </a:pPr>
            <a:r>
              <a:t>timestamp mismatch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35423" y="4261104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C6073"/>
                </a:solidFill>
                <a:latin typeface="Malgun Gothic"/>
              </a:defRPr>
            </a:pPr>
            <a:r>
              <a:t>payload 미포함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10144" y="3182112"/>
            <a:ext cx="3401568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193023" y="3346704"/>
            <a:ext cx="475488" cy="310896"/>
          </a:xfrm>
          <a:prstGeom prst="roundRect">
            <a:avLst/>
          </a:prstGeom>
          <a:solidFill>
            <a:srgbClr val="D2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47888" y="3415284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06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76688" y="3346704"/>
            <a:ext cx="1133856" cy="310896"/>
          </a:xfrm>
          <a:prstGeom prst="roundRect">
            <a:avLst/>
          </a:prstGeom>
          <a:solidFill>
            <a:srgbClr val="FE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31552" y="3415284"/>
            <a:ext cx="102412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HOLD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11312" y="3840480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F2234"/>
                </a:solidFill>
                <a:latin typeface="Malgun Gothic"/>
              </a:defRPr>
            </a:pPr>
            <a:r>
              <a:t>motion artifact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11312" y="4261104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C6073"/>
                </a:solidFill>
                <a:latin typeface="Malgun Gothic"/>
              </a:defRPr>
            </a:pPr>
            <a:r>
              <a:t>sensor/system 영역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009E96"/>
                </a:solidFill>
                <a:latin typeface="Malgun Gothic"/>
              </a:defRPr>
            </a:pPr>
            <a:r>
              <a:t>1차 직접 목표: ②·③·④ 완화 + polarity integrity 추가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01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직렬 출력과 source 재발생이 loss를 만든다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common full50 recovered diagnostics · 106,416 offered events/design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298448"/>
            <a:ext cx="1956816" cy="11338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19" y="1572768"/>
            <a:ext cx="1773936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동시 입력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1938528"/>
            <a:ext cx="1773936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16 sources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633472" y="1737360"/>
            <a:ext cx="219456" cy="201168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907791" y="1298448"/>
            <a:ext cx="1956816" cy="11338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9232" y="1572768"/>
            <a:ext cx="1773936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공유 선택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232" y="1938528"/>
            <a:ext cx="1773936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1 event/cycle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901183" y="1737360"/>
            <a:ext cx="219456" cy="201168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75504" y="1298448"/>
            <a:ext cx="1956816" cy="11338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3A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66944" y="1572768"/>
            <a:ext cx="1773936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대기 누적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66944" y="1938528"/>
            <a:ext cx="1773936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pending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168896" y="1737360"/>
            <a:ext cx="219456" cy="201168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43215" y="1298448"/>
            <a:ext cx="1956816" cy="11338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3A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34655" y="1572768"/>
            <a:ext cx="1773936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같은 source 재발생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5" y="1938528"/>
            <a:ext cx="1773936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local full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436607" y="1737360"/>
            <a:ext cx="219456" cy="201168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710928" y="1298448"/>
            <a:ext cx="1956816" cy="11338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3A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02367" y="1572768"/>
            <a:ext cx="1773936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SOURCE OVERRUN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02367" y="1938528"/>
            <a:ext cx="1773936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loss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2880360"/>
            <a:ext cx="5340096" cy="2304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3063240"/>
            <a:ext cx="4937759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SCALAR FOVEA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3337560"/>
            <a:ext cx="4937759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한 cycle 한 event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976" y="3785615"/>
            <a:ext cx="246888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600" b="1">
                <a:solidFill>
                  <a:srgbClr val="D23A46"/>
                </a:solidFill>
                <a:latin typeface="Malgun Gothic"/>
              </a:defRPr>
            </a:pPr>
            <a:r>
              <a:t>26.49%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" y="4443984"/>
            <a:ext cx="4480560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0F2234"/>
                </a:solidFill>
                <a:latin typeface="Malgun Gothic"/>
              </a:defRPr>
            </a:pPr>
            <a:r>
              <a:t>28,187 source-overrun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" y="4818888"/>
            <a:ext cx="4480560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C6073"/>
                </a:solidFill>
                <a:latin typeface="Malgun Gothic"/>
              </a:defRPr>
            </a:pPr>
            <a:r>
              <a:t>delivered 78,229 · EPC 0.673901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99632" y="2880360"/>
            <a:ext cx="5340096" cy="2304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063240"/>
            <a:ext cx="4937759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BASE CLUSTER2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337560"/>
            <a:ext cx="4937759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병렬화만으로 재발생은 남는다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785615"/>
            <a:ext cx="246888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600" b="1">
                <a:solidFill>
                  <a:srgbClr val="E68414"/>
                </a:solidFill>
                <a:latin typeface="Malgun Gothic"/>
              </a:defRPr>
            </a:pPr>
            <a:r>
              <a:t>11.52%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10528" y="4443984"/>
            <a:ext cx="4480560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0F2234"/>
                </a:solidFill>
                <a:latin typeface="Malgun Gothic"/>
              </a:defRPr>
            </a:pPr>
            <a:r>
              <a:t>12,259 source-overrun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0528" y="4818888"/>
            <a:ext cx="4480560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C6073"/>
                </a:solidFill>
                <a:latin typeface="Malgun Gothic"/>
              </a:defRPr>
            </a:pPr>
            <a:r>
              <a:t>다음 해법: local depth + idle capacity reuse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3344F"/>
                </a:solidFill>
                <a:latin typeface="Malgun Gothic"/>
              </a:defRPr>
            </a:pPr>
            <a:r>
              <a:t>출력 폭 · source-local 흡수 · class capacity를 함께 풀어야 한다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02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최종 구조는 네 단계로 읽힌다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final top aer_tx16_trad_rowcol_fovea_cluster2_steal_buf_polarity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53312"/>
            <a:ext cx="2432304" cy="21214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54480"/>
            <a:ext cx="2139696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1 · ARRIVAL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1883664"/>
            <a:ext cx="2139696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16 event</a:t>
            </a:r>
            <a:br/>
            <a:r>
              <a:t>+ polarity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706624"/>
            <a:ext cx="2029968" cy="475488"/>
          </a:xfrm>
          <a:prstGeom prst="roundRect">
            <a:avLst/>
          </a:prstGeom>
          <a:solidFill>
            <a:srgbClr val="E8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52928"/>
            <a:ext cx="188366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occurrence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200400" y="2267712"/>
            <a:ext cx="219456" cy="201168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74720" y="1353312"/>
            <a:ext cx="2432304" cy="21214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1554480"/>
            <a:ext cx="2139696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2 · LOCAL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1024" y="1883664"/>
            <a:ext cx="2139696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source별</a:t>
            </a:r>
            <a:br/>
            <a:r>
              <a:t>depth-2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75887" y="2706624"/>
            <a:ext cx="2029968" cy="475488"/>
          </a:xfrm>
          <a:prstGeom prst="roundRect">
            <a:avLst/>
          </a:prstGeom>
          <a:solidFill>
            <a:srgbClr val="FFF2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49039" y="2852928"/>
            <a:ext cx="188366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count + slots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961888" y="2267712"/>
            <a:ext cx="219456" cy="201168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36208" y="1353312"/>
            <a:ext cx="2432304" cy="21214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9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1554480"/>
            <a:ext cx="2139696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3 · 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1883664"/>
            <a:ext cx="2139696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2 lanes</a:t>
            </a:r>
            <a:br/>
            <a:r>
              <a:t>+ steal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37376" y="2706624"/>
            <a:ext cx="2029968" cy="475488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0528" y="2852928"/>
            <a:ext cx="188366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rotate + reuse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8723376" y="2267712"/>
            <a:ext cx="219456" cy="201168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997696" y="1353312"/>
            <a:ext cx="2432304" cy="21214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93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0" y="1554480"/>
            <a:ext cx="2139696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1F935E"/>
                </a:solidFill>
                <a:latin typeface="Malgun Gothic"/>
              </a:defRPr>
            </a:pPr>
            <a:r>
              <a:t>4 · RETIRE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1883664"/>
            <a:ext cx="2139696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row + mask</a:t>
            </a:r>
            <a:br/>
            <a:r>
              <a:t>+ pol_mask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98864" y="2706624"/>
            <a:ext cx="2029968" cy="475488"/>
          </a:xfrm>
          <a:prstGeom prst="roundRect">
            <a:avLst/>
          </a:prstGeom>
          <a:solidFill>
            <a:srgbClr val="E4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72016" y="2852928"/>
            <a:ext cx="188366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1F935E"/>
                </a:solidFill>
                <a:latin typeface="Malgun Gothic"/>
              </a:defRPr>
            </a:pPr>
            <a:r>
              <a:t>selected events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2415" y="3913632"/>
            <a:ext cx="10104120" cy="658368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43584" y="4123944"/>
            <a:ext cx="9701784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FFFFFF"/>
                </a:solidFill>
                <a:latin typeface="Malgun Gothic"/>
              </a:defRPr>
            </a:pPr>
            <a:r>
              <a:t>2 × { valid, row, col_mask[3:0], pol_mask[3:0] }  →  최대 8 events/cycle 표현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4892040"/>
            <a:ext cx="1018641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4C6073"/>
                </a:solidFill>
                <a:latin typeface="Malgun Gothic"/>
              </a:defRPr>
            </a:pPr>
            <a:r>
              <a:t>full address FIFO가 아니라 source index에 내재한 pending count와 polarity slot을 상태로 유지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009E96"/>
                </a:solidFill>
                <a:latin typeface="Malgun Gothic"/>
              </a:defRPr>
            </a:pPr>
            <a:r>
              <a:t>주소와 polarity는 동일 source slot에서 선택되고 함께 retire한다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02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bitmap은 직렬화를, depth-2는 재발생을 줄인다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final RTL architecture contract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88720"/>
            <a:ext cx="530352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371600"/>
            <a:ext cx="4901183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IDEA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1645920"/>
            <a:ext cx="4901183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ROW BITMAP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029968"/>
            <a:ext cx="4645152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4C6073"/>
                </a:solidFill>
                <a:latin typeface="Malgun Gothic"/>
              </a:defRPr>
            </a:pPr>
            <a:r>
              <a:t>한 row에 column 4개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28216" y="2432304"/>
            <a:ext cx="640080" cy="585216"/>
          </a:xfrm>
          <a:prstGeom prst="roundRect">
            <a:avLst/>
          </a:prstGeom>
          <a:solidFill>
            <a:srgbClr val="E8E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28216" y="2542032"/>
            <a:ext cx="64008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col0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28216" y="2761488"/>
            <a:ext cx="64008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2563EB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69464" y="2432304"/>
            <a:ext cx="640080" cy="585216"/>
          </a:xfrm>
          <a:prstGeom prst="roundRect">
            <a:avLst/>
          </a:prstGeom>
          <a:solidFill>
            <a:srgbClr val="E8E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9464" y="2542032"/>
            <a:ext cx="64008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col1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9464" y="2761488"/>
            <a:ext cx="64008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2563EB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10712" y="2432304"/>
            <a:ext cx="640080" cy="585216"/>
          </a:xfrm>
          <a:prstGeom prst="roundRect">
            <a:avLst/>
          </a:prstGeom>
          <a:solidFill>
            <a:srgbClr val="E8E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10712" y="2542032"/>
            <a:ext cx="64008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col2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10712" y="2761488"/>
            <a:ext cx="64008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2563EB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432304"/>
            <a:ext cx="640080" cy="585216"/>
          </a:xfrm>
          <a:prstGeom prst="roundRect">
            <a:avLst/>
          </a:prstGeom>
          <a:solidFill>
            <a:srgbClr val="E8E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2542032"/>
            <a:ext cx="64008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col3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2761488"/>
            <a:ext cx="64008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2563EB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3182112" y="3072384"/>
            <a:ext cx="256032" cy="237744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335024" y="3401568"/>
            <a:ext cx="3950208" cy="676656"/>
          </a:xfrm>
          <a:prstGeom prst="roundRect">
            <a:avLst/>
          </a:prstGeom>
          <a:solidFill>
            <a:srgbClr val="E8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554480" y="3611880"/>
            <a:ext cx="3511296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563EB"/>
                </a:solidFill>
                <a:latin typeface="Malgun Gothic"/>
              </a:defRPr>
            </a:pPr>
            <a:r>
              <a:t>row 2  +  col_mask 1111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70432" y="4407408"/>
            <a:ext cx="4279392" cy="493776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89888" y="4553712"/>
            <a:ext cx="3840480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13344F"/>
                </a:solidFill>
                <a:latin typeface="Malgun Gothic"/>
              </a:defRPr>
            </a:pPr>
            <a:r>
              <a:t>lane transaction 1회 · event 최대 4개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6208" y="1188720"/>
            <a:ext cx="530352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37376" y="1371600"/>
            <a:ext cx="4901183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IDEA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37376" y="1645920"/>
            <a:ext cx="4901183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SOURCE-LOCAL DEPTH-2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65392" y="2029968"/>
            <a:ext cx="4645152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4C6073"/>
                </a:solidFill>
                <a:latin typeface="Malgun Gothic"/>
              </a:defRPr>
            </a:pPr>
            <a:r>
              <a:t>같은 source에서 연속 발생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39712" y="2432304"/>
            <a:ext cx="1865376" cy="841248"/>
          </a:xfrm>
          <a:prstGeom prst="roundRect">
            <a:avLst/>
          </a:prstGeom>
          <a:solidFill>
            <a:srgbClr val="FFF2DC"/>
          </a:solidFill>
          <a:ln w="1270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39712" y="2578608"/>
            <a:ext cx="1865376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SLOT 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871216"/>
            <a:ext cx="1865376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A · 대기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70848" y="2432304"/>
            <a:ext cx="1865376" cy="841248"/>
          </a:xfrm>
          <a:prstGeom prst="roundRect">
            <a:avLst/>
          </a:prstGeom>
          <a:solidFill>
            <a:srgbClr val="FFF2DC"/>
          </a:solidFill>
          <a:ln w="1270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70848" y="2578608"/>
            <a:ext cx="1865376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SLOT 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70848" y="2871216"/>
            <a:ext cx="1865376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B · 재발생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8778240" y="2724912"/>
            <a:ext cx="219456" cy="201168"/>
          </a:xfrm>
          <a:prstGeom prst="rightArrow">
            <a:avLst/>
          </a:prstGeom>
          <a:solidFill>
            <a:srgbClr val="E68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wn Arrow 39"/>
          <p:cNvSpPr/>
          <p:nvPr/>
        </p:nvSpPr>
        <p:spPr>
          <a:xfrm>
            <a:off x="8759952" y="3328416"/>
            <a:ext cx="256032" cy="219456"/>
          </a:xfrm>
          <a:prstGeom prst="downArrow">
            <a:avLst/>
          </a:prstGeom>
          <a:solidFill>
            <a:srgbClr val="E68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821424" y="3621024"/>
            <a:ext cx="4133087" cy="621792"/>
          </a:xfrm>
          <a:prstGeom prst="roundRect">
            <a:avLst/>
          </a:prstGeom>
          <a:solidFill>
            <a:srgbClr val="FFF2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40880" y="3822191"/>
            <a:ext cx="3694176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E68414"/>
                </a:solidFill>
                <a:latin typeface="Malgun Gothic"/>
              </a:defRPr>
            </a:pPr>
            <a:r>
              <a:t>B를 slot 1에 저장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56832" y="4407408"/>
            <a:ext cx="4462272" cy="493776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76288" y="4553712"/>
            <a:ext cx="4023360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13344F"/>
                </a:solidFill>
                <a:latin typeface="Malgun Gothic"/>
              </a:defRPr>
            </a:pPr>
            <a:r>
              <a:t>grant 대기 중 재발생 → overrun 완화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3344F"/>
                </a:solidFill>
                <a:latin typeface="Malgun Gothic"/>
              </a:defRPr>
            </a:pPr>
            <a:r>
              <a:t>bitmap은 직렬화를, depth-2는 같은 source의 재발생을 줄인다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02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steal은 capacity를, lockstep은 의미를 지킨다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final polarity RTL · native observational contract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88720"/>
            <a:ext cx="530352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371600"/>
            <a:ext cx="4901183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7C4AB8"/>
                </a:solidFill>
                <a:latin typeface="Malgun Gothic"/>
              </a:defRPr>
            </a:pPr>
            <a:r>
              <a:t>IDEA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1645920"/>
            <a:ext cx="4901183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IDLE-LANE STEAL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029968"/>
            <a:ext cx="4645152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4C6073"/>
                </a:solidFill>
                <a:latin typeface="Malgun Gothic"/>
              </a:defRPr>
            </a:pPr>
            <a:r>
              <a:t>한 class는 busy, 반대 class는 idle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24712" y="2468880"/>
            <a:ext cx="1719072" cy="950976"/>
          </a:xfrm>
          <a:prstGeom prst="roundRect">
            <a:avLst/>
          </a:prstGeom>
          <a:solidFill>
            <a:srgbClr val="E0F6F3"/>
          </a:solidFill>
          <a:ln w="12700">
            <a:solidFill>
              <a:srgbClr val="009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4712" y="2660904"/>
            <a:ext cx="1719072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CENTER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971800"/>
            <a:ext cx="1719072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009E96"/>
                </a:solidFill>
                <a:latin typeface="Malgun Gothic"/>
              </a:defRPr>
            </a:pPr>
            <a:r>
              <a:t>busy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76472" y="2468880"/>
            <a:ext cx="1719072" cy="950976"/>
          </a:xfrm>
          <a:prstGeom prst="roundRect">
            <a:avLst/>
          </a:prstGeom>
          <a:solidFill>
            <a:srgbClr val="EBF1F6"/>
          </a:solidFill>
          <a:ln w="12700">
            <a:solidFill>
              <a:srgbClr val="4C6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6472" y="2660904"/>
            <a:ext cx="1719072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4C6073"/>
                </a:solidFill>
                <a:latin typeface="Malgun Gothic"/>
              </a:defRPr>
            </a:pPr>
            <a:r>
              <a:t>PERIPHERAL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6472" y="2971800"/>
            <a:ext cx="1719072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4C6073"/>
                </a:solidFill>
                <a:latin typeface="Malgun Gothic"/>
              </a:defRPr>
            </a:pPr>
            <a:r>
              <a:t>idle</a:t>
            </a:r>
          </a:p>
        </p:txBody>
      </p:sp>
      <p:sp>
        <p:nvSpPr>
          <p:cNvPr id="18" name="Left Arrow 17"/>
          <p:cNvSpPr/>
          <p:nvPr/>
        </p:nvSpPr>
        <p:spPr>
          <a:xfrm>
            <a:off x="3136392" y="2834640"/>
            <a:ext cx="384048" cy="219456"/>
          </a:xfrm>
          <a:prstGeom prst="leftArrow">
            <a:avLst/>
          </a:prstGeom>
          <a:solidFill>
            <a:srgbClr val="7C4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24712" y="3803904"/>
            <a:ext cx="4370832" cy="621792"/>
          </a:xfrm>
          <a:prstGeom prst="roundRect">
            <a:avLst/>
          </a:prstGeom>
          <a:solidFill>
            <a:srgbClr val="7C4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44168" y="4005072"/>
            <a:ext cx="3931920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FFFFF"/>
                </a:solidFill>
                <a:latin typeface="Malgun Gothic"/>
              </a:defRPr>
            </a:pPr>
            <a:r>
              <a:t>busy class가 idle lane을 재사용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" y="4645152"/>
            <a:ext cx="4663440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4C6073"/>
                </a:solidFill>
                <a:latin typeface="Malgun Gothic"/>
              </a:defRPr>
            </a:pPr>
            <a:r>
              <a:t>capacity 활용도 향상 · fairness 정량 평가는 별도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1188720"/>
            <a:ext cx="530352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37376" y="1371600"/>
            <a:ext cx="4901183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IDEA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7376" y="1645920"/>
            <a:ext cx="4901183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POLARITY LOCKSTEP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65392" y="2029968"/>
            <a:ext cx="4645152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4C6073"/>
                </a:solidFill>
                <a:latin typeface="Malgun Gothic"/>
              </a:defRPr>
            </a:pPr>
            <a:r>
              <a:t>address·polarity를 같은 source slot에서 처리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01968" y="2468880"/>
            <a:ext cx="4572000" cy="676656"/>
          </a:xfrm>
          <a:prstGeom prst="roundRect">
            <a:avLst/>
          </a:prstGeom>
          <a:solidFill>
            <a:srgbClr val="E8E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1424" y="2706624"/>
            <a:ext cx="34747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563EB"/>
                </a:solidFill>
                <a:latin typeface="Malgun Gothic"/>
              </a:defRPr>
            </a:pPr>
            <a:r>
              <a:t>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70064" y="2706624"/>
            <a:ext cx="190195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row2 · col1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56064" y="2706624"/>
            <a:ext cx="1188720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500" b="1">
                <a:solidFill>
                  <a:srgbClr val="2563EB"/>
                </a:solidFill>
                <a:latin typeface="Malgun Gothic"/>
              </a:defRPr>
            </a:pPr>
            <a:r>
              <a:t>pol 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01968" y="3401568"/>
            <a:ext cx="4572000" cy="676656"/>
          </a:xfrm>
          <a:prstGeom prst="roundRect">
            <a:avLst/>
          </a:prstGeom>
          <a:solidFill>
            <a:srgbClr val="E8E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1424" y="3639312"/>
            <a:ext cx="34747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563EB"/>
                </a:solidFill>
                <a:latin typeface="Malgun Gothic"/>
              </a:defRPr>
            </a:pPr>
            <a:r>
              <a:t>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70064" y="3639312"/>
            <a:ext cx="190195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row2 · col2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56064" y="3639312"/>
            <a:ext cx="1188720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500" b="1">
                <a:solidFill>
                  <a:srgbClr val="2563EB"/>
                </a:solidFill>
                <a:latin typeface="Malgun Gothic"/>
              </a:defRPr>
            </a:pPr>
            <a:r>
              <a:t>pol 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01968" y="4443984"/>
            <a:ext cx="45720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21424" y="4572000"/>
            <a:ext cx="4133087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동시 push · 동시 pop · 의미 보존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009E96"/>
                </a:solidFill>
                <a:latin typeface="Malgun Gothic"/>
              </a:defRPr>
            </a:pPr>
            <a:r>
              <a:t>steal은 capacity 낭비를 줄이고, lockstep은 selected event의 의미를 보존한다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02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동작 시각화: 두 lane의 row bitmap retire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team-provided random-traffic visualizer · illustration only, not official full50/UZH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07</a:t>
            </a:r>
          </a:p>
        </p:txBody>
      </p:sp>
      <p:pic>
        <p:nvPicPr>
          <p:cNvPr id="8" name="Picture 7" descr="cluster2_random_traffic_visualizer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70432"/>
            <a:ext cx="7726679" cy="405993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641080" y="1170432"/>
            <a:ext cx="2898648" cy="405993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897112" y="1444752"/>
            <a:ext cx="1243584" cy="310896"/>
          </a:xfrm>
          <a:prstGeom prst="roundRect">
            <a:avLst/>
          </a:prstGeom>
          <a:solidFill>
            <a:srgbClr val="7C4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51976" y="1513332"/>
            <a:ext cx="1133856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SLIDE SHOW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7112" y="1920240"/>
            <a:ext cx="2395728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900" b="1">
                <a:solidFill>
                  <a:srgbClr val="0F2234"/>
                </a:solidFill>
                <a:latin typeface="Malgun Gothic"/>
              </a:defRPr>
            </a:pPr>
            <a:r>
              <a:t>무엇을 볼까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97112" y="2414016"/>
            <a:ext cx="402336" cy="310896"/>
          </a:xfrm>
          <a:prstGeom prst="roundRect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51976" y="2482596"/>
            <a:ext cx="29260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54896" y="2432304"/>
            <a:ext cx="1591056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4C6073"/>
                </a:solidFill>
                <a:latin typeface="Malgun Gothic"/>
              </a:defRPr>
            </a:pPr>
            <a:r>
              <a:t>PENDING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54896" y="2688336"/>
            <a:ext cx="177393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16 source의 발생·대기 상태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97112" y="3054096"/>
            <a:ext cx="402336" cy="310896"/>
          </a:xfrm>
          <a:prstGeom prst="round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51976" y="3122676"/>
            <a:ext cx="29260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54896" y="3072384"/>
            <a:ext cx="1591056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TWO LANES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54896" y="3328415"/>
            <a:ext cx="177393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row + col_mask 동시 출력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97112" y="3694176"/>
            <a:ext cx="402336" cy="310896"/>
          </a:xfrm>
          <a:prstGeom prst="roundRect">
            <a:avLst/>
          </a:prstGeom>
          <a:solidFill>
            <a:srgbClr val="E68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51976" y="3762756"/>
            <a:ext cx="29260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54896" y="3712463"/>
            <a:ext cx="1591056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COUNTERS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54896" y="3968496"/>
            <a:ext cx="177393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generated / delivered / overrun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97112" y="4480560"/>
            <a:ext cx="2377440" cy="493776"/>
          </a:xfrm>
          <a:prstGeom prst="roundRect">
            <a:avLst/>
          </a:prstGeom>
          <a:solidFill>
            <a:srgbClr val="FE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61704" y="4617720"/>
            <a:ext cx="2048256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설명용 · 공식 수치 아님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009E96"/>
                </a:solidFill>
                <a:latin typeface="Malgun Gothic"/>
              </a:defRPr>
            </a:pPr>
            <a:r>
              <a:t>row bitmap과 두 lane의 동작을 애니메이션으로 확인 — 정량 증거는 별도 campaign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02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주소 절감은 제출 RTL과 후속 실험을 분리했다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row-trim/repeat-flag address-only studies · final polarity boundary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328416" cy="38587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9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7824" y="1572768"/>
            <a:ext cx="932688" cy="310896"/>
          </a:xfrm>
          <a:prstGeom prst="round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641348"/>
            <a:ext cx="8229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SUBMIT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148840"/>
            <a:ext cx="2889504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ROW + MASK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834640"/>
            <a:ext cx="2889504" cy="51206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800" b="1">
                <a:solidFill>
                  <a:srgbClr val="009E96"/>
                </a:solidFill>
                <a:latin typeface="Malgun Gothic"/>
              </a:defRPr>
            </a:pPr>
            <a:r>
              <a:t>현재 최종 RTL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3794760"/>
            <a:ext cx="2743200" cy="694944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014215"/>
            <a:ext cx="2487168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009E96"/>
                </a:solidFill>
                <a:latin typeface="Malgun Gothic"/>
              </a:defRPr>
            </a:pPr>
            <a:r>
              <a:t>pol_mask 포함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2544" y="1298448"/>
            <a:ext cx="3328416" cy="38587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C6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1572768"/>
            <a:ext cx="932688" cy="310896"/>
          </a:xfrm>
          <a:prstGeom prst="roundRect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6864" y="1641348"/>
            <a:ext cx="8229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STUDY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148840"/>
            <a:ext cx="2889504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ROW-TRIM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34640"/>
            <a:ext cx="2889504" cy="51206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800" b="1">
                <a:solidFill>
                  <a:srgbClr val="4C6073"/>
                </a:solidFill>
                <a:latin typeface="Malgun Gothic"/>
              </a:defRPr>
            </a:pPr>
            <a:r>
              <a:t>−14.29%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45152" y="3794760"/>
            <a:ext cx="2743200" cy="694944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14215"/>
            <a:ext cx="2487168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4C6073"/>
                </a:solidFill>
                <a:latin typeface="Malgun Gothic"/>
              </a:defRPr>
            </a:pPr>
            <a:r>
              <a:t>base Cluster2 전용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1298448"/>
            <a:ext cx="3328416" cy="38587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66176" y="1572768"/>
            <a:ext cx="932688" cy="310896"/>
          </a:xfrm>
          <a:prstGeom prst="roundRect">
            <a:avLst/>
          </a:prstGeom>
          <a:solidFill>
            <a:srgbClr val="E68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1641348"/>
            <a:ext cx="8229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NEXT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6" y="2148840"/>
            <a:ext cx="2889504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REPEAT-FLAG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66176" y="2834640"/>
            <a:ext cx="2889504" cy="51206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800" b="1">
                <a:solidFill>
                  <a:srgbClr val="E68414"/>
                </a:solidFill>
                <a:latin typeface="Malgun Gothic"/>
              </a:defRPr>
            </a:pPr>
            <a:r>
              <a:t>−15.61%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39328" y="3794760"/>
            <a:ext cx="2743200" cy="694944"/>
          </a:xfrm>
          <a:prstGeom prst="roundRect">
            <a:avLst/>
          </a:prstGeom>
          <a:solidFill>
            <a:srgbClr val="FFF2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67344" y="4014215"/>
            <a:ext cx="2487168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E68414"/>
                </a:solidFill>
                <a:latin typeface="Malgun Gothic"/>
              </a:defRPr>
            </a:pPr>
            <a:r>
              <a:t>polarity 재검증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FFF2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E68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E68414"/>
                </a:solidFill>
                <a:latin typeface="Malgun Gothic"/>
              </a:defRPr>
            </a:pPr>
            <a:r>
              <a:t>2차 codec 후보는 repeat-flag — polarity 포함 end-to-end 검증 후 통합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03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full50 source-overrun: 12,259 → 502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Scope: 106,416 events/design · separate campaigns · 502 = address-only steal_buf, not final polarity-v1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15568"/>
            <a:ext cx="7452360" cy="42611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72768" y="1993392"/>
            <a:ext cx="1078992" cy="2148840"/>
          </a:xfrm>
          <a:prstGeom prst="rect">
            <a:avLst/>
          </a:prstGeom>
          <a:solidFill>
            <a:srgbClr val="D2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554479"/>
            <a:ext cx="1847088" cy="36576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D23A46"/>
                </a:solidFill>
                <a:latin typeface="Malgun Gothic"/>
              </a:defRPr>
            </a:pPr>
            <a:r>
              <a:t>26.49%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370832"/>
            <a:ext cx="1847088" cy="53035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SCALAR</a:t>
            </a:r>
            <a:br/>
            <a:r>
              <a:t>FOVEA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983480"/>
            <a:ext cx="184708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0">
                <a:solidFill>
                  <a:srgbClr val="4C6073"/>
                </a:solidFill>
                <a:latin typeface="Malgun Gothic"/>
              </a:defRPr>
            </a:pPr>
            <a:r>
              <a:t>loss 28,187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13048" y="3207742"/>
            <a:ext cx="1078992" cy="934489"/>
          </a:xfrm>
          <a:prstGeom prst="rect">
            <a:avLst/>
          </a:prstGeom>
          <a:solidFill>
            <a:srgbClr val="E68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2768830"/>
            <a:ext cx="1847088" cy="36576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E68414"/>
                </a:solidFill>
                <a:latin typeface="Malgun Gothic"/>
              </a:defRPr>
            </a:pPr>
            <a:r>
              <a:t>11.52%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4370832"/>
            <a:ext cx="1847088" cy="53035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BASE</a:t>
            </a:r>
            <a:br/>
            <a:r>
              <a:t>CLUSTER2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4983480"/>
            <a:ext cx="184708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0">
                <a:solidFill>
                  <a:srgbClr val="4C6073"/>
                </a:solidFill>
                <a:latin typeface="Malgun Gothic"/>
              </a:defRPr>
            </a:pPr>
            <a:r>
              <a:t>loss 12,259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53328" y="4032504"/>
            <a:ext cx="1078992" cy="109728"/>
          </a:xfrm>
          <a:prstGeom prst="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1389888"/>
            <a:ext cx="1847088" cy="36576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009E96"/>
                </a:solidFill>
                <a:latin typeface="Malgun Gothic"/>
              </a:defRPr>
            </a:pPr>
            <a:r>
              <a:t>0.47%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4370832"/>
            <a:ext cx="1847088" cy="53035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CLUSTER2</a:t>
            </a:r>
            <a:br/>
            <a:r>
              <a:t>STEAL_BUF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4983480"/>
            <a:ext cx="184708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0">
                <a:solidFill>
                  <a:srgbClr val="4C6073"/>
                </a:solidFill>
                <a:latin typeface="Malgun Gothic"/>
              </a:defRPr>
            </a:pPr>
            <a:r>
              <a:t>loss 502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75904" y="1115568"/>
            <a:ext cx="3163824" cy="4261104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68512" y="1508760"/>
            <a:ext cx="257860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B9D5E6"/>
                </a:solidFill>
                <a:latin typeface="Malgun Gothic"/>
              </a:defRPr>
            </a:pPr>
            <a:r>
              <a:t>BASE → STEAL_BUF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13648" y="2075688"/>
            <a:ext cx="2688336" cy="60350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3500" b="1">
                <a:solidFill>
                  <a:srgbClr val="FFFFFF"/>
                </a:solidFill>
                <a:latin typeface="Malgun Gothic"/>
              </a:defRPr>
            </a:pPr>
            <a:r>
              <a:t>−95.9%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68512" y="2761488"/>
            <a:ext cx="2578608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B9D5E6"/>
                </a:solidFill>
                <a:latin typeface="Malgun Gothic"/>
              </a:defRPr>
            </a:pPr>
            <a:r>
              <a:t>relative loss reduction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796528" y="3310128"/>
            <a:ext cx="2304288" cy="0"/>
          </a:xfrm>
          <a:prstGeom prst="line">
            <a:avLst/>
          </a:prstGeom>
          <a:ln w="19050">
            <a:solidFill>
              <a:srgbClr val="4D6F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668512" y="3584448"/>
            <a:ext cx="2578608" cy="40233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009E96"/>
                </a:solidFill>
                <a:latin typeface="Malgun Gothic"/>
              </a:defRPr>
            </a:pPr>
            <a:r>
              <a:t>24.42×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68512" y="4041648"/>
            <a:ext cx="257860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B9D5E6"/>
                </a:solidFill>
                <a:latin typeface="Malgun Gothic"/>
              </a:defRPr>
            </a:pPr>
            <a:r>
              <a:t>smaller remaining loss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13648" y="4700016"/>
            <a:ext cx="2688336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48 / 50 traces: overrun 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009E96"/>
                </a:solidFill>
                <a:latin typeface="Malgun Gothic"/>
              </a:defRPr>
            </a:pPr>
            <a:r>
              <a:t>steal-buffer의 핵심 효과: 기본 Cluster2의 남은 재발생 손실을 직접 줄였다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03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cycle 4,162: 두 lane이 3 events를 retire했다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Xcelium 23.09-s013 · redred_cluster2_polarity_v1_native_observational_tb.sv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88720"/>
            <a:ext cx="2414016" cy="12435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389888"/>
            <a:ext cx="212140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INPUT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1719072"/>
            <a:ext cx="2121408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UZH 4×4 patch</a:t>
            </a:r>
            <a:br/>
            <a:r>
              <a:t>8,503 events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27248" y="1645920"/>
            <a:ext cx="201168" cy="182880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19856" y="1188720"/>
            <a:ext cx="2414016" cy="12435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1389888"/>
            <a:ext cx="212140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SIM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1719072"/>
            <a:ext cx="2121408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Xcelium</a:t>
            </a:r>
            <a:br/>
            <a:r>
              <a:t>RTL + TB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888736" y="1645920"/>
            <a:ext cx="201168" cy="182880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81344" y="1188720"/>
            <a:ext cx="2414016" cy="12435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4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1389888"/>
            <a:ext cx="212140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7C4AB8"/>
                </a:solidFill>
                <a:latin typeface="Malgun Gothic"/>
              </a:defRPr>
            </a:pPr>
            <a:r>
              <a:t>LEDGER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7648" y="1719072"/>
            <a:ext cx="2121408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raw cycle trace</a:t>
            </a:r>
            <a:br/>
            <a:r>
              <a:t>independent Python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650224" y="1645920"/>
            <a:ext cx="201168" cy="182880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942832" y="1188720"/>
            <a:ext cx="2414016" cy="12435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9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9136" y="1389888"/>
            <a:ext cx="212140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9136" y="1719072"/>
            <a:ext cx="2121408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8,503 / 8,503</a:t>
            </a:r>
            <a:br/>
            <a:r>
              <a:t>PASS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2706624"/>
            <a:ext cx="6912864" cy="2724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2889504"/>
            <a:ext cx="6510527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ACTUAL RETIRE · CYCLE 4,162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" y="3163824"/>
            <a:ext cx="6510527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두 lane에서 합계 3 events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2688" y="3749039"/>
            <a:ext cx="932688" cy="3108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3817620"/>
            <a:ext cx="8229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LANE 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84831" y="3822191"/>
            <a:ext cx="822960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F2234"/>
                </a:solidFill>
                <a:latin typeface="Malgun Gothic"/>
              </a:defRPr>
            </a:pPr>
            <a:r>
              <a:t>row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63240" y="3822191"/>
            <a:ext cx="138988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F2234"/>
                </a:solidFill>
                <a:latin typeface="Malgun Gothic"/>
              </a:defRPr>
            </a:pPr>
            <a:r>
              <a:t>col 0x6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90288" y="3822191"/>
            <a:ext cx="138988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F2234"/>
                </a:solidFill>
                <a:latin typeface="Malgun Gothic"/>
              </a:defRPr>
            </a:pPr>
            <a:r>
              <a:t>pol 0x0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53912" y="3822191"/>
            <a:ext cx="107899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400" b="1">
                <a:solidFill>
                  <a:srgbClr val="2563EB"/>
                </a:solidFill>
                <a:latin typeface="Malgun Gothic"/>
              </a:defRPr>
            </a:pPr>
            <a:r>
              <a:t>2 events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2688" y="4407407"/>
            <a:ext cx="932688" cy="310896"/>
          </a:xfrm>
          <a:prstGeom prst="round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7552" y="4475988"/>
            <a:ext cx="8229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LANE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84831" y="4480559"/>
            <a:ext cx="822960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F2234"/>
                </a:solidFill>
                <a:latin typeface="Malgun Gothic"/>
              </a:defRPr>
            </a:pPr>
            <a:r>
              <a:t>row 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63240" y="4480559"/>
            <a:ext cx="138988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F2234"/>
                </a:solidFill>
                <a:latin typeface="Malgun Gothic"/>
              </a:defRPr>
            </a:pPr>
            <a:r>
              <a:t>col 0x1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90288" y="4480559"/>
            <a:ext cx="138988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F2234"/>
                </a:solidFill>
                <a:latin typeface="Malgun Gothic"/>
              </a:defRPr>
            </a:pPr>
            <a:r>
              <a:t>pol 0x1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53912" y="4480559"/>
            <a:ext cx="107899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400" b="1">
                <a:solidFill>
                  <a:srgbClr val="009E96"/>
                </a:solidFill>
                <a:latin typeface="Malgun Gothic"/>
              </a:defRPr>
            </a:pPr>
            <a:r>
              <a:t>1 event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863840" y="2706624"/>
            <a:ext cx="3675887" cy="2724912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74736" y="3054096"/>
            <a:ext cx="3054096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BCD6E7"/>
                </a:solidFill>
                <a:latin typeface="Malgun Gothic"/>
              </a:defRPr>
            </a:pPr>
            <a:r>
              <a:t>CONSERVATION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56448" y="3547872"/>
            <a:ext cx="3090672" cy="34747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8,503 = 8,503 + 0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56448" y="3950208"/>
            <a:ext cx="309067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0">
                <a:solidFill>
                  <a:srgbClr val="BCD6E7"/>
                </a:solidFill>
                <a:latin typeface="Malgun Gothic"/>
              </a:defRPr>
            </a:pPr>
            <a:r>
              <a:t>generated   delivered   overrun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74736" y="4462272"/>
            <a:ext cx="3054096" cy="53035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009E96"/>
                </a:solidFill>
                <a:latin typeface="Malgun Gothic"/>
              </a:defRPr>
            </a:pPr>
            <a:r>
              <a:t>phantom 0 · duplicate 0</a:t>
            </a:r>
            <a:br/>
            <a:r>
              <a:t>polarity mismatch 0 · drain empty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3344F"/>
                </a:solidFill>
                <a:latin typeface="Malgun Gothic"/>
              </a:defRPr>
            </a:pPr>
            <a:r>
              <a:t>TB의 PASS 문자열이 아니라 raw ledger를 독립 경로로 재해석했다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04 구현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최종 top: 285.714 MHz post-route PASS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Genus 23.14-s090_1 · Innovus 23.14-s088_1 · GPDK045 slow 0.9 V 125 °C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52144"/>
            <a:ext cx="6995160" cy="2907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335024"/>
            <a:ext cx="6592824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POST-ROUTE TIMING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1609344"/>
            <a:ext cx="6592824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fastest tested passing point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97280" y="3127248"/>
            <a:ext cx="6089904" cy="0"/>
          </a:xfrm>
          <a:prstGeom prst="line">
            <a:avLst/>
          </a:prstGeom>
          <a:ln w="25400">
            <a:solidFill>
              <a:srgbClr val="4C60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188720" y="2944368"/>
            <a:ext cx="146304" cy="365760"/>
          </a:xfrm>
          <a:prstGeom prst="rect">
            <a:avLst/>
          </a:prstGeom>
          <a:solidFill>
            <a:srgbClr val="1F9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331720"/>
            <a:ext cx="1152144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200 MHz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679192"/>
            <a:ext cx="969264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1F935E"/>
                </a:solidFill>
                <a:latin typeface="Malgun Gothic"/>
              </a:defRPr>
            </a:pPr>
            <a:r>
              <a:t>PASS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63240" y="2944368"/>
            <a:ext cx="146304" cy="365760"/>
          </a:xfrm>
          <a:prstGeom prst="rect">
            <a:avLst/>
          </a:prstGeom>
          <a:solidFill>
            <a:srgbClr val="1F9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0320" y="2331720"/>
            <a:ext cx="1152144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250 MHz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2679192"/>
            <a:ext cx="969264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1F935E"/>
                </a:solidFill>
                <a:latin typeface="Malgun Gothic"/>
              </a:defRPr>
            </a:pPr>
            <a:r>
              <a:t>PASS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56048" y="2944368"/>
            <a:ext cx="146304" cy="365760"/>
          </a:xfrm>
          <a:prstGeom prst="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53128" y="2331720"/>
            <a:ext cx="1152144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285.714 MHz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2679192"/>
            <a:ext cx="969264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PASS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21424" y="2944368"/>
            <a:ext cx="146304" cy="365760"/>
          </a:xfrm>
          <a:prstGeom prst="rect">
            <a:avLst/>
          </a:prstGeom>
          <a:solidFill>
            <a:srgbClr val="D2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18504" y="2331720"/>
            <a:ext cx="1152144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333.333 MHz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9944" y="2679192"/>
            <a:ext cx="969264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FAIL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5" y="3447288"/>
            <a:ext cx="6272784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009E96"/>
                </a:solidFill>
                <a:latin typeface="Malgun Gothic"/>
              </a:defRPr>
            </a:pPr>
            <a:r>
              <a:t>285.714 MHz: setup +0.454 ns · hold +0.167 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36992" y="1152144"/>
            <a:ext cx="3602736" cy="1344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93024" y="1417320"/>
            <a:ext cx="932688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AREA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3024" y="1764792"/>
            <a:ext cx="2322576" cy="32918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0F2234"/>
                </a:solidFill>
                <a:latin typeface="Malgun Gothic"/>
              </a:defRPr>
            </a:pPr>
            <a:r>
              <a:t>1254.114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93024" y="2139696"/>
            <a:ext cx="274320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4C6073"/>
                </a:solidFill>
                <a:latin typeface="Malgun Gothic"/>
              </a:defRPr>
            </a:pPr>
            <a:r>
              <a:t>596 instances · raw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36992" y="2715768"/>
            <a:ext cx="3602736" cy="1344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024" y="2980944"/>
            <a:ext cx="932688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7C4AB8"/>
                </a:solidFill>
                <a:latin typeface="Malgun Gothic"/>
              </a:defRPr>
            </a:pPr>
            <a:r>
              <a:t>POWER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3024" y="3328416"/>
            <a:ext cx="2322576" cy="32918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0F2234"/>
                </a:solidFill>
                <a:latin typeface="Malgun Gothic"/>
              </a:defRPr>
            </a:pPr>
            <a:r>
              <a:t>0.1074 mW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3024" y="3703320"/>
            <a:ext cx="274320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4C6073"/>
                </a:solidFill>
                <a:latin typeface="Malgun Gothic"/>
              </a:defRPr>
            </a:pPr>
            <a:r>
              <a:t>vectorless · activity 0.2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352544"/>
            <a:ext cx="10881360" cy="1005840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4553712"/>
            <a:ext cx="1572768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EVIDENCE BOUNDARY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96896" y="4526280"/>
            <a:ext cx="8650224" cy="38404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4C6073"/>
                </a:solidFill>
                <a:latin typeface="Malgun Gothic"/>
              </a:defRPr>
            </a:pPr>
            <a:r>
              <a:t>fastest tested PASS ≠ exact Fmax · area unit 미기재 · vectorless power ≠ workload signoff power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96896" y="4983480"/>
            <a:ext cx="865022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1F935E"/>
                </a:solidFill>
                <a:latin typeface="Malgun Gothic"/>
              </a:defRPr>
            </a:pPr>
            <a:r>
              <a:t>internal DRC 0 · antenna 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3344F"/>
                </a:solidFill>
                <a:latin typeface="Malgun Gothic"/>
              </a:defRPr>
            </a:pPr>
            <a:r>
              <a:t>1차 제출 범위: 동작 RTL + tested timing/area/power — signoff 과장은 하지 않는다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05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World 좌표계 방향 ray 확장: 8,503 events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team-defined software projection path · separate from final polarity RTL/PPA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52144"/>
            <a:ext cx="2788920" cy="12070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435608"/>
            <a:ext cx="2423160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UZH EVENTS + POSE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1810512"/>
            <a:ext cx="2423160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8,503 occurrences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630168" y="1609344"/>
            <a:ext cx="402336" cy="237744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60" y="1152144"/>
            <a:ext cx="3255264" cy="12070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4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435608"/>
            <a:ext cx="288950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7C4AB8"/>
                </a:solidFill>
                <a:latin typeface="Malgun Gothic"/>
              </a:defRPr>
            </a:pPr>
            <a:r>
              <a:t>IDENTITY JOIN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810512"/>
            <a:ext cx="2889504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8,503 / 8,503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90104" y="1609344"/>
            <a:ext cx="402336" cy="237744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02752" y="1152144"/>
            <a:ext cx="3236976" cy="12070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9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5632" y="1435608"/>
            <a:ext cx="2871216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WORLD-FRAME RAY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1810512"/>
            <a:ext cx="2871216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occurrence-time pose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921240" y="2377440"/>
            <a:ext cx="0" cy="530352"/>
          </a:xfrm>
          <a:prstGeom prst="line">
            <a:avLst/>
          </a:prstGeom>
          <a:ln w="25400">
            <a:solidFill>
              <a:srgbClr val="009E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675120" y="2907792"/>
            <a:ext cx="3950208" cy="0"/>
          </a:xfrm>
          <a:prstGeom prst="line">
            <a:avLst/>
          </a:prstGeom>
          <a:ln w="25400">
            <a:solidFill>
              <a:srgbClr val="009E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675120" y="2907792"/>
            <a:ext cx="0" cy="274320"/>
          </a:xfrm>
          <a:prstGeom prst="line">
            <a:avLst/>
          </a:prstGeom>
          <a:ln w="25400">
            <a:solidFill>
              <a:srgbClr val="009E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625328" y="2907792"/>
            <a:ext cx="0" cy="274320"/>
          </a:xfrm>
          <a:prstGeom prst="line">
            <a:avLst/>
          </a:prstGeom>
          <a:ln w="25400">
            <a:solidFill>
              <a:srgbClr val="009E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58368" y="3163824"/>
            <a:ext cx="4059936" cy="1408176"/>
          </a:xfrm>
          <a:prstGeom prst="roundRect">
            <a:avLst/>
          </a:prstGeom>
          <a:solidFill>
            <a:srgbClr val="FE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456432"/>
            <a:ext cx="354787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현재 증거 범위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813048"/>
            <a:ext cx="3547872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0F2234"/>
                </a:solidFill>
                <a:latin typeface="Malgun Gothic"/>
              </a:defRPr>
            </a:pPr>
            <a:r>
              <a:t>software feasibility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169663"/>
            <a:ext cx="354787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D23A46"/>
                </a:solidFill>
                <a:latin typeface="Malgun Gothic"/>
              </a:defRPr>
            </a:pPr>
            <a:r>
              <a:t>변환기 RTL/PPA는 HOLD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57216" y="3163824"/>
            <a:ext cx="3035808" cy="140817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93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13248" y="3456432"/>
            <a:ext cx="252374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1F935E"/>
                </a:solidFill>
                <a:latin typeface="Malgun Gothic"/>
              </a:defRPr>
            </a:pPr>
            <a:r>
              <a:t>WORLD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13248" y="3813048"/>
            <a:ext cx="2523744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0F2234"/>
                </a:solidFill>
                <a:latin typeface="Malgun Gothic"/>
              </a:defRPr>
            </a:pPr>
            <a:r>
              <a:t>8,420 events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13248" y="4169663"/>
            <a:ext cx="252374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4C6073"/>
                </a:solidFill>
                <a:latin typeface="Malgun Gothic"/>
              </a:defRPr>
            </a:pPr>
            <a:r>
              <a:t>821 grid cells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70848" y="3163824"/>
            <a:ext cx="2468880" cy="140817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0" y="3456432"/>
            <a:ext cx="1956816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SENSOR_FIXED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813048"/>
            <a:ext cx="1956816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0F2234"/>
                </a:solidFill>
                <a:latin typeface="Malgun Gothic"/>
              </a:defRPr>
            </a:pPr>
            <a:r>
              <a:t>83 bypass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7C4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7C4AB8"/>
                </a:solidFill>
                <a:latin typeface="Malgun Gothic"/>
              </a:defRPr>
            </a:pPr>
            <a:r>
              <a:t>event + timestamp + pose의 world-frame 방향 ray 투영을 software로 확인했다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06 결론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1차 성과 세 가지와 2차 검증 세 가지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Evidence: full50 family diagnostic · final UZH polarity replay · tested physical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70432"/>
            <a:ext cx="3401568" cy="18745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9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7824" y="1408176"/>
            <a:ext cx="1243584" cy="310896"/>
          </a:xfrm>
          <a:prstGeom prst="round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476756"/>
            <a:ext cx="1133856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LOSS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2962656" cy="40233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009E96"/>
                </a:solidFill>
                <a:latin typeface="Malgun Gothic"/>
              </a:defRPr>
            </a:pPr>
            <a:r>
              <a:t>−95.9%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487168"/>
            <a:ext cx="2962656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4C6073"/>
                </a:solidFill>
                <a:latin typeface="Malgun Gothic"/>
              </a:defRPr>
            </a:pPr>
            <a:r>
              <a:t>base Cluster2 → steal_buf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5" y="1170432"/>
            <a:ext cx="3401568" cy="18745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3712" y="1408176"/>
            <a:ext cx="1243584" cy="3108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08575" y="1476756"/>
            <a:ext cx="1133856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MEANING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1901952"/>
            <a:ext cx="2962656" cy="40233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2563EB"/>
                </a:solidFill>
                <a:latin typeface="Malgun Gothic"/>
              </a:defRPr>
            </a:pPr>
            <a:r>
              <a:t>8,503 / 8,503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487168"/>
            <a:ext cx="2962656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4C6073"/>
                </a:solidFill>
                <a:latin typeface="Malgun Gothic"/>
              </a:defRPr>
            </a:pPr>
            <a:r>
              <a:t>polarity mismatch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1170432"/>
            <a:ext cx="3401568" cy="18745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0" y="1408176"/>
            <a:ext cx="1243584" cy="310896"/>
          </a:xfrm>
          <a:prstGeom prst="roundRect">
            <a:avLst/>
          </a:prstGeom>
          <a:solidFill>
            <a:srgbClr val="E68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4464" y="1476756"/>
            <a:ext cx="1133856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IMPLEMENT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1901952"/>
            <a:ext cx="2962656" cy="40233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E68414"/>
                </a:solidFill>
                <a:latin typeface="Malgun Gothic"/>
              </a:defRPr>
            </a:pPr>
            <a:r>
              <a:t>285.714 MHz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487168"/>
            <a:ext cx="2962656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4C6073"/>
                </a:solidFill>
                <a:latin typeface="Malgun Gothic"/>
              </a:defRPr>
            </a:pPr>
            <a:r>
              <a:t>fastest tested 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" y="3456432"/>
            <a:ext cx="131673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13344F"/>
                </a:solidFill>
                <a:latin typeface="Malgun Gothic"/>
              </a:defRPr>
            </a:pPr>
            <a:r>
              <a:t>2차 과제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858768"/>
            <a:ext cx="3401568" cy="1261872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41247" y="4096512"/>
            <a:ext cx="475488" cy="310896"/>
          </a:xfrm>
          <a:prstGeom prst="roundRect">
            <a:avLst/>
          </a:prstGeom>
          <a:solidFill>
            <a:srgbClr val="E68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4165092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4096512"/>
            <a:ext cx="71323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E68414"/>
                </a:solidFill>
                <a:latin typeface="Malgun Gothic"/>
              </a:defRPr>
            </a:pPr>
            <a:r>
              <a:t>LINK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4453128"/>
            <a:ext cx="2340864" cy="38404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repeat-flag + polarity grammar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34255" y="3858768"/>
            <a:ext cx="3401568" cy="1261872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17136" y="4096512"/>
            <a:ext cx="475488" cy="310896"/>
          </a:xfrm>
          <a:prstGeom prst="roundRect">
            <a:avLst/>
          </a:prstGeom>
          <a:solidFill>
            <a:srgbClr val="7C4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1999" y="4165092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38927" y="4096512"/>
            <a:ext cx="71323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7C4AB8"/>
                </a:solidFill>
                <a:latin typeface="Malgun Gothic"/>
              </a:defRPr>
            </a:pPr>
            <a:r>
              <a:t>WORLD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38927" y="4453128"/>
            <a:ext cx="2340864" cy="38404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timestamp + pose full replay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10144" y="3858768"/>
            <a:ext cx="3401568" cy="1261872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193023" y="4096512"/>
            <a:ext cx="475488" cy="310896"/>
          </a:xfrm>
          <a:prstGeom prst="round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47888" y="4165092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14816" y="4096512"/>
            <a:ext cx="71323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009E96"/>
                </a:solidFill>
                <a:latin typeface="Malgun Gothic"/>
              </a:defRPr>
            </a:pPr>
            <a:r>
              <a:t>PPA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14816" y="4453128"/>
            <a:ext cx="2340864" cy="38404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activity power + exact Fmax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3344F"/>
                </a:solidFill>
                <a:latin typeface="Malgun Gothic"/>
              </a:defRPr>
            </a:pPr>
            <a:r>
              <a:t>Cluster2 위에 depth-2·steal·polarity를 통합해 손실과 의미를 함께 다뤘다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Cluster2 Steal-Buffer Polarity AER</dc:title>
  <dc:subject>Ground-up bottleneck, architecture, evidence, physical implementation, and world-coordinate extensibility</dc:subject>
  <dc:creator>AI-semi team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