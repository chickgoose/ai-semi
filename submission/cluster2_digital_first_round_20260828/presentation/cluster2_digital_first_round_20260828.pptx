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3344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658368" y="475488"/>
            <a:ext cx="1572768" cy="310896"/>
          </a:xfrm>
          <a:prstGeom prst="roundRect">
            <a:avLst/>
          </a:prstGeom>
          <a:solidFill>
            <a:srgbClr val="009E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13232" y="544068"/>
            <a:ext cx="1463040" cy="164592"/>
          </a:xfrm>
          <a:prstGeom prst="rect">
            <a:avLst/>
          </a:prstGeom>
          <a:noFill/>
        </p:spPr>
        <p:txBody>
          <a:bodyPr wrap="square" anchor="t" lIns="27432" rIns="27432" tIns="13716" bIns="13716">
            <a:noAutofit/>
          </a:bodyPr>
          <a:lstStyle/>
          <a:p>
            <a:pPr algn="ctr">
              <a:spcAft>
                <a:spcPts val="0"/>
              </a:spcAft>
              <a:defRPr sz="1200" b="1">
                <a:solidFill>
                  <a:srgbClr val="FFFFFF"/>
                </a:solidFill>
                <a:latin typeface="Malgun Gothic"/>
              </a:defRPr>
            </a:pPr>
            <a:r>
              <a:t>DIGITAL 1차 결과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051560"/>
            <a:ext cx="6583680" cy="1298448"/>
          </a:xfrm>
          <a:prstGeom prst="rect">
            <a:avLst/>
          </a:prstGeom>
          <a:noFill/>
        </p:spPr>
        <p:txBody>
          <a:bodyPr wrap="square" anchor="t" lIns="27432" rIns="27432" tIns="13716" bIns="13716">
            <a:noAutofit/>
          </a:bodyPr>
          <a:lstStyle/>
          <a:p>
            <a:pPr algn="l">
              <a:spcAft>
                <a:spcPts val="0"/>
              </a:spcAft>
              <a:defRPr sz="3400" b="1">
                <a:solidFill>
                  <a:srgbClr val="FFFFFF"/>
                </a:solidFill>
                <a:latin typeface="Malgun Gothic"/>
              </a:defRPr>
            </a:pPr>
            <a:r>
              <a:t>Cluster2 Steal-Buffer</a:t>
            </a:r>
            <a:br/>
            <a:r>
              <a:t>Polarity AER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94944" y="2514600"/>
            <a:ext cx="7498079" cy="384048"/>
          </a:xfrm>
          <a:prstGeom prst="rect">
            <a:avLst/>
          </a:prstGeom>
          <a:noFill/>
        </p:spPr>
        <p:txBody>
          <a:bodyPr wrap="square" anchor="t" lIns="27432" rIns="27432" tIns="13716" bIns="13716">
            <a:noAutofit/>
          </a:bodyPr>
          <a:lstStyle/>
          <a:p>
            <a:pPr algn="l">
              <a:spcAft>
                <a:spcPts val="0"/>
              </a:spcAft>
              <a:defRPr sz="2000" b="1">
                <a:solidFill>
                  <a:srgbClr val="D2E2EE"/>
                </a:solidFill>
                <a:latin typeface="Malgun Gothic"/>
              </a:defRPr>
            </a:pPr>
            <a:r>
              <a:t>동시성은 넓히고 · 재발생은 흡수하고 · event 의미는 보존한다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94944" y="3273552"/>
            <a:ext cx="2322576" cy="1024128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3474720"/>
            <a:ext cx="2066543" cy="164592"/>
          </a:xfrm>
          <a:prstGeom prst="rect">
            <a:avLst/>
          </a:prstGeom>
          <a:noFill/>
        </p:spPr>
        <p:txBody>
          <a:bodyPr wrap="square" anchor="t" lIns="27432" rIns="27432" tIns="13716" bIns="13716">
            <a:noAutofit/>
          </a:bodyPr>
          <a:lstStyle/>
          <a:p>
            <a:pPr algn="ctr">
              <a:spcAft>
                <a:spcPts val="0"/>
              </a:spcAft>
              <a:defRPr sz="1200" b="1">
                <a:solidFill>
                  <a:srgbClr val="2563EB"/>
                </a:solidFill>
                <a:latin typeface="Malgun Gothic"/>
              </a:defRPr>
            </a:pPr>
            <a:r>
              <a:t>16 SOURCES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3785615"/>
            <a:ext cx="2066543" cy="219456"/>
          </a:xfrm>
          <a:prstGeom prst="rect">
            <a:avLst/>
          </a:prstGeom>
          <a:noFill/>
        </p:spPr>
        <p:txBody>
          <a:bodyPr wrap="square" anchor="t" lIns="27432" rIns="27432" tIns="13716" bIns="13716">
            <a:noAutofit/>
          </a:bodyPr>
          <a:lstStyle/>
          <a:p>
            <a:pPr algn="ctr">
              <a:spcAft>
                <a:spcPts val="0"/>
              </a:spcAft>
              <a:defRPr sz="1600" b="1">
                <a:solidFill>
                  <a:srgbClr val="0F2234"/>
                </a:solidFill>
                <a:latin typeface="Malgun Gothic"/>
              </a:defRPr>
            </a:pPr>
            <a:r>
              <a:t>event + polarity</a:t>
            </a:r>
          </a:p>
        </p:txBody>
      </p:sp>
      <p:sp>
        <p:nvSpPr>
          <p:cNvPr id="9" name="Right Arrow 8"/>
          <p:cNvSpPr/>
          <p:nvPr/>
        </p:nvSpPr>
        <p:spPr>
          <a:xfrm>
            <a:off x="3090672" y="3675887"/>
            <a:ext cx="219456" cy="182880"/>
          </a:xfrm>
          <a:prstGeom prst="rightArrow">
            <a:avLst/>
          </a:prstGeom>
          <a:solidFill>
            <a:srgbClr val="8DAD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3392424" y="3273552"/>
            <a:ext cx="2322576" cy="1024128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520440" y="3474720"/>
            <a:ext cx="2066543" cy="164592"/>
          </a:xfrm>
          <a:prstGeom prst="rect">
            <a:avLst/>
          </a:prstGeom>
          <a:noFill/>
        </p:spPr>
        <p:txBody>
          <a:bodyPr wrap="square" anchor="t" lIns="27432" rIns="27432" tIns="13716" bIns="13716">
            <a:noAutofit/>
          </a:bodyPr>
          <a:lstStyle/>
          <a:p>
            <a:pPr algn="ctr">
              <a:spcAft>
                <a:spcPts val="0"/>
              </a:spcAft>
              <a:defRPr sz="1200" b="1">
                <a:solidFill>
                  <a:srgbClr val="E68414"/>
                </a:solidFill>
                <a:latin typeface="Malgun Gothic"/>
              </a:defRPr>
            </a:pPr>
            <a:r>
              <a:t>LOCAL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520440" y="3785615"/>
            <a:ext cx="2066543" cy="219456"/>
          </a:xfrm>
          <a:prstGeom prst="rect">
            <a:avLst/>
          </a:prstGeom>
          <a:noFill/>
        </p:spPr>
        <p:txBody>
          <a:bodyPr wrap="square" anchor="t" lIns="27432" rIns="27432" tIns="13716" bIns="13716">
            <a:noAutofit/>
          </a:bodyPr>
          <a:lstStyle/>
          <a:p>
            <a:pPr algn="ctr">
              <a:spcAft>
                <a:spcPts val="0"/>
              </a:spcAft>
              <a:defRPr sz="1600" b="1">
                <a:solidFill>
                  <a:srgbClr val="0F2234"/>
                </a:solidFill>
                <a:latin typeface="Malgun Gothic"/>
              </a:defRPr>
            </a:pPr>
            <a:r>
              <a:t>depth-2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5788152" y="3675887"/>
            <a:ext cx="219456" cy="182880"/>
          </a:xfrm>
          <a:prstGeom prst="rightArrow">
            <a:avLst/>
          </a:prstGeom>
          <a:solidFill>
            <a:srgbClr val="8DAD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6089904" y="3273552"/>
            <a:ext cx="2322576" cy="1024128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17920" y="3474720"/>
            <a:ext cx="2066543" cy="164592"/>
          </a:xfrm>
          <a:prstGeom prst="rect">
            <a:avLst/>
          </a:prstGeom>
          <a:noFill/>
        </p:spPr>
        <p:txBody>
          <a:bodyPr wrap="square" anchor="t" lIns="27432" rIns="27432" tIns="13716" bIns="13716">
            <a:noAutofit/>
          </a:bodyPr>
          <a:lstStyle/>
          <a:p>
            <a:pPr algn="ctr">
              <a:spcAft>
                <a:spcPts val="0"/>
              </a:spcAft>
              <a:defRPr sz="1200" b="1">
                <a:solidFill>
                  <a:srgbClr val="009E96"/>
                </a:solidFill>
                <a:latin typeface="Malgun Gothic"/>
              </a:defRPr>
            </a:pPr>
            <a:r>
              <a:t>SCHEDULE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17920" y="3785615"/>
            <a:ext cx="2066543" cy="219456"/>
          </a:xfrm>
          <a:prstGeom prst="rect">
            <a:avLst/>
          </a:prstGeom>
          <a:noFill/>
        </p:spPr>
        <p:txBody>
          <a:bodyPr wrap="square" anchor="t" lIns="27432" rIns="27432" tIns="13716" bIns="13716">
            <a:noAutofit/>
          </a:bodyPr>
          <a:lstStyle/>
          <a:p>
            <a:pPr algn="ctr">
              <a:spcAft>
                <a:spcPts val="0"/>
              </a:spcAft>
              <a:defRPr sz="1600" b="1">
                <a:solidFill>
                  <a:srgbClr val="0F2234"/>
                </a:solidFill>
                <a:latin typeface="Malgun Gothic"/>
              </a:defRPr>
            </a:pPr>
            <a:r>
              <a:t>2 lanes + steal</a:t>
            </a:r>
          </a:p>
        </p:txBody>
      </p:sp>
      <p:sp>
        <p:nvSpPr>
          <p:cNvPr id="17" name="Right Arrow 16"/>
          <p:cNvSpPr/>
          <p:nvPr/>
        </p:nvSpPr>
        <p:spPr>
          <a:xfrm>
            <a:off x="8485632" y="3675887"/>
            <a:ext cx="219456" cy="182880"/>
          </a:xfrm>
          <a:prstGeom prst="rightArrow">
            <a:avLst/>
          </a:prstGeom>
          <a:solidFill>
            <a:srgbClr val="8DAD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8787384" y="3273552"/>
            <a:ext cx="2322576" cy="1024128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915400" y="3474720"/>
            <a:ext cx="2066543" cy="164592"/>
          </a:xfrm>
          <a:prstGeom prst="rect">
            <a:avLst/>
          </a:prstGeom>
          <a:noFill/>
        </p:spPr>
        <p:txBody>
          <a:bodyPr wrap="square" anchor="t" lIns="27432" rIns="27432" tIns="13716" bIns="13716">
            <a:noAutofit/>
          </a:bodyPr>
          <a:lstStyle/>
          <a:p>
            <a:pPr algn="ctr">
              <a:spcAft>
                <a:spcPts val="0"/>
              </a:spcAft>
              <a:defRPr sz="1200" b="1">
                <a:solidFill>
                  <a:srgbClr val="1F935E"/>
                </a:solidFill>
                <a:latin typeface="Malgun Gothic"/>
              </a:defRPr>
            </a:pPr>
            <a:r>
              <a:t>RETIRE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915400" y="3785615"/>
            <a:ext cx="2066543" cy="219456"/>
          </a:xfrm>
          <a:prstGeom prst="rect">
            <a:avLst/>
          </a:prstGeom>
          <a:noFill/>
        </p:spPr>
        <p:txBody>
          <a:bodyPr wrap="square" anchor="t" lIns="27432" rIns="27432" tIns="13716" bIns="13716">
            <a:noAutofit/>
          </a:bodyPr>
          <a:lstStyle/>
          <a:p>
            <a:pPr algn="ctr">
              <a:spcAft>
                <a:spcPts val="0"/>
              </a:spcAft>
              <a:defRPr sz="1600" b="1">
                <a:solidFill>
                  <a:srgbClr val="0F2234"/>
                </a:solidFill>
                <a:latin typeface="Malgun Gothic"/>
              </a:defRPr>
            </a:pPr>
            <a:r>
              <a:t>row / mask / pol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94944" y="4800600"/>
            <a:ext cx="3419856" cy="1188720"/>
          </a:xfrm>
          <a:prstGeom prst="roundRect">
            <a:avLst/>
          </a:prstGeom>
          <a:solidFill>
            <a:srgbClr val="1C456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96112" y="5001768"/>
            <a:ext cx="3017520" cy="164592"/>
          </a:xfrm>
          <a:prstGeom prst="rect">
            <a:avLst/>
          </a:prstGeom>
          <a:noFill/>
        </p:spPr>
        <p:txBody>
          <a:bodyPr wrap="square" anchor="t" lIns="27432" rIns="27432" tIns="13716" bIns="13716">
            <a:noAutofit/>
          </a:bodyPr>
          <a:lstStyle/>
          <a:p>
            <a:pPr algn="l">
              <a:spcAft>
                <a:spcPts val="0"/>
              </a:spcAft>
              <a:defRPr sz="1200" b="1">
                <a:solidFill>
                  <a:srgbClr val="009E96"/>
                </a:solidFill>
                <a:latin typeface="Malgun Gothic"/>
              </a:defRPr>
            </a:pPr>
            <a:r>
              <a:t>FULL50 LOSS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96112" y="5303520"/>
            <a:ext cx="3017520" cy="274320"/>
          </a:xfrm>
          <a:prstGeom prst="rect">
            <a:avLst/>
          </a:prstGeom>
          <a:noFill/>
        </p:spPr>
        <p:txBody>
          <a:bodyPr wrap="square" anchor="t" lIns="27432" rIns="27432" tIns="13716" bIns="13716">
            <a:noAutofit/>
          </a:bodyPr>
          <a:lstStyle/>
          <a:p>
            <a:pPr algn="l">
              <a:spcAft>
                <a:spcPts val="0"/>
              </a:spcAft>
              <a:defRPr sz="2000" b="1">
                <a:solidFill>
                  <a:srgbClr val="FFFFFF"/>
                </a:solidFill>
                <a:latin typeface="Malgun Gothic"/>
              </a:defRPr>
            </a:pPr>
            <a:r>
              <a:t>11.52% → 0.47%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96112" y="5687568"/>
            <a:ext cx="3017520" cy="164592"/>
          </a:xfrm>
          <a:prstGeom prst="rect">
            <a:avLst/>
          </a:prstGeom>
          <a:noFill/>
        </p:spPr>
        <p:txBody>
          <a:bodyPr wrap="square" anchor="t" lIns="27432" rIns="27432" tIns="13716" bIns="13716">
            <a:no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C4D8E7"/>
                </a:solidFill>
                <a:latin typeface="Malgun Gothic"/>
              </a:defRPr>
            </a:pPr>
            <a:r>
              <a:t>base 대비 −95.9%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425696" y="4800600"/>
            <a:ext cx="3419856" cy="1188720"/>
          </a:xfrm>
          <a:prstGeom prst="roundRect">
            <a:avLst/>
          </a:prstGeom>
          <a:solidFill>
            <a:srgbClr val="1C456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626864" y="5001768"/>
            <a:ext cx="3017520" cy="164592"/>
          </a:xfrm>
          <a:prstGeom prst="rect">
            <a:avLst/>
          </a:prstGeom>
          <a:noFill/>
        </p:spPr>
        <p:txBody>
          <a:bodyPr wrap="square" anchor="t" lIns="27432" rIns="27432" tIns="13716" bIns="13716">
            <a:noAutofit/>
          </a:bodyPr>
          <a:lstStyle/>
          <a:p>
            <a:pPr algn="l">
              <a:spcAft>
                <a:spcPts val="0"/>
              </a:spcAft>
              <a:defRPr sz="1200" b="1">
                <a:solidFill>
                  <a:srgbClr val="2563EB"/>
                </a:solidFill>
                <a:latin typeface="Malgun Gothic"/>
              </a:defRPr>
            </a:pPr>
            <a:r>
              <a:t>POLARITY REPLAY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626864" y="5303520"/>
            <a:ext cx="3017520" cy="274320"/>
          </a:xfrm>
          <a:prstGeom prst="rect">
            <a:avLst/>
          </a:prstGeom>
          <a:noFill/>
        </p:spPr>
        <p:txBody>
          <a:bodyPr wrap="square" anchor="t" lIns="27432" rIns="27432" tIns="13716" bIns="13716">
            <a:noAutofit/>
          </a:bodyPr>
          <a:lstStyle/>
          <a:p>
            <a:pPr algn="l">
              <a:spcAft>
                <a:spcPts val="0"/>
              </a:spcAft>
              <a:defRPr sz="2000" b="1">
                <a:solidFill>
                  <a:srgbClr val="FFFFFF"/>
                </a:solidFill>
                <a:latin typeface="Malgun Gothic"/>
              </a:defRPr>
            </a:pPr>
            <a:r>
              <a:t>8,503 / 8,503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626864" y="5687568"/>
            <a:ext cx="3017520" cy="164592"/>
          </a:xfrm>
          <a:prstGeom prst="rect">
            <a:avLst/>
          </a:prstGeom>
          <a:noFill/>
        </p:spPr>
        <p:txBody>
          <a:bodyPr wrap="square" anchor="t" lIns="27432" rIns="27432" tIns="13716" bIns="13716">
            <a:no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C4D8E7"/>
                </a:solidFill>
                <a:latin typeface="Malgun Gothic"/>
              </a:defRPr>
            </a:pPr>
            <a:r>
              <a:t>mismatch 0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156448" y="4800600"/>
            <a:ext cx="3419856" cy="1188720"/>
          </a:xfrm>
          <a:prstGeom prst="roundRect">
            <a:avLst/>
          </a:prstGeom>
          <a:solidFill>
            <a:srgbClr val="1C456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357616" y="5001768"/>
            <a:ext cx="3017520" cy="164592"/>
          </a:xfrm>
          <a:prstGeom prst="rect">
            <a:avLst/>
          </a:prstGeom>
          <a:noFill/>
        </p:spPr>
        <p:txBody>
          <a:bodyPr wrap="square" anchor="t" lIns="27432" rIns="27432" tIns="13716" bIns="13716">
            <a:noAutofit/>
          </a:bodyPr>
          <a:lstStyle/>
          <a:p>
            <a:pPr algn="l">
              <a:spcAft>
                <a:spcPts val="0"/>
              </a:spcAft>
              <a:defRPr sz="1200" b="1">
                <a:solidFill>
                  <a:srgbClr val="E68414"/>
                </a:solidFill>
                <a:latin typeface="Malgun Gothic"/>
              </a:defRPr>
            </a:pPr>
            <a:r>
              <a:t>FASTEST TESTED PASS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357616" y="5303520"/>
            <a:ext cx="3017520" cy="274320"/>
          </a:xfrm>
          <a:prstGeom prst="rect">
            <a:avLst/>
          </a:prstGeom>
          <a:noFill/>
        </p:spPr>
        <p:txBody>
          <a:bodyPr wrap="square" anchor="t" lIns="27432" rIns="27432" tIns="13716" bIns="13716">
            <a:noAutofit/>
          </a:bodyPr>
          <a:lstStyle/>
          <a:p>
            <a:pPr algn="l">
              <a:spcAft>
                <a:spcPts val="0"/>
              </a:spcAft>
              <a:defRPr sz="2000" b="1">
                <a:solidFill>
                  <a:srgbClr val="FFFFFF"/>
                </a:solidFill>
                <a:latin typeface="Malgun Gothic"/>
              </a:defRPr>
            </a:pPr>
            <a:r>
              <a:t>285.714 MHz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357616" y="5687568"/>
            <a:ext cx="3017520" cy="164592"/>
          </a:xfrm>
          <a:prstGeom prst="rect">
            <a:avLst/>
          </a:prstGeom>
          <a:noFill/>
        </p:spPr>
        <p:txBody>
          <a:bodyPr wrap="square" anchor="t" lIns="27432" rIns="27432" tIns="13716" bIns="13716">
            <a:no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C4D8E7"/>
                </a:solidFill>
                <a:latin typeface="Malgun Gothic"/>
              </a:defRPr>
            </a:pPr>
            <a:r>
              <a:t>post-route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94944" y="6437376"/>
            <a:ext cx="3657600" cy="164592"/>
          </a:xfrm>
          <a:prstGeom prst="rect">
            <a:avLst/>
          </a:prstGeom>
          <a:noFill/>
        </p:spPr>
        <p:txBody>
          <a:bodyPr wrap="square" anchor="t" lIns="27432" rIns="27432" tIns="13716" bIns="13716">
            <a:no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B4CADB"/>
                </a:solidFill>
                <a:latin typeface="Malgun Gothic"/>
              </a:defRPr>
            </a:pPr>
            <a:r>
              <a:t>AI-semi · 2026-08-28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66928" y="310896"/>
            <a:ext cx="1143000" cy="310896"/>
          </a:xfrm>
          <a:prstGeom prst="roundRect">
            <a:avLst/>
          </a:prstGeom>
          <a:solidFill>
            <a:srgbClr val="1334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21792" y="379476"/>
            <a:ext cx="1033271" cy="164592"/>
          </a:xfrm>
          <a:prstGeom prst="rect">
            <a:avLst/>
          </a:prstGeom>
          <a:noFill/>
        </p:spPr>
        <p:txBody>
          <a:bodyPr wrap="square" anchor="t" lIns="27432" rIns="27432" tIns="13716" bIns="13716">
            <a:noAutofit/>
          </a:bodyPr>
          <a:lstStyle/>
          <a:p>
            <a:pPr algn="ctr">
              <a:spcAft>
                <a:spcPts val="0"/>
              </a:spcAft>
              <a:defRPr sz="1200" b="1">
                <a:solidFill>
                  <a:srgbClr val="FFFFFF"/>
                </a:solidFill>
                <a:latin typeface="Malgun Gothic"/>
              </a:defRPr>
            </a:pPr>
            <a:r>
              <a:t>01 문제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920240" y="182880"/>
            <a:ext cx="9646920" cy="566928"/>
          </a:xfrm>
          <a:prstGeom prst="rect">
            <a:avLst/>
          </a:prstGeom>
          <a:noFill/>
        </p:spPr>
        <p:txBody>
          <a:bodyPr wrap="square" anchor="t" lIns="27432" rIns="27432" tIns="13716" bIns="13716">
            <a:noAutofit/>
          </a:bodyPr>
          <a:lstStyle/>
          <a:p>
            <a:pPr algn="l">
              <a:spcAft>
                <a:spcPts val="0"/>
              </a:spcAft>
              <a:defRPr sz="3000" b="1">
                <a:solidFill>
                  <a:srgbClr val="0F2234"/>
                </a:solidFill>
                <a:latin typeface="Malgun Gothic"/>
              </a:defRPr>
            </a:pPr>
            <a:r>
              <a:t>Ryu의 문제 흐름을 여섯 설계 요구로 분해했다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66928" y="877824"/>
            <a:ext cx="11027664" cy="0"/>
          </a:xfrm>
          <a:prstGeom prst="line">
            <a:avLst/>
          </a:prstGeom>
          <a:ln w="19050">
            <a:solidFill>
              <a:srgbClr val="DAE2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85216" y="6501384"/>
            <a:ext cx="10378440" cy="182880"/>
          </a:xfrm>
          <a:prstGeom prst="rect">
            <a:avLst/>
          </a:prstGeom>
          <a:noFill/>
        </p:spPr>
        <p:txBody>
          <a:bodyPr wrap="square" anchor="t" lIns="27432" rIns="27432" tIns="13716" bIns="13716">
            <a:no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4C6073"/>
                </a:solidFill>
                <a:latin typeface="Malgun Gothic"/>
              </a:defRPr>
            </a:pPr>
            <a:r>
              <a:t>Framing: team decomposition of Ryu's problem flow; not a literal numbered list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9376" y="6492240"/>
            <a:ext cx="548640" cy="182880"/>
          </a:xfrm>
          <a:prstGeom prst="rect">
            <a:avLst/>
          </a:prstGeom>
          <a:noFill/>
        </p:spPr>
        <p:txBody>
          <a:bodyPr wrap="square" anchor="t" lIns="27432" rIns="27432" tIns="13716" bIns="13716">
            <a:noAutofit/>
          </a:bodyPr>
          <a:lstStyle/>
          <a:p>
            <a:pPr algn="r">
              <a:spcAft>
                <a:spcPts val="0"/>
              </a:spcAft>
              <a:defRPr sz="1200" b="1">
                <a:solidFill>
                  <a:srgbClr val="13344F"/>
                </a:solidFill>
                <a:latin typeface="Malgun Gothic"/>
              </a:defRPr>
            </a:pPr>
            <a:r>
              <a:t>02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1188720"/>
            <a:ext cx="3401568" cy="166420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AE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841247" y="1353312"/>
            <a:ext cx="475488" cy="310896"/>
          </a:xfrm>
          <a:prstGeom prst="roundRect">
            <a:avLst/>
          </a:prstGeom>
          <a:solidFill>
            <a:srgbClr val="E684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96112" y="1421892"/>
            <a:ext cx="365760" cy="164592"/>
          </a:xfrm>
          <a:prstGeom prst="rect">
            <a:avLst/>
          </a:prstGeom>
          <a:noFill/>
        </p:spPr>
        <p:txBody>
          <a:bodyPr wrap="square" anchor="t" lIns="27432" rIns="27432" tIns="13716" bIns="13716">
            <a:noAutofit/>
          </a:bodyPr>
          <a:lstStyle/>
          <a:p>
            <a:pPr algn="ctr">
              <a:spcAft>
                <a:spcPts val="0"/>
              </a:spcAft>
              <a:defRPr sz="1200" b="1">
                <a:solidFill>
                  <a:srgbClr val="FFFFFF"/>
                </a:solidFill>
                <a:latin typeface="Malgun Gothic"/>
              </a:defRPr>
            </a:pPr>
            <a:r>
              <a:t>01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724911" y="1353312"/>
            <a:ext cx="1133856" cy="310896"/>
          </a:xfrm>
          <a:prstGeom prst="roundRect">
            <a:avLst/>
          </a:prstGeom>
          <a:solidFill>
            <a:srgbClr val="FFF2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779775" y="1421892"/>
            <a:ext cx="1024128" cy="164592"/>
          </a:xfrm>
          <a:prstGeom prst="rect">
            <a:avLst/>
          </a:prstGeom>
          <a:noFill/>
        </p:spPr>
        <p:txBody>
          <a:bodyPr wrap="square" anchor="t" lIns="27432" rIns="27432" tIns="13716" bIns="13716">
            <a:noAutofit/>
          </a:bodyPr>
          <a:lstStyle/>
          <a:p>
            <a:pPr algn="ctr">
              <a:spcAft>
                <a:spcPts val="0"/>
              </a:spcAft>
              <a:defRPr sz="1200" b="1">
                <a:solidFill>
                  <a:srgbClr val="E68414"/>
                </a:solidFill>
                <a:latin typeface="Malgun Gothic"/>
              </a:defRPr>
            </a:pPr>
            <a:r>
              <a:t>PARTIAL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9536" y="1847088"/>
            <a:ext cx="2962656" cy="274320"/>
          </a:xfrm>
          <a:prstGeom prst="rect">
            <a:avLst/>
          </a:prstGeom>
          <a:noFill/>
        </p:spPr>
        <p:txBody>
          <a:bodyPr wrap="square" anchor="t" lIns="27432" rIns="27432" tIns="13716" bIns="13716">
            <a:no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0F2234"/>
                </a:solidFill>
                <a:latin typeface="Malgun Gothic"/>
              </a:defRPr>
            </a:pPr>
            <a:r>
              <a:t>주소 overhead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59536" y="2267712"/>
            <a:ext cx="2962656" cy="274320"/>
          </a:xfrm>
          <a:prstGeom prst="rect">
            <a:avLst/>
          </a:prstGeom>
          <a:noFill/>
        </p:spPr>
        <p:txBody>
          <a:bodyPr wrap="square" anchor="t" lIns="27432" rIns="27432" tIns="13716" bIns="13716">
            <a:noAutofit/>
          </a:bodyPr>
          <a:lstStyle/>
          <a:p>
            <a:pPr algn="l">
              <a:spcAft>
                <a:spcPts val="0"/>
              </a:spcAft>
              <a:defRPr sz="1500" b="0">
                <a:solidFill>
                  <a:srgbClr val="4C6073"/>
                </a:solidFill>
                <a:latin typeface="Malgun Gothic"/>
              </a:defRPr>
            </a:pPr>
            <a:r>
              <a:t>bitmap + codec 후보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334255" y="1188720"/>
            <a:ext cx="3401568" cy="166420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AE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4517136" y="1353312"/>
            <a:ext cx="475488" cy="310896"/>
          </a:xfrm>
          <a:prstGeom prst="roundRect">
            <a:avLst/>
          </a:prstGeom>
          <a:solidFill>
            <a:srgbClr val="009E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71999" y="1421892"/>
            <a:ext cx="365760" cy="164592"/>
          </a:xfrm>
          <a:prstGeom prst="rect">
            <a:avLst/>
          </a:prstGeom>
          <a:noFill/>
        </p:spPr>
        <p:txBody>
          <a:bodyPr wrap="square" anchor="t" lIns="27432" rIns="27432" tIns="13716" bIns="13716">
            <a:noAutofit/>
          </a:bodyPr>
          <a:lstStyle/>
          <a:p>
            <a:pPr algn="ctr">
              <a:spcAft>
                <a:spcPts val="0"/>
              </a:spcAft>
              <a:defRPr sz="1200" b="1">
                <a:solidFill>
                  <a:srgbClr val="FFFFFF"/>
                </a:solidFill>
                <a:latin typeface="Malgun Gothic"/>
              </a:defRPr>
            </a:pPr>
            <a:r>
              <a:t>02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400799" y="1353312"/>
            <a:ext cx="1133856" cy="310896"/>
          </a:xfrm>
          <a:prstGeom prst="roundRect">
            <a:avLst/>
          </a:prstGeom>
          <a:solidFill>
            <a:srgbClr val="E0F6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55663" y="1421892"/>
            <a:ext cx="1024128" cy="164592"/>
          </a:xfrm>
          <a:prstGeom prst="rect">
            <a:avLst/>
          </a:prstGeom>
          <a:noFill/>
        </p:spPr>
        <p:txBody>
          <a:bodyPr wrap="square" anchor="t" lIns="27432" rIns="27432" tIns="13716" bIns="13716">
            <a:noAutofit/>
          </a:bodyPr>
          <a:lstStyle/>
          <a:p>
            <a:pPr algn="ctr">
              <a:spcAft>
                <a:spcPts val="0"/>
              </a:spcAft>
              <a:defRPr sz="1200" b="1">
                <a:solidFill>
                  <a:srgbClr val="009E96"/>
                </a:solidFill>
                <a:latin typeface="Malgun Gothic"/>
              </a:defRPr>
            </a:pPr>
            <a:r>
              <a:t>DIRECT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35423" y="1847088"/>
            <a:ext cx="2962656" cy="274320"/>
          </a:xfrm>
          <a:prstGeom prst="rect">
            <a:avLst/>
          </a:prstGeom>
          <a:noFill/>
        </p:spPr>
        <p:txBody>
          <a:bodyPr wrap="square" anchor="t" lIns="27432" rIns="27432" tIns="13716" bIns="13716">
            <a:no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0F2234"/>
                </a:solidFill>
                <a:latin typeface="Malgun Gothic"/>
              </a:defRPr>
            </a:pPr>
            <a:r>
              <a:t>직렬 bandwidth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35423" y="2267712"/>
            <a:ext cx="2962656" cy="274320"/>
          </a:xfrm>
          <a:prstGeom prst="rect">
            <a:avLst/>
          </a:prstGeom>
          <a:noFill/>
        </p:spPr>
        <p:txBody>
          <a:bodyPr wrap="square" anchor="t" lIns="27432" rIns="27432" tIns="13716" bIns="13716">
            <a:noAutofit/>
          </a:bodyPr>
          <a:lstStyle/>
          <a:p>
            <a:pPr algn="l">
              <a:spcAft>
                <a:spcPts val="0"/>
              </a:spcAft>
              <a:defRPr sz="1500" b="0">
                <a:solidFill>
                  <a:srgbClr val="4C6073"/>
                </a:solidFill>
                <a:latin typeface="Malgun Gothic"/>
              </a:defRPr>
            </a:pPr>
            <a:r>
              <a:t>2 row-bitmap lanes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010144" y="1188720"/>
            <a:ext cx="3401568" cy="166420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AE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8193023" y="1353312"/>
            <a:ext cx="475488" cy="310896"/>
          </a:xfrm>
          <a:prstGeom prst="roundRect">
            <a:avLst/>
          </a:prstGeom>
          <a:solidFill>
            <a:srgbClr val="009E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47888" y="1421892"/>
            <a:ext cx="365760" cy="164592"/>
          </a:xfrm>
          <a:prstGeom prst="rect">
            <a:avLst/>
          </a:prstGeom>
          <a:noFill/>
        </p:spPr>
        <p:txBody>
          <a:bodyPr wrap="square" anchor="t" lIns="27432" rIns="27432" tIns="13716" bIns="13716">
            <a:noAutofit/>
          </a:bodyPr>
          <a:lstStyle/>
          <a:p>
            <a:pPr algn="ctr">
              <a:spcAft>
                <a:spcPts val="0"/>
              </a:spcAft>
              <a:defRPr sz="1200" b="1">
                <a:solidFill>
                  <a:srgbClr val="FFFFFF"/>
                </a:solidFill>
                <a:latin typeface="Malgun Gothic"/>
              </a:defRPr>
            </a:pPr>
            <a:r>
              <a:t>03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0076688" y="1353312"/>
            <a:ext cx="1133856" cy="310896"/>
          </a:xfrm>
          <a:prstGeom prst="roundRect">
            <a:avLst/>
          </a:prstGeom>
          <a:solidFill>
            <a:srgbClr val="E0F6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0131552" y="1421892"/>
            <a:ext cx="1024128" cy="164592"/>
          </a:xfrm>
          <a:prstGeom prst="rect">
            <a:avLst/>
          </a:prstGeom>
          <a:noFill/>
        </p:spPr>
        <p:txBody>
          <a:bodyPr wrap="square" anchor="t" lIns="27432" rIns="27432" tIns="13716" bIns="13716">
            <a:noAutofit/>
          </a:bodyPr>
          <a:lstStyle/>
          <a:p>
            <a:pPr algn="ctr">
              <a:spcAft>
                <a:spcPts val="0"/>
              </a:spcAft>
              <a:defRPr sz="1200" b="1">
                <a:solidFill>
                  <a:srgbClr val="009E96"/>
                </a:solidFill>
                <a:latin typeface="Malgun Gothic"/>
              </a:defRPr>
            </a:pPr>
            <a:r>
              <a:t>DIRECT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211312" y="1847088"/>
            <a:ext cx="2962656" cy="274320"/>
          </a:xfrm>
          <a:prstGeom prst="rect">
            <a:avLst/>
          </a:prstGeom>
          <a:noFill/>
        </p:spPr>
        <p:txBody>
          <a:bodyPr wrap="square" anchor="t" lIns="27432" rIns="27432" tIns="13716" bIns="13716">
            <a:no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0F2234"/>
                </a:solidFill>
                <a:latin typeface="Malgun Gothic"/>
              </a:defRPr>
            </a:pPr>
            <a:r>
              <a:t>arbitration latency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211312" y="2267712"/>
            <a:ext cx="2962656" cy="274320"/>
          </a:xfrm>
          <a:prstGeom prst="rect">
            <a:avLst/>
          </a:prstGeom>
          <a:noFill/>
        </p:spPr>
        <p:txBody>
          <a:bodyPr wrap="square" anchor="t" lIns="27432" rIns="27432" tIns="13716" bIns="13716">
            <a:noAutofit/>
          </a:bodyPr>
          <a:lstStyle/>
          <a:p>
            <a:pPr algn="l">
              <a:spcAft>
                <a:spcPts val="0"/>
              </a:spcAft>
              <a:defRPr sz="1500" b="0">
                <a:solidFill>
                  <a:srgbClr val="4C6073"/>
                </a:solidFill>
                <a:latin typeface="Malgun Gothic"/>
              </a:defRPr>
            </a:pPr>
            <a:r>
              <a:t>grouped retire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58368" y="3182112"/>
            <a:ext cx="3401568" cy="166420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AE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841247" y="3346704"/>
            <a:ext cx="475488" cy="310896"/>
          </a:xfrm>
          <a:prstGeom prst="round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96112" y="3415284"/>
            <a:ext cx="365760" cy="164592"/>
          </a:xfrm>
          <a:prstGeom prst="rect">
            <a:avLst/>
          </a:prstGeom>
          <a:noFill/>
        </p:spPr>
        <p:txBody>
          <a:bodyPr wrap="square" anchor="t" lIns="27432" rIns="27432" tIns="13716" bIns="13716">
            <a:noAutofit/>
          </a:bodyPr>
          <a:lstStyle/>
          <a:p>
            <a:pPr algn="ctr">
              <a:spcAft>
                <a:spcPts val="0"/>
              </a:spcAft>
              <a:defRPr sz="1200" b="1">
                <a:solidFill>
                  <a:srgbClr val="FFFFFF"/>
                </a:solidFill>
                <a:latin typeface="Malgun Gothic"/>
              </a:defRPr>
            </a:pPr>
            <a:r>
              <a:t>04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2724911" y="3346704"/>
            <a:ext cx="1133856" cy="310896"/>
          </a:xfrm>
          <a:prstGeom prst="roundRect">
            <a:avLst/>
          </a:prstGeom>
          <a:solidFill>
            <a:srgbClr val="E8E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2779775" y="3415284"/>
            <a:ext cx="1024128" cy="164592"/>
          </a:xfrm>
          <a:prstGeom prst="rect">
            <a:avLst/>
          </a:prstGeom>
          <a:noFill/>
        </p:spPr>
        <p:txBody>
          <a:bodyPr wrap="square" anchor="t" lIns="27432" rIns="27432" tIns="13716" bIns="13716">
            <a:noAutofit/>
          </a:bodyPr>
          <a:lstStyle/>
          <a:p>
            <a:pPr algn="ctr">
              <a:spcAft>
                <a:spcPts val="0"/>
              </a:spcAft>
              <a:defRPr sz="1200" b="1">
                <a:solidFill>
                  <a:srgbClr val="2563EB"/>
                </a:solidFill>
                <a:latin typeface="Malgun Gothic"/>
              </a:defRPr>
            </a:pPr>
            <a:r>
              <a:t>STRUCTURAL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59536" y="3840480"/>
            <a:ext cx="2962656" cy="274320"/>
          </a:xfrm>
          <a:prstGeom prst="rect">
            <a:avLst/>
          </a:prstGeom>
          <a:noFill/>
        </p:spPr>
        <p:txBody>
          <a:bodyPr wrap="square" anchor="t" lIns="27432" rIns="27432" tIns="13716" bIns="13716">
            <a:no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0F2234"/>
                </a:solidFill>
                <a:latin typeface="Malgun Gothic"/>
              </a:defRPr>
            </a:pPr>
            <a:r>
              <a:t>class 불균형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59536" y="4261104"/>
            <a:ext cx="2962656" cy="274320"/>
          </a:xfrm>
          <a:prstGeom prst="rect">
            <a:avLst/>
          </a:prstGeom>
          <a:noFill/>
        </p:spPr>
        <p:txBody>
          <a:bodyPr wrap="square" anchor="t" lIns="27432" rIns="27432" tIns="13716" bIns="13716">
            <a:noAutofit/>
          </a:bodyPr>
          <a:lstStyle/>
          <a:p>
            <a:pPr algn="l">
              <a:spcAft>
                <a:spcPts val="0"/>
              </a:spcAft>
              <a:defRPr sz="1500" b="0">
                <a:solidFill>
                  <a:srgbClr val="4C6073"/>
                </a:solidFill>
                <a:latin typeface="Malgun Gothic"/>
              </a:defRPr>
            </a:pPr>
            <a:r>
              <a:t>rotate + lane steal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4334255" y="3182112"/>
            <a:ext cx="3401568" cy="166420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AE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4517136" y="3346704"/>
            <a:ext cx="475488" cy="310896"/>
          </a:xfrm>
          <a:prstGeom prst="roundRect">
            <a:avLst/>
          </a:prstGeom>
          <a:solidFill>
            <a:srgbClr val="D23A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4571999" y="3415284"/>
            <a:ext cx="365760" cy="164592"/>
          </a:xfrm>
          <a:prstGeom prst="rect">
            <a:avLst/>
          </a:prstGeom>
          <a:noFill/>
        </p:spPr>
        <p:txBody>
          <a:bodyPr wrap="square" anchor="t" lIns="27432" rIns="27432" tIns="13716" bIns="13716">
            <a:noAutofit/>
          </a:bodyPr>
          <a:lstStyle/>
          <a:p>
            <a:pPr algn="ctr">
              <a:spcAft>
                <a:spcPts val="0"/>
              </a:spcAft>
              <a:defRPr sz="1200" b="1">
                <a:solidFill>
                  <a:srgbClr val="FFFFFF"/>
                </a:solidFill>
                <a:latin typeface="Malgun Gothic"/>
              </a:defRPr>
            </a:pPr>
            <a:r>
              <a:t>05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6400799" y="3346704"/>
            <a:ext cx="1133856" cy="310896"/>
          </a:xfrm>
          <a:prstGeom prst="roundRect">
            <a:avLst/>
          </a:prstGeom>
          <a:solidFill>
            <a:srgbClr val="FEE9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455663" y="3415284"/>
            <a:ext cx="1024128" cy="164592"/>
          </a:xfrm>
          <a:prstGeom prst="rect">
            <a:avLst/>
          </a:prstGeom>
          <a:noFill/>
        </p:spPr>
        <p:txBody>
          <a:bodyPr wrap="square" anchor="t" lIns="27432" rIns="27432" tIns="13716" bIns="13716">
            <a:noAutofit/>
          </a:bodyPr>
          <a:lstStyle/>
          <a:p>
            <a:pPr algn="ctr">
              <a:spcAft>
                <a:spcPts val="0"/>
              </a:spcAft>
              <a:defRPr sz="1200" b="1">
                <a:solidFill>
                  <a:srgbClr val="D23A46"/>
                </a:solidFill>
                <a:latin typeface="Malgun Gothic"/>
              </a:defRPr>
            </a:pPr>
            <a:r>
              <a:t>HOLD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535423" y="3840480"/>
            <a:ext cx="2962656" cy="274320"/>
          </a:xfrm>
          <a:prstGeom prst="rect">
            <a:avLst/>
          </a:prstGeom>
          <a:noFill/>
        </p:spPr>
        <p:txBody>
          <a:bodyPr wrap="square" anchor="t" lIns="27432" rIns="27432" tIns="13716" bIns="13716">
            <a:no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0F2234"/>
                </a:solidFill>
                <a:latin typeface="Malgun Gothic"/>
              </a:defRPr>
            </a:pPr>
            <a:r>
              <a:t>timestamp mismatch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535423" y="4261104"/>
            <a:ext cx="2962656" cy="274320"/>
          </a:xfrm>
          <a:prstGeom prst="rect">
            <a:avLst/>
          </a:prstGeom>
          <a:noFill/>
        </p:spPr>
        <p:txBody>
          <a:bodyPr wrap="square" anchor="t" lIns="27432" rIns="27432" tIns="13716" bIns="13716">
            <a:noAutofit/>
          </a:bodyPr>
          <a:lstStyle/>
          <a:p>
            <a:pPr algn="l">
              <a:spcAft>
                <a:spcPts val="0"/>
              </a:spcAft>
              <a:defRPr sz="1500" b="0">
                <a:solidFill>
                  <a:srgbClr val="4C6073"/>
                </a:solidFill>
                <a:latin typeface="Malgun Gothic"/>
              </a:defRPr>
            </a:pPr>
            <a:r>
              <a:t>payload 미포함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8010144" y="3182112"/>
            <a:ext cx="3401568" cy="166420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AE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ounded Rectangle 43"/>
          <p:cNvSpPr/>
          <p:nvPr/>
        </p:nvSpPr>
        <p:spPr>
          <a:xfrm>
            <a:off x="8193023" y="3346704"/>
            <a:ext cx="475488" cy="310896"/>
          </a:xfrm>
          <a:prstGeom prst="roundRect">
            <a:avLst/>
          </a:prstGeom>
          <a:solidFill>
            <a:srgbClr val="D23A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8247888" y="3415284"/>
            <a:ext cx="365760" cy="164592"/>
          </a:xfrm>
          <a:prstGeom prst="rect">
            <a:avLst/>
          </a:prstGeom>
          <a:noFill/>
        </p:spPr>
        <p:txBody>
          <a:bodyPr wrap="square" anchor="t" lIns="27432" rIns="27432" tIns="13716" bIns="13716">
            <a:noAutofit/>
          </a:bodyPr>
          <a:lstStyle/>
          <a:p>
            <a:pPr algn="ctr">
              <a:spcAft>
                <a:spcPts val="0"/>
              </a:spcAft>
              <a:defRPr sz="1200" b="1">
                <a:solidFill>
                  <a:srgbClr val="FFFFFF"/>
                </a:solidFill>
                <a:latin typeface="Malgun Gothic"/>
              </a:defRPr>
            </a:pPr>
            <a:r>
              <a:t>06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10076688" y="3346704"/>
            <a:ext cx="1133856" cy="310896"/>
          </a:xfrm>
          <a:prstGeom prst="roundRect">
            <a:avLst/>
          </a:prstGeom>
          <a:solidFill>
            <a:srgbClr val="FEE9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10131552" y="3415284"/>
            <a:ext cx="1024128" cy="164592"/>
          </a:xfrm>
          <a:prstGeom prst="rect">
            <a:avLst/>
          </a:prstGeom>
          <a:noFill/>
        </p:spPr>
        <p:txBody>
          <a:bodyPr wrap="square" anchor="t" lIns="27432" rIns="27432" tIns="13716" bIns="13716">
            <a:noAutofit/>
          </a:bodyPr>
          <a:lstStyle/>
          <a:p>
            <a:pPr algn="ctr">
              <a:spcAft>
                <a:spcPts val="0"/>
              </a:spcAft>
              <a:defRPr sz="1200" b="1">
                <a:solidFill>
                  <a:srgbClr val="D23A46"/>
                </a:solidFill>
                <a:latin typeface="Malgun Gothic"/>
              </a:defRPr>
            </a:pPr>
            <a:r>
              <a:t>HOLD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211312" y="3840480"/>
            <a:ext cx="2962656" cy="274320"/>
          </a:xfrm>
          <a:prstGeom prst="rect">
            <a:avLst/>
          </a:prstGeom>
          <a:noFill/>
        </p:spPr>
        <p:txBody>
          <a:bodyPr wrap="square" anchor="t" lIns="27432" rIns="27432" tIns="13716" bIns="13716">
            <a:no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0F2234"/>
                </a:solidFill>
                <a:latin typeface="Malgun Gothic"/>
              </a:defRPr>
            </a:pPr>
            <a:r>
              <a:t>motion artifact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211312" y="4261104"/>
            <a:ext cx="2962656" cy="274320"/>
          </a:xfrm>
          <a:prstGeom prst="rect">
            <a:avLst/>
          </a:prstGeom>
          <a:noFill/>
        </p:spPr>
        <p:txBody>
          <a:bodyPr wrap="square" anchor="t" lIns="27432" rIns="27432" tIns="13716" bIns="13716">
            <a:noAutofit/>
          </a:bodyPr>
          <a:lstStyle/>
          <a:p>
            <a:pPr algn="l">
              <a:spcAft>
                <a:spcPts val="0"/>
              </a:spcAft>
              <a:defRPr sz="1500" b="0">
                <a:solidFill>
                  <a:srgbClr val="4C6073"/>
                </a:solidFill>
                <a:latin typeface="Malgun Gothic"/>
              </a:defRPr>
            </a:pPr>
            <a:r>
              <a:t>sensor/system 영역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658368" y="5742432"/>
            <a:ext cx="10881360" cy="566928"/>
          </a:xfrm>
          <a:prstGeom prst="roundRect">
            <a:avLst/>
          </a:prstGeom>
          <a:solidFill>
            <a:srgbClr val="E0F6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658368" y="5742432"/>
            <a:ext cx="91440" cy="566928"/>
          </a:xfrm>
          <a:prstGeom prst="rect">
            <a:avLst/>
          </a:prstGeom>
          <a:solidFill>
            <a:srgbClr val="009E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896112" y="5879592"/>
            <a:ext cx="10405872" cy="256032"/>
          </a:xfrm>
          <a:prstGeom prst="rect">
            <a:avLst/>
          </a:prstGeom>
          <a:noFill/>
        </p:spPr>
        <p:txBody>
          <a:bodyPr wrap="square" anchor="t" lIns="27432" rIns="27432" tIns="13716" bIns="13716">
            <a:noAutofit/>
          </a:bodyPr>
          <a:lstStyle/>
          <a:p>
            <a:pPr algn="ctr">
              <a:spcAft>
                <a:spcPts val="0"/>
              </a:spcAft>
              <a:defRPr sz="1700" b="1">
                <a:solidFill>
                  <a:srgbClr val="009E96"/>
                </a:solidFill>
                <a:latin typeface="Malgun Gothic"/>
              </a:defRPr>
            </a:pPr>
            <a:r>
              <a:t>1차 직접 목표: ②·③·④ 완화 + polarity integrity 추가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66928" y="310896"/>
            <a:ext cx="1143000" cy="310896"/>
          </a:xfrm>
          <a:prstGeom prst="roundRect">
            <a:avLst/>
          </a:prstGeom>
          <a:solidFill>
            <a:srgbClr val="1334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21792" y="379476"/>
            <a:ext cx="1033271" cy="164592"/>
          </a:xfrm>
          <a:prstGeom prst="rect">
            <a:avLst/>
          </a:prstGeom>
          <a:noFill/>
        </p:spPr>
        <p:txBody>
          <a:bodyPr wrap="square" anchor="t" lIns="27432" rIns="27432" tIns="13716" bIns="13716">
            <a:noAutofit/>
          </a:bodyPr>
          <a:lstStyle/>
          <a:p>
            <a:pPr algn="ctr">
              <a:spcAft>
                <a:spcPts val="0"/>
              </a:spcAft>
              <a:defRPr sz="1200" b="1">
                <a:solidFill>
                  <a:srgbClr val="FFFFFF"/>
                </a:solidFill>
                <a:latin typeface="Malgun Gothic"/>
              </a:defRPr>
            </a:pPr>
            <a:r>
              <a:t>01 문제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920240" y="182880"/>
            <a:ext cx="9646920" cy="566928"/>
          </a:xfrm>
          <a:prstGeom prst="rect">
            <a:avLst/>
          </a:prstGeom>
          <a:noFill/>
        </p:spPr>
        <p:txBody>
          <a:bodyPr wrap="square" anchor="t" lIns="27432" rIns="27432" tIns="13716" bIns="13716">
            <a:noAutofit/>
          </a:bodyPr>
          <a:lstStyle/>
          <a:p>
            <a:pPr algn="l">
              <a:spcAft>
                <a:spcPts val="0"/>
              </a:spcAft>
              <a:defRPr sz="3000" b="1">
                <a:solidFill>
                  <a:srgbClr val="0F2234"/>
                </a:solidFill>
                <a:latin typeface="Malgun Gothic"/>
              </a:defRPr>
            </a:pPr>
            <a:r>
              <a:t>직렬 출력과 source 재발생이 loss를 만든다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66928" y="877824"/>
            <a:ext cx="11027664" cy="0"/>
          </a:xfrm>
          <a:prstGeom prst="line">
            <a:avLst/>
          </a:prstGeom>
          <a:ln w="19050">
            <a:solidFill>
              <a:srgbClr val="DAE2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85216" y="6501384"/>
            <a:ext cx="10378440" cy="182880"/>
          </a:xfrm>
          <a:prstGeom prst="rect">
            <a:avLst/>
          </a:prstGeom>
          <a:noFill/>
        </p:spPr>
        <p:txBody>
          <a:bodyPr wrap="square" anchor="t" lIns="27432" rIns="27432" tIns="13716" bIns="13716">
            <a:no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4C6073"/>
                </a:solidFill>
                <a:latin typeface="Malgun Gothic"/>
              </a:defRPr>
            </a:pPr>
            <a:r>
              <a:t>Source: common full50 recovered diagnostics · 106,416 offered events/design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9376" y="6492240"/>
            <a:ext cx="548640" cy="182880"/>
          </a:xfrm>
          <a:prstGeom prst="rect">
            <a:avLst/>
          </a:prstGeom>
          <a:noFill/>
        </p:spPr>
        <p:txBody>
          <a:bodyPr wrap="square" anchor="t" lIns="27432" rIns="27432" tIns="13716" bIns="13716">
            <a:noAutofit/>
          </a:bodyPr>
          <a:lstStyle/>
          <a:p>
            <a:pPr algn="r">
              <a:spcAft>
                <a:spcPts val="0"/>
              </a:spcAft>
              <a:defRPr sz="1200" b="1">
                <a:solidFill>
                  <a:srgbClr val="13344F"/>
                </a:solidFill>
                <a:latin typeface="Malgun Gothic"/>
              </a:defRPr>
            </a:pPr>
            <a:r>
              <a:t>03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298448"/>
            <a:ext cx="1956816" cy="1133856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19" y="1572768"/>
            <a:ext cx="1773936" cy="237744"/>
          </a:xfrm>
          <a:prstGeom prst="rect">
            <a:avLst/>
          </a:prstGeom>
          <a:noFill/>
        </p:spPr>
        <p:txBody>
          <a:bodyPr wrap="square" anchor="t" lIns="27432" rIns="27432" tIns="13716" bIns="13716">
            <a:no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0F2234"/>
                </a:solidFill>
                <a:latin typeface="Malgun Gothic"/>
              </a:defRPr>
            </a:pPr>
            <a:r>
              <a:t>동시 입력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19" y="1938528"/>
            <a:ext cx="1773936" cy="182880"/>
          </a:xfrm>
          <a:prstGeom prst="rect">
            <a:avLst/>
          </a:prstGeom>
          <a:noFill/>
        </p:spPr>
        <p:txBody>
          <a:bodyPr wrap="square" anchor="t" lIns="27432" rIns="27432" tIns="13716" bIns="13716">
            <a:noAutofit/>
          </a:bodyPr>
          <a:lstStyle/>
          <a:p>
            <a:pPr algn="ctr">
              <a:spcAft>
                <a:spcPts val="0"/>
              </a:spcAft>
              <a:defRPr sz="1200" b="1">
                <a:solidFill>
                  <a:srgbClr val="2563EB"/>
                </a:solidFill>
                <a:latin typeface="Malgun Gothic"/>
              </a:defRPr>
            </a:pPr>
            <a:r>
              <a:t>16 sources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2633472" y="1737360"/>
            <a:ext cx="219456" cy="201168"/>
          </a:xfrm>
          <a:prstGeom prst="rightArrow">
            <a:avLst/>
          </a:prstGeom>
          <a:solidFill>
            <a:srgbClr val="4C60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2907791" y="1298448"/>
            <a:ext cx="1956816" cy="1133856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6841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999232" y="1572768"/>
            <a:ext cx="1773936" cy="237744"/>
          </a:xfrm>
          <a:prstGeom prst="rect">
            <a:avLst/>
          </a:prstGeom>
          <a:noFill/>
        </p:spPr>
        <p:txBody>
          <a:bodyPr wrap="square" anchor="t" lIns="27432" rIns="27432" tIns="13716" bIns="13716">
            <a:no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0F2234"/>
                </a:solidFill>
                <a:latin typeface="Malgun Gothic"/>
              </a:defRPr>
            </a:pPr>
            <a:r>
              <a:t>공유 선택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999232" y="1938528"/>
            <a:ext cx="1773936" cy="182880"/>
          </a:xfrm>
          <a:prstGeom prst="rect">
            <a:avLst/>
          </a:prstGeom>
          <a:noFill/>
        </p:spPr>
        <p:txBody>
          <a:bodyPr wrap="square" anchor="t" lIns="27432" rIns="27432" tIns="13716" bIns="13716">
            <a:noAutofit/>
          </a:bodyPr>
          <a:lstStyle/>
          <a:p>
            <a:pPr algn="ctr">
              <a:spcAft>
                <a:spcPts val="0"/>
              </a:spcAft>
              <a:defRPr sz="1200" b="1">
                <a:solidFill>
                  <a:srgbClr val="E68414"/>
                </a:solidFill>
                <a:latin typeface="Malgun Gothic"/>
              </a:defRPr>
            </a:pPr>
            <a:r>
              <a:t>1 event/cycle</a:t>
            </a:r>
          </a:p>
        </p:txBody>
      </p:sp>
      <p:sp>
        <p:nvSpPr>
          <p:cNvPr id="15" name="Right Arrow 14"/>
          <p:cNvSpPr/>
          <p:nvPr/>
        </p:nvSpPr>
        <p:spPr>
          <a:xfrm>
            <a:off x="4901183" y="1737360"/>
            <a:ext cx="219456" cy="201168"/>
          </a:xfrm>
          <a:prstGeom prst="rightArrow">
            <a:avLst/>
          </a:prstGeom>
          <a:solidFill>
            <a:srgbClr val="4C60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5175504" y="1298448"/>
            <a:ext cx="1956816" cy="1133856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D23A4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266944" y="1572768"/>
            <a:ext cx="1773936" cy="237744"/>
          </a:xfrm>
          <a:prstGeom prst="rect">
            <a:avLst/>
          </a:prstGeom>
          <a:noFill/>
        </p:spPr>
        <p:txBody>
          <a:bodyPr wrap="square" anchor="t" lIns="27432" rIns="27432" tIns="13716" bIns="13716">
            <a:no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0F2234"/>
                </a:solidFill>
                <a:latin typeface="Malgun Gothic"/>
              </a:defRPr>
            </a:pPr>
            <a:r>
              <a:t>대기 누적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266944" y="1938528"/>
            <a:ext cx="1773936" cy="182880"/>
          </a:xfrm>
          <a:prstGeom prst="rect">
            <a:avLst/>
          </a:prstGeom>
          <a:noFill/>
        </p:spPr>
        <p:txBody>
          <a:bodyPr wrap="square" anchor="t" lIns="27432" rIns="27432" tIns="13716" bIns="13716">
            <a:noAutofit/>
          </a:bodyPr>
          <a:lstStyle/>
          <a:p>
            <a:pPr algn="ctr">
              <a:spcAft>
                <a:spcPts val="0"/>
              </a:spcAft>
              <a:defRPr sz="1200" b="1">
                <a:solidFill>
                  <a:srgbClr val="D23A46"/>
                </a:solidFill>
                <a:latin typeface="Malgun Gothic"/>
              </a:defRPr>
            </a:pPr>
            <a:r>
              <a:t>pending</a:t>
            </a:r>
          </a:p>
        </p:txBody>
      </p:sp>
      <p:sp>
        <p:nvSpPr>
          <p:cNvPr id="19" name="Right Arrow 18"/>
          <p:cNvSpPr/>
          <p:nvPr/>
        </p:nvSpPr>
        <p:spPr>
          <a:xfrm>
            <a:off x="7168896" y="1737360"/>
            <a:ext cx="219456" cy="201168"/>
          </a:xfrm>
          <a:prstGeom prst="rightArrow">
            <a:avLst/>
          </a:prstGeom>
          <a:solidFill>
            <a:srgbClr val="4C60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7443215" y="1298448"/>
            <a:ext cx="1956816" cy="1133856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D23A4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534655" y="1572768"/>
            <a:ext cx="1773936" cy="237744"/>
          </a:xfrm>
          <a:prstGeom prst="rect">
            <a:avLst/>
          </a:prstGeom>
          <a:noFill/>
        </p:spPr>
        <p:txBody>
          <a:bodyPr wrap="square" anchor="t" lIns="27432" rIns="27432" tIns="13716" bIns="13716">
            <a:no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0F2234"/>
                </a:solidFill>
                <a:latin typeface="Malgun Gothic"/>
              </a:defRPr>
            </a:pPr>
            <a:r>
              <a:t>같은 source 재발생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534655" y="1938528"/>
            <a:ext cx="1773936" cy="182880"/>
          </a:xfrm>
          <a:prstGeom prst="rect">
            <a:avLst/>
          </a:prstGeom>
          <a:noFill/>
        </p:spPr>
        <p:txBody>
          <a:bodyPr wrap="square" anchor="t" lIns="27432" rIns="27432" tIns="13716" bIns="13716">
            <a:noAutofit/>
          </a:bodyPr>
          <a:lstStyle/>
          <a:p>
            <a:pPr algn="ctr">
              <a:spcAft>
                <a:spcPts val="0"/>
              </a:spcAft>
              <a:defRPr sz="1200" b="1">
                <a:solidFill>
                  <a:srgbClr val="D23A46"/>
                </a:solidFill>
                <a:latin typeface="Malgun Gothic"/>
              </a:defRPr>
            </a:pPr>
            <a:r>
              <a:t>local full</a:t>
            </a:r>
          </a:p>
        </p:txBody>
      </p:sp>
      <p:sp>
        <p:nvSpPr>
          <p:cNvPr id="23" name="Right Arrow 22"/>
          <p:cNvSpPr/>
          <p:nvPr/>
        </p:nvSpPr>
        <p:spPr>
          <a:xfrm>
            <a:off x="9436607" y="1737360"/>
            <a:ext cx="219456" cy="201168"/>
          </a:xfrm>
          <a:prstGeom prst="rightArrow">
            <a:avLst/>
          </a:prstGeom>
          <a:solidFill>
            <a:srgbClr val="4C60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9710928" y="1298448"/>
            <a:ext cx="1956816" cy="1133856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D23A4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802367" y="1572768"/>
            <a:ext cx="1773936" cy="237744"/>
          </a:xfrm>
          <a:prstGeom prst="rect">
            <a:avLst/>
          </a:prstGeom>
          <a:noFill/>
        </p:spPr>
        <p:txBody>
          <a:bodyPr wrap="square" anchor="t" lIns="27432" rIns="27432" tIns="13716" bIns="13716">
            <a:no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0F2234"/>
                </a:solidFill>
                <a:latin typeface="Malgun Gothic"/>
              </a:defRPr>
            </a:pPr>
            <a:r>
              <a:t>SOURCE OVERRUN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802367" y="1938528"/>
            <a:ext cx="1773936" cy="182880"/>
          </a:xfrm>
          <a:prstGeom prst="rect">
            <a:avLst/>
          </a:prstGeom>
          <a:noFill/>
        </p:spPr>
        <p:txBody>
          <a:bodyPr wrap="square" anchor="t" lIns="27432" rIns="27432" tIns="13716" bIns="13716">
            <a:noAutofit/>
          </a:bodyPr>
          <a:lstStyle/>
          <a:p>
            <a:pPr algn="ctr">
              <a:spcAft>
                <a:spcPts val="0"/>
              </a:spcAft>
              <a:defRPr sz="1200" b="1">
                <a:solidFill>
                  <a:srgbClr val="D23A46"/>
                </a:solidFill>
                <a:latin typeface="Malgun Gothic"/>
              </a:defRPr>
            </a:pPr>
            <a:r>
              <a:t>loss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58368" y="2880360"/>
            <a:ext cx="5340096" cy="230428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AE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59536" y="3063240"/>
            <a:ext cx="4937759" cy="182880"/>
          </a:xfrm>
          <a:prstGeom prst="rect">
            <a:avLst/>
          </a:prstGeom>
          <a:noFill/>
        </p:spPr>
        <p:txBody>
          <a:bodyPr wrap="square" anchor="t" lIns="27432" rIns="27432" tIns="13716" bIns="13716">
            <a:noAutofit/>
          </a:bodyPr>
          <a:lstStyle/>
          <a:p>
            <a:pPr algn="l">
              <a:spcAft>
                <a:spcPts val="0"/>
              </a:spcAft>
              <a:defRPr sz="1200" b="1">
                <a:solidFill>
                  <a:srgbClr val="D23A46"/>
                </a:solidFill>
                <a:latin typeface="Malgun Gothic"/>
              </a:defRPr>
            </a:pPr>
            <a:r>
              <a:t>SCALAR FOVEA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59536" y="3337560"/>
            <a:ext cx="4937759" cy="310896"/>
          </a:xfrm>
          <a:prstGeom prst="rect">
            <a:avLst/>
          </a:prstGeom>
          <a:noFill/>
        </p:spPr>
        <p:txBody>
          <a:bodyPr wrap="square" anchor="t" lIns="27432" rIns="27432" tIns="13716" bIns="13716">
            <a:noAutofit/>
          </a:bodyPr>
          <a:lstStyle/>
          <a:p>
            <a:pPr algn="l">
              <a:spcAft>
                <a:spcPts val="0"/>
              </a:spcAft>
              <a:defRPr sz="2000" b="1">
                <a:solidFill>
                  <a:srgbClr val="0F2234"/>
                </a:solidFill>
                <a:latin typeface="Malgun Gothic"/>
              </a:defRPr>
            </a:pPr>
            <a:r>
              <a:t>한 cycle 한 event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50976" y="3785615"/>
            <a:ext cx="2468880" cy="566928"/>
          </a:xfrm>
          <a:prstGeom prst="rect">
            <a:avLst/>
          </a:prstGeom>
          <a:noFill/>
        </p:spPr>
        <p:txBody>
          <a:bodyPr wrap="square" anchor="t" lIns="27432" rIns="27432" tIns="13716" bIns="13716">
            <a:noAutofit/>
          </a:bodyPr>
          <a:lstStyle/>
          <a:p>
            <a:pPr algn="l">
              <a:spcAft>
                <a:spcPts val="0"/>
              </a:spcAft>
              <a:defRPr sz="3600" b="1">
                <a:solidFill>
                  <a:srgbClr val="D23A46"/>
                </a:solidFill>
                <a:latin typeface="Malgun Gothic"/>
              </a:defRPr>
            </a:pPr>
            <a:r>
              <a:t>26.49%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69264" y="4443984"/>
            <a:ext cx="4480560" cy="274320"/>
          </a:xfrm>
          <a:prstGeom prst="rect">
            <a:avLst/>
          </a:prstGeom>
          <a:noFill/>
        </p:spPr>
        <p:txBody>
          <a:bodyPr wrap="square" anchor="t" lIns="27432" rIns="27432" tIns="13716" bIns="13716">
            <a:no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0F2234"/>
                </a:solidFill>
                <a:latin typeface="Malgun Gothic"/>
              </a:defRPr>
            </a:pPr>
            <a:r>
              <a:t>28,187 source-overrun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69264" y="4818888"/>
            <a:ext cx="4480560" cy="219456"/>
          </a:xfrm>
          <a:prstGeom prst="rect">
            <a:avLst/>
          </a:prstGeom>
          <a:noFill/>
        </p:spPr>
        <p:txBody>
          <a:bodyPr wrap="square" anchor="t" lIns="27432" rIns="27432" tIns="13716" bIns="13716">
            <a:no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4C6073"/>
                </a:solidFill>
                <a:latin typeface="Malgun Gothic"/>
              </a:defRPr>
            </a:pPr>
            <a:r>
              <a:t>delivered 78,229 · EPC 0.673901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6199632" y="2880360"/>
            <a:ext cx="5340096" cy="230428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AE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400800" y="3063240"/>
            <a:ext cx="4937759" cy="182880"/>
          </a:xfrm>
          <a:prstGeom prst="rect">
            <a:avLst/>
          </a:prstGeom>
          <a:noFill/>
        </p:spPr>
        <p:txBody>
          <a:bodyPr wrap="square" anchor="t" lIns="27432" rIns="27432" tIns="13716" bIns="13716">
            <a:noAutofit/>
          </a:bodyPr>
          <a:lstStyle/>
          <a:p>
            <a:pPr algn="l">
              <a:spcAft>
                <a:spcPts val="0"/>
              </a:spcAft>
              <a:defRPr sz="1200" b="1">
                <a:solidFill>
                  <a:srgbClr val="E68414"/>
                </a:solidFill>
                <a:latin typeface="Malgun Gothic"/>
              </a:defRPr>
            </a:pPr>
            <a:r>
              <a:t>BASE CLUSTER2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400800" y="3337560"/>
            <a:ext cx="4937759" cy="310896"/>
          </a:xfrm>
          <a:prstGeom prst="rect">
            <a:avLst/>
          </a:prstGeom>
          <a:noFill/>
        </p:spPr>
        <p:txBody>
          <a:bodyPr wrap="square" anchor="t" lIns="27432" rIns="27432" tIns="13716" bIns="13716">
            <a:noAutofit/>
          </a:bodyPr>
          <a:lstStyle/>
          <a:p>
            <a:pPr algn="l">
              <a:spcAft>
                <a:spcPts val="0"/>
              </a:spcAft>
              <a:defRPr sz="2000" b="1">
                <a:solidFill>
                  <a:srgbClr val="0F2234"/>
                </a:solidFill>
                <a:latin typeface="Malgun Gothic"/>
              </a:defRPr>
            </a:pPr>
            <a:r>
              <a:t>병렬화만으로 재발생은 남는다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492240" y="3785615"/>
            <a:ext cx="2468880" cy="566928"/>
          </a:xfrm>
          <a:prstGeom prst="rect">
            <a:avLst/>
          </a:prstGeom>
          <a:noFill/>
        </p:spPr>
        <p:txBody>
          <a:bodyPr wrap="square" anchor="t" lIns="27432" rIns="27432" tIns="13716" bIns="13716">
            <a:noAutofit/>
          </a:bodyPr>
          <a:lstStyle/>
          <a:p>
            <a:pPr algn="l">
              <a:spcAft>
                <a:spcPts val="0"/>
              </a:spcAft>
              <a:defRPr sz="3600" b="1">
                <a:solidFill>
                  <a:srgbClr val="E68414"/>
                </a:solidFill>
                <a:latin typeface="Malgun Gothic"/>
              </a:defRPr>
            </a:pPr>
            <a:r>
              <a:t>11.52%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510528" y="4443984"/>
            <a:ext cx="4480560" cy="274320"/>
          </a:xfrm>
          <a:prstGeom prst="rect">
            <a:avLst/>
          </a:prstGeom>
          <a:noFill/>
        </p:spPr>
        <p:txBody>
          <a:bodyPr wrap="square" anchor="t" lIns="27432" rIns="27432" tIns="13716" bIns="13716">
            <a:no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0F2234"/>
                </a:solidFill>
                <a:latin typeface="Malgun Gothic"/>
              </a:defRPr>
            </a:pPr>
            <a:r>
              <a:t>12,259 source-overrun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510528" y="4818888"/>
            <a:ext cx="4480560" cy="219456"/>
          </a:xfrm>
          <a:prstGeom prst="rect">
            <a:avLst/>
          </a:prstGeom>
          <a:noFill/>
        </p:spPr>
        <p:txBody>
          <a:bodyPr wrap="square" anchor="t" lIns="27432" rIns="27432" tIns="13716" bIns="13716">
            <a:no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4C6073"/>
                </a:solidFill>
                <a:latin typeface="Malgun Gothic"/>
              </a:defRPr>
            </a:pPr>
            <a:r>
              <a:t>다음 해법: local depth + idle capacity reuse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658368" y="5742432"/>
            <a:ext cx="10881360" cy="566928"/>
          </a:xfrm>
          <a:prstGeom prst="roundRect">
            <a:avLst/>
          </a:prstGeom>
          <a:solidFill>
            <a:srgbClr val="EBF1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658368" y="5742432"/>
            <a:ext cx="91440" cy="566928"/>
          </a:xfrm>
          <a:prstGeom prst="rect">
            <a:avLst/>
          </a:prstGeom>
          <a:solidFill>
            <a:srgbClr val="1334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96112" y="5879592"/>
            <a:ext cx="10405872" cy="256032"/>
          </a:xfrm>
          <a:prstGeom prst="rect">
            <a:avLst/>
          </a:prstGeom>
          <a:noFill/>
        </p:spPr>
        <p:txBody>
          <a:bodyPr wrap="square" anchor="t" lIns="27432" rIns="27432" tIns="13716" bIns="13716">
            <a:noAutofit/>
          </a:bodyPr>
          <a:lstStyle/>
          <a:p>
            <a:pPr algn="ctr">
              <a:spcAft>
                <a:spcPts val="0"/>
              </a:spcAft>
              <a:defRPr sz="1700" b="1">
                <a:solidFill>
                  <a:srgbClr val="13344F"/>
                </a:solidFill>
                <a:latin typeface="Malgun Gothic"/>
              </a:defRPr>
            </a:pPr>
            <a:r>
              <a:t>출력 폭 · source-local 흡수 · class capacity를 함께 풀어야 한다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66928" y="310896"/>
            <a:ext cx="1143000" cy="310896"/>
          </a:xfrm>
          <a:prstGeom prst="roundRect">
            <a:avLst/>
          </a:prstGeom>
          <a:solidFill>
            <a:srgbClr val="1334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21792" y="379476"/>
            <a:ext cx="1033271" cy="164592"/>
          </a:xfrm>
          <a:prstGeom prst="rect">
            <a:avLst/>
          </a:prstGeom>
          <a:noFill/>
        </p:spPr>
        <p:txBody>
          <a:bodyPr wrap="square" anchor="t" lIns="27432" rIns="27432" tIns="13716" bIns="13716">
            <a:noAutofit/>
          </a:bodyPr>
          <a:lstStyle/>
          <a:p>
            <a:pPr algn="ctr">
              <a:spcAft>
                <a:spcPts val="0"/>
              </a:spcAft>
              <a:defRPr sz="1200" b="1">
                <a:solidFill>
                  <a:srgbClr val="FFFFFF"/>
                </a:solidFill>
                <a:latin typeface="Malgun Gothic"/>
              </a:defRPr>
            </a:pPr>
            <a:r>
              <a:t>02 구조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920240" y="182880"/>
            <a:ext cx="9646920" cy="566928"/>
          </a:xfrm>
          <a:prstGeom prst="rect">
            <a:avLst/>
          </a:prstGeom>
          <a:noFill/>
        </p:spPr>
        <p:txBody>
          <a:bodyPr wrap="square" anchor="t" lIns="27432" rIns="27432" tIns="13716" bIns="13716">
            <a:noAutofit/>
          </a:bodyPr>
          <a:lstStyle/>
          <a:p>
            <a:pPr algn="l">
              <a:spcAft>
                <a:spcPts val="0"/>
              </a:spcAft>
              <a:defRPr sz="3000" b="1">
                <a:solidFill>
                  <a:srgbClr val="0F2234"/>
                </a:solidFill>
                <a:latin typeface="Malgun Gothic"/>
              </a:defRPr>
            </a:pPr>
            <a:r>
              <a:t>최종 구조는 네 단계로 읽힌다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66928" y="877824"/>
            <a:ext cx="11027664" cy="0"/>
          </a:xfrm>
          <a:prstGeom prst="line">
            <a:avLst/>
          </a:prstGeom>
          <a:ln w="19050">
            <a:solidFill>
              <a:srgbClr val="DAE2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85216" y="6501384"/>
            <a:ext cx="10378440" cy="182880"/>
          </a:xfrm>
          <a:prstGeom prst="rect">
            <a:avLst/>
          </a:prstGeom>
          <a:noFill/>
        </p:spPr>
        <p:txBody>
          <a:bodyPr wrap="square" anchor="t" lIns="27432" rIns="27432" tIns="13716" bIns="13716">
            <a:no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4C6073"/>
                </a:solidFill>
                <a:latin typeface="Malgun Gothic"/>
              </a:defRPr>
            </a:pPr>
            <a:r>
              <a:t>Source: final top aer_tx16_trad_rowcol_fovea_cluster2_steal_buf_polarity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9376" y="6492240"/>
            <a:ext cx="548640" cy="182880"/>
          </a:xfrm>
          <a:prstGeom prst="rect">
            <a:avLst/>
          </a:prstGeom>
          <a:noFill/>
        </p:spPr>
        <p:txBody>
          <a:bodyPr wrap="square" anchor="t" lIns="27432" rIns="27432" tIns="13716" bIns="13716">
            <a:noAutofit/>
          </a:bodyPr>
          <a:lstStyle/>
          <a:p>
            <a:pPr algn="r">
              <a:spcAft>
                <a:spcPts val="0"/>
              </a:spcAft>
              <a:defRPr sz="1200" b="1">
                <a:solidFill>
                  <a:srgbClr val="13344F"/>
                </a:solidFill>
                <a:latin typeface="Malgun Gothic"/>
              </a:defRPr>
            </a:pPr>
            <a:r>
              <a:t>04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13232" y="1353312"/>
            <a:ext cx="2432304" cy="2121408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536" y="1554480"/>
            <a:ext cx="2139696" cy="164592"/>
          </a:xfrm>
          <a:prstGeom prst="rect">
            <a:avLst/>
          </a:prstGeom>
          <a:noFill/>
        </p:spPr>
        <p:txBody>
          <a:bodyPr wrap="square" anchor="t" lIns="27432" rIns="27432" tIns="13716" bIns="13716">
            <a:noAutofit/>
          </a:bodyPr>
          <a:lstStyle/>
          <a:p>
            <a:pPr algn="ctr">
              <a:spcAft>
                <a:spcPts val="0"/>
              </a:spcAft>
              <a:defRPr sz="1200" b="1">
                <a:solidFill>
                  <a:srgbClr val="2563EB"/>
                </a:solidFill>
                <a:latin typeface="Malgun Gothic"/>
              </a:defRPr>
            </a:pPr>
            <a:r>
              <a:t>1 · ARRIVAL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9536" y="1883664"/>
            <a:ext cx="2139696" cy="438912"/>
          </a:xfrm>
          <a:prstGeom prst="rect">
            <a:avLst/>
          </a:prstGeom>
          <a:noFill/>
        </p:spPr>
        <p:txBody>
          <a:bodyPr wrap="square" anchor="t" lIns="27432" rIns="27432" tIns="13716" bIns="13716">
            <a:noAutofit/>
          </a:bodyPr>
          <a:lstStyle/>
          <a:p>
            <a:pPr algn="ctr">
              <a:spcAft>
                <a:spcPts val="0"/>
              </a:spcAft>
              <a:defRPr sz="1600" b="1">
                <a:solidFill>
                  <a:srgbClr val="0F2234"/>
                </a:solidFill>
                <a:latin typeface="Malgun Gothic"/>
              </a:defRPr>
            </a:pPr>
            <a:r>
              <a:t>16 event</a:t>
            </a:r>
            <a:br/>
            <a:r>
              <a:t>+ polarity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14400" y="2706624"/>
            <a:ext cx="2029968" cy="475488"/>
          </a:xfrm>
          <a:prstGeom prst="roundRect">
            <a:avLst/>
          </a:prstGeom>
          <a:solidFill>
            <a:srgbClr val="E8E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87552" y="2852928"/>
            <a:ext cx="1883664" cy="201168"/>
          </a:xfrm>
          <a:prstGeom prst="rect">
            <a:avLst/>
          </a:prstGeom>
          <a:noFill/>
        </p:spPr>
        <p:txBody>
          <a:bodyPr wrap="square" anchor="t" lIns="27432" rIns="27432" tIns="13716" bIns="13716">
            <a:noAutofit/>
          </a:bodyPr>
          <a:lstStyle/>
          <a:p>
            <a:pPr algn="ctr">
              <a:spcAft>
                <a:spcPts val="0"/>
              </a:spcAft>
              <a:defRPr sz="1200" b="1">
                <a:solidFill>
                  <a:srgbClr val="2563EB"/>
                </a:solidFill>
                <a:latin typeface="Malgun Gothic"/>
              </a:defRPr>
            </a:pPr>
            <a:r>
              <a:t>occurrence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3200400" y="2267712"/>
            <a:ext cx="219456" cy="201168"/>
          </a:xfrm>
          <a:prstGeom prst="rightArrow">
            <a:avLst/>
          </a:prstGeom>
          <a:solidFill>
            <a:srgbClr val="4C60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3474720" y="1353312"/>
            <a:ext cx="2432304" cy="2121408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6841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621024" y="1554480"/>
            <a:ext cx="2139696" cy="164592"/>
          </a:xfrm>
          <a:prstGeom prst="rect">
            <a:avLst/>
          </a:prstGeom>
          <a:noFill/>
        </p:spPr>
        <p:txBody>
          <a:bodyPr wrap="square" anchor="t" lIns="27432" rIns="27432" tIns="13716" bIns="13716">
            <a:noAutofit/>
          </a:bodyPr>
          <a:lstStyle/>
          <a:p>
            <a:pPr algn="ctr">
              <a:spcAft>
                <a:spcPts val="0"/>
              </a:spcAft>
              <a:defRPr sz="1200" b="1">
                <a:solidFill>
                  <a:srgbClr val="E68414"/>
                </a:solidFill>
                <a:latin typeface="Malgun Gothic"/>
              </a:defRPr>
            </a:pPr>
            <a:r>
              <a:t>2 · LOCAL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21024" y="1883664"/>
            <a:ext cx="2139696" cy="438912"/>
          </a:xfrm>
          <a:prstGeom prst="rect">
            <a:avLst/>
          </a:prstGeom>
          <a:noFill/>
        </p:spPr>
        <p:txBody>
          <a:bodyPr wrap="square" anchor="t" lIns="27432" rIns="27432" tIns="13716" bIns="13716">
            <a:noAutofit/>
          </a:bodyPr>
          <a:lstStyle/>
          <a:p>
            <a:pPr algn="ctr">
              <a:spcAft>
                <a:spcPts val="0"/>
              </a:spcAft>
              <a:defRPr sz="1600" b="1">
                <a:solidFill>
                  <a:srgbClr val="0F2234"/>
                </a:solidFill>
                <a:latin typeface="Malgun Gothic"/>
              </a:defRPr>
            </a:pPr>
            <a:r>
              <a:t>source별</a:t>
            </a:r>
            <a:br/>
            <a:r>
              <a:t>depth-2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675887" y="2706624"/>
            <a:ext cx="2029968" cy="475488"/>
          </a:xfrm>
          <a:prstGeom prst="roundRect">
            <a:avLst/>
          </a:prstGeom>
          <a:solidFill>
            <a:srgbClr val="FFF2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749039" y="2852928"/>
            <a:ext cx="1883664" cy="201168"/>
          </a:xfrm>
          <a:prstGeom prst="rect">
            <a:avLst/>
          </a:prstGeom>
          <a:noFill/>
        </p:spPr>
        <p:txBody>
          <a:bodyPr wrap="square" anchor="t" lIns="27432" rIns="27432" tIns="13716" bIns="13716">
            <a:noAutofit/>
          </a:bodyPr>
          <a:lstStyle/>
          <a:p>
            <a:pPr algn="ctr">
              <a:spcAft>
                <a:spcPts val="0"/>
              </a:spcAft>
              <a:defRPr sz="1200" b="1">
                <a:solidFill>
                  <a:srgbClr val="E68414"/>
                </a:solidFill>
                <a:latin typeface="Malgun Gothic"/>
              </a:defRPr>
            </a:pPr>
            <a:r>
              <a:t>count + slots</a:t>
            </a:r>
          </a:p>
        </p:txBody>
      </p:sp>
      <p:sp>
        <p:nvSpPr>
          <p:cNvPr id="19" name="Right Arrow 18"/>
          <p:cNvSpPr/>
          <p:nvPr/>
        </p:nvSpPr>
        <p:spPr>
          <a:xfrm>
            <a:off x="5961888" y="2267712"/>
            <a:ext cx="219456" cy="201168"/>
          </a:xfrm>
          <a:prstGeom prst="rightArrow">
            <a:avLst/>
          </a:prstGeom>
          <a:solidFill>
            <a:srgbClr val="4C60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6236208" y="1353312"/>
            <a:ext cx="2432304" cy="2121408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9E9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382512" y="1554480"/>
            <a:ext cx="2139696" cy="164592"/>
          </a:xfrm>
          <a:prstGeom prst="rect">
            <a:avLst/>
          </a:prstGeom>
          <a:noFill/>
        </p:spPr>
        <p:txBody>
          <a:bodyPr wrap="square" anchor="t" lIns="27432" rIns="27432" tIns="13716" bIns="13716">
            <a:noAutofit/>
          </a:bodyPr>
          <a:lstStyle/>
          <a:p>
            <a:pPr algn="ctr">
              <a:spcAft>
                <a:spcPts val="0"/>
              </a:spcAft>
              <a:defRPr sz="1200" b="1">
                <a:solidFill>
                  <a:srgbClr val="009E96"/>
                </a:solidFill>
                <a:latin typeface="Malgun Gothic"/>
              </a:defRPr>
            </a:pPr>
            <a:r>
              <a:t>3 · SCHEDULE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82512" y="1883664"/>
            <a:ext cx="2139696" cy="438912"/>
          </a:xfrm>
          <a:prstGeom prst="rect">
            <a:avLst/>
          </a:prstGeom>
          <a:noFill/>
        </p:spPr>
        <p:txBody>
          <a:bodyPr wrap="square" anchor="t" lIns="27432" rIns="27432" tIns="13716" bIns="13716">
            <a:noAutofit/>
          </a:bodyPr>
          <a:lstStyle/>
          <a:p>
            <a:pPr algn="ctr">
              <a:spcAft>
                <a:spcPts val="0"/>
              </a:spcAft>
              <a:defRPr sz="1600" b="1">
                <a:solidFill>
                  <a:srgbClr val="0F2234"/>
                </a:solidFill>
                <a:latin typeface="Malgun Gothic"/>
              </a:defRPr>
            </a:pPr>
            <a:r>
              <a:t>2 lanes</a:t>
            </a:r>
            <a:br/>
            <a:r>
              <a:t>+ steal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437376" y="2706624"/>
            <a:ext cx="2029968" cy="475488"/>
          </a:xfrm>
          <a:prstGeom prst="roundRect">
            <a:avLst/>
          </a:prstGeom>
          <a:solidFill>
            <a:srgbClr val="E0F6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510528" y="2852928"/>
            <a:ext cx="1883664" cy="201168"/>
          </a:xfrm>
          <a:prstGeom prst="rect">
            <a:avLst/>
          </a:prstGeom>
          <a:noFill/>
        </p:spPr>
        <p:txBody>
          <a:bodyPr wrap="square" anchor="t" lIns="27432" rIns="27432" tIns="13716" bIns="13716">
            <a:noAutofit/>
          </a:bodyPr>
          <a:lstStyle/>
          <a:p>
            <a:pPr algn="ctr">
              <a:spcAft>
                <a:spcPts val="0"/>
              </a:spcAft>
              <a:defRPr sz="1200" b="1">
                <a:solidFill>
                  <a:srgbClr val="009E96"/>
                </a:solidFill>
                <a:latin typeface="Malgun Gothic"/>
              </a:defRPr>
            </a:pPr>
            <a:r>
              <a:t>rotate + reuse</a:t>
            </a:r>
          </a:p>
        </p:txBody>
      </p:sp>
      <p:sp>
        <p:nvSpPr>
          <p:cNvPr id="25" name="Right Arrow 24"/>
          <p:cNvSpPr/>
          <p:nvPr/>
        </p:nvSpPr>
        <p:spPr>
          <a:xfrm>
            <a:off x="8723376" y="2267712"/>
            <a:ext cx="219456" cy="201168"/>
          </a:xfrm>
          <a:prstGeom prst="rightArrow">
            <a:avLst/>
          </a:prstGeom>
          <a:solidFill>
            <a:srgbClr val="4C60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8997696" y="1353312"/>
            <a:ext cx="2432304" cy="2121408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1F93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144000" y="1554480"/>
            <a:ext cx="2139696" cy="164592"/>
          </a:xfrm>
          <a:prstGeom prst="rect">
            <a:avLst/>
          </a:prstGeom>
          <a:noFill/>
        </p:spPr>
        <p:txBody>
          <a:bodyPr wrap="square" anchor="t" lIns="27432" rIns="27432" tIns="13716" bIns="13716">
            <a:noAutofit/>
          </a:bodyPr>
          <a:lstStyle/>
          <a:p>
            <a:pPr algn="ctr">
              <a:spcAft>
                <a:spcPts val="0"/>
              </a:spcAft>
              <a:defRPr sz="1200" b="1">
                <a:solidFill>
                  <a:srgbClr val="1F935E"/>
                </a:solidFill>
                <a:latin typeface="Malgun Gothic"/>
              </a:defRPr>
            </a:pPr>
            <a:r>
              <a:t>4 · RETIRE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44000" y="1883664"/>
            <a:ext cx="2139696" cy="438912"/>
          </a:xfrm>
          <a:prstGeom prst="rect">
            <a:avLst/>
          </a:prstGeom>
          <a:noFill/>
        </p:spPr>
        <p:txBody>
          <a:bodyPr wrap="square" anchor="t" lIns="27432" rIns="27432" tIns="13716" bIns="13716">
            <a:noAutofit/>
          </a:bodyPr>
          <a:lstStyle/>
          <a:p>
            <a:pPr algn="ctr">
              <a:spcAft>
                <a:spcPts val="0"/>
              </a:spcAft>
              <a:defRPr sz="1600" b="1">
                <a:solidFill>
                  <a:srgbClr val="0F2234"/>
                </a:solidFill>
                <a:latin typeface="Malgun Gothic"/>
              </a:defRPr>
            </a:pPr>
            <a:r>
              <a:t>row + mask</a:t>
            </a:r>
            <a:br/>
            <a:r>
              <a:t>+ pol_mask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9198864" y="2706624"/>
            <a:ext cx="2029968" cy="475488"/>
          </a:xfrm>
          <a:prstGeom prst="roundRect">
            <a:avLst/>
          </a:prstGeom>
          <a:solidFill>
            <a:srgbClr val="E4F7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272016" y="2852928"/>
            <a:ext cx="1883664" cy="201168"/>
          </a:xfrm>
          <a:prstGeom prst="rect">
            <a:avLst/>
          </a:prstGeom>
          <a:noFill/>
        </p:spPr>
        <p:txBody>
          <a:bodyPr wrap="square" anchor="t" lIns="27432" rIns="27432" tIns="13716" bIns="13716">
            <a:noAutofit/>
          </a:bodyPr>
          <a:lstStyle/>
          <a:p>
            <a:pPr algn="ctr">
              <a:spcAft>
                <a:spcPts val="0"/>
              </a:spcAft>
              <a:defRPr sz="1200" b="1">
                <a:solidFill>
                  <a:srgbClr val="1F935E"/>
                </a:solidFill>
                <a:latin typeface="Malgun Gothic"/>
              </a:defRPr>
            </a:pPr>
            <a:r>
              <a:t>selected events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1042415" y="3913632"/>
            <a:ext cx="10104120" cy="658368"/>
          </a:xfrm>
          <a:prstGeom prst="roundRect">
            <a:avLst/>
          </a:prstGeom>
          <a:solidFill>
            <a:srgbClr val="1334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243584" y="4123944"/>
            <a:ext cx="9701784" cy="256032"/>
          </a:xfrm>
          <a:prstGeom prst="rect">
            <a:avLst/>
          </a:prstGeom>
          <a:noFill/>
        </p:spPr>
        <p:txBody>
          <a:bodyPr wrap="square" anchor="t" lIns="27432" rIns="27432" tIns="13716" bIns="13716">
            <a:noAutofit/>
          </a:bodyPr>
          <a:lstStyle/>
          <a:p>
            <a:pPr algn="ctr">
              <a:spcAft>
                <a:spcPts val="0"/>
              </a:spcAft>
              <a:defRPr sz="1700" b="1">
                <a:solidFill>
                  <a:srgbClr val="FFFFFF"/>
                </a:solidFill>
                <a:latin typeface="Malgun Gothic"/>
              </a:defRPr>
            </a:pPr>
            <a:r>
              <a:t>2 × { valid, row, col_mask[3:0], pol_mask[3:0] }  →  최대 8 events/cycle 표현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05840" y="4892040"/>
            <a:ext cx="10186416" cy="274320"/>
          </a:xfrm>
          <a:prstGeom prst="rect">
            <a:avLst/>
          </a:prstGeom>
          <a:noFill/>
        </p:spPr>
        <p:txBody>
          <a:bodyPr wrap="square" anchor="t" lIns="27432" rIns="27432" tIns="13716" bIns="13716">
            <a:no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4C6073"/>
                </a:solidFill>
                <a:latin typeface="Malgun Gothic"/>
              </a:defRPr>
            </a:pPr>
            <a:r>
              <a:t>full address FIFO가 아니라 source index에 내재한 pending count와 polarity slot을 상태로 유지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58368" y="5742432"/>
            <a:ext cx="10881360" cy="566928"/>
          </a:xfrm>
          <a:prstGeom prst="roundRect">
            <a:avLst/>
          </a:prstGeom>
          <a:solidFill>
            <a:srgbClr val="E0F6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658368" y="5742432"/>
            <a:ext cx="91440" cy="566928"/>
          </a:xfrm>
          <a:prstGeom prst="rect">
            <a:avLst/>
          </a:prstGeom>
          <a:solidFill>
            <a:srgbClr val="009E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96112" y="5879592"/>
            <a:ext cx="10405872" cy="256032"/>
          </a:xfrm>
          <a:prstGeom prst="rect">
            <a:avLst/>
          </a:prstGeom>
          <a:noFill/>
        </p:spPr>
        <p:txBody>
          <a:bodyPr wrap="square" anchor="t" lIns="27432" rIns="27432" tIns="13716" bIns="13716">
            <a:noAutofit/>
          </a:bodyPr>
          <a:lstStyle/>
          <a:p>
            <a:pPr algn="ctr">
              <a:spcAft>
                <a:spcPts val="0"/>
              </a:spcAft>
              <a:defRPr sz="1700" b="1">
                <a:solidFill>
                  <a:srgbClr val="009E96"/>
                </a:solidFill>
                <a:latin typeface="Malgun Gothic"/>
              </a:defRPr>
            </a:pPr>
            <a:r>
              <a:t>주소와 polarity는 동일 source slot에서 선택되고 함께 retire한다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66928" y="310896"/>
            <a:ext cx="1143000" cy="310896"/>
          </a:xfrm>
          <a:prstGeom prst="roundRect">
            <a:avLst/>
          </a:prstGeom>
          <a:solidFill>
            <a:srgbClr val="1334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21792" y="379476"/>
            <a:ext cx="1033271" cy="164592"/>
          </a:xfrm>
          <a:prstGeom prst="rect">
            <a:avLst/>
          </a:prstGeom>
          <a:noFill/>
        </p:spPr>
        <p:txBody>
          <a:bodyPr wrap="square" anchor="t" lIns="27432" rIns="27432" tIns="13716" bIns="13716">
            <a:noAutofit/>
          </a:bodyPr>
          <a:lstStyle/>
          <a:p>
            <a:pPr algn="ctr">
              <a:spcAft>
                <a:spcPts val="0"/>
              </a:spcAft>
              <a:defRPr sz="1200" b="1">
                <a:solidFill>
                  <a:srgbClr val="FFFFFF"/>
                </a:solidFill>
                <a:latin typeface="Malgun Gothic"/>
              </a:defRPr>
            </a:pPr>
            <a:r>
              <a:t>02 구조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920240" y="182880"/>
            <a:ext cx="9646920" cy="566928"/>
          </a:xfrm>
          <a:prstGeom prst="rect">
            <a:avLst/>
          </a:prstGeom>
          <a:noFill/>
        </p:spPr>
        <p:txBody>
          <a:bodyPr wrap="square" anchor="t" lIns="27432" rIns="27432" tIns="13716" bIns="13716">
            <a:noAutofit/>
          </a:bodyPr>
          <a:lstStyle/>
          <a:p>
            <a:pPr algn="l">
              <a:spcAft>
                <a:spcPts val="0"/>
              </a:spcAft>
              <a:defRPr sz="3000" b="1">
                <a:solidFill>
                  <a:srgbClr val="0F2234"/>
                </a:solidFill>
                <a:latin typeface="Malgun Gothic"/>
              </a:defRPr>
            </a:pPr>
            <a:r>
              <a:t>bitmap은 직렬화를, depth-2는 재발생을 줄인다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66928" y="877824"/>
            <a:ext cx="11027664" cy="0"/>
          </a:xfrm>
          <a:prstGeom prst="line">
            <a:avLst/>
          </a:prstGeom>
          <a:ln w="19050">
            <a:solidFill>
              <a:srgbClr val="DAE2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85216" y="6501384"/>
            <a:ext cx="10378440" cy="182880"/>
          </a:xfrm>
          <a:prstGeom prst="rect">
            <a:avLst/>
          </a:prstGeom>
          <a:noFill/>
        </p:spPr>
        <p:txBody>
          <a:bodyPr wrap="square" anchor="t" lIns="27432" rIns="27432" tIns="13716" bIns="13716">
            <a:no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4C6073"/>
                </a:solidFill>
                <a:latin typeface="Malgun Gothic"/>
              </a:defRPr>
            </a:pPr>
            <a:r>
              <a:t>Source: final RTL architecture contract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9376" y="6492240"/>
            <a:ext cx="548640" cy="182880"/>
          </a:xfrm>
          <a:prstGeom prst="rect">
            <a:avLst/>
          </a:prstGeom>
          <a:noFill/>
        </p:spPr>
        <p:txBody>
          <a:bodyPr wrap="square" anchor="t" lIns="27432" rIns="27432" tIns="13716" bIns="13716">
            <a:noAutofit/>
          </a:bodyPr>
          <a:lstStyle/>
          <a:p>
            <a:pPr algn="r">
              <a:spcAft>
                <a:spcPts val="0"/>
              </a:spcAft>
              <a:defRPr sz="1200" b="1">
                <a:solidFill>
                  <a:srgbClr val="13344F"/>
                </a:solidFill>
                <a:latin typeface="Malgun Gothic"/>
              </a:defRPr>
            </a:pPr>
            <a:r>
              <a:t>05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1188720"/>
            <a:ext cx="5303520" cy="41605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AE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536" y="1371600"/>
            <a:ext cx="4901183" cy="182880"/>
          </a:xfrm>
          <a:prstGeom prst="rect">
            <a:avLst/>
          </a:prstGeom>
          <a:noFill/>
        </p:spPr>
        <p:txBody>
          <a:bodyPr wrap="square" anchor="t" lIns="27432" rIns="27432" tIns="13716" bIns="13716">
            <a:noAutofit/>
          </a:bodyPr>
          <a:lstStyle/>
          <a:p>
            <a:pPr algn="l">
              <a:spcAft>
                <a:spcPts val="0"/>
              </a:spcAft>
              <a:defRPr sz="1200" b="1">
                <a:solidFill>
                  <a:srgbClr val="2563EB"/>
                </a:solidFill>
                <a:latin typeface="Malgun Gothic"/>
              </a:defRPr>
            </a:pPr>
            <a:r>
              <a:t>IDEA 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9536" y="1645920"/>
            <a:ext cx="4901183" cy="310896"/>
          </a:xfrm>
          <a:prstGeom prst="rect">
            <a:avLst/>
          </a:prstGeom>
          <a:noFill/>
        </p:spPr>
        <p:txBody>
          <a:bodyPr wrap="square" anchor="t" lIns="27432" rIns="27432" tIns="13716" bIns="13716">
            <a:noAutofit/>
          </a:bodyPr>
          <a:lstStyle/>
          <a:p>
            <a:pPr algn="l">
              <a:spcAft>
                <a:spcPts val="0"/>
              </a:spcAft>
              <a:defRPr sz="2000" b="1">
                <a:solidFill>
                  <a:srgbClr val="0F2234"/>
                </a:solidFill>
                <a:latin typeface="Malgun Gothic"/>
              </a:defRPr>
            </a:pPr>
            <a:r>
              <a:t>ROW BITMAP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87552" y="2103120"/>
            <a:ext cx="1005840" cy="219456"/>
          </a:xfrm>
          <a:prstGeom prst="rect">
            <a:avLst/>
          </a:prstGeom>
          <a:noFill/>
        </p:spPr>
        <p:txBody>
          <a:bodyPr wrap="square" anchor="t" lIns="27432" rIns="27432" tIns="13716" bIns="13716">
            <a:no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4C6073"/>
                </a:solidFill>
                <a:latin typeface="Malgun Gothic"/>
              </a:defRPr>
            </a:pPr>
            <a:r>
              <a:t>row 2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029968" y="1984248"/>
            <a:ext cx="512064" cy="512064"/>
          </a:xfrm>
          <a:prstGeom prst="roundRect">
            <a:avLst/>
          </a:prstGeom>
          <a:solidFill>
            <a:srgbClr val="E8EFFF"/>
          </a:solidFill>
          <a:ln w="1270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029968" y="2139696"/>
            <a:ext cx="512064" cy="182880"/>
          </a:xfrm>
          <a:prstGeom prst="rect">
            <a:avLst/>
          </a:prstGeom>
          <a:noFill/>
        </p:spPr>
        <p:txBody>
          <a:bodyPr wrap="square" anchor="t" lIns="27432" rIns="27432" tIns="13716" bIns="13716">
            <a:noAutofit/>
          </a:bodyPr>
          <a:lstStyle/>
          <a:p>
            <a:pPr algn="ctr">
              <a:spcAft>
                <a:spcPts val="0"/>
              </a:spcAft>
              <a:defRPr sz="1600" b="1">
                <a:solidFill>
                  <a:srgbClr val="2563EB"/>
                </a:solidFill>
                <a:latin typeface="Malgun Gothic"/>
              </a:defRPr>
            </a:pPr>
            <a:r>
              <a:t>1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724912" y="1984248"/>
            <a:ext cx="512064" cy="512064"/>
          </a:xfrm>
          <a:prstGeom prst="roundRect">
            <a:avLst/>
          </a:prstGeom>
          <a:solidFill>
            <a:srgbClr val="E8EFFF"/>
          </a:solidFill>
          <a:ln w="1270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724912" y="2139696"/>
            <a:ext cx="512064" cy="182880"/>
          </a:xfrm>
          <a:prstGeom prst="rect">
            <a:avLst/>
          </a:prstGeom>
          <a:noFill/>
        </p:spPr>
        <p:txBody>
          <a:bodyPr wrap="square" anchor="t" lIns="27432" rIns="27432" tIns="13716" bIns="13716">
            <a:noAutofit/>
          </a:bodyPr>
          <a:lstStyle/>
          <a:p>
            <a:pPr algn="ctr">
              <a:spcAft>
                <a:spcPts val="0"/>
              </a:spcAft>
              <a:defRPr sz="1600" b="1">
                <a:solidFill>
                  <a:srgbClr val="2563EB"/>
                </a:solidFill>
                <a:latin typeface="Malgun Gothic"/>
              </a:defRPr>
            </a:pPr>
            <a:r>
              <a:t>1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419856" y="1984248"/>
            <a:ext cx="512064" cy="512064"/>
          </a:xfrm>
          <a:prstGeom prst="roundRect">
            <a:avLst/>
          </a:prstGeom>
          <a:solidFill>
            <a:srgbClr val="E8EFFF"/>
          </a:solidFill>
          <a:ln w="1270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419856" y="2139696"/>
            <a:ext cx="512064" cy="182880"/>
          </a:xfrm>
          <a:prstGeom prst="rect">
            <a:avLst/>
          </a:prstGeom>
          <a:noFill/>
        </p:spPr>
        <p:txBody>
          <a:bodyPr wrap="square" anchor="t" lIns="27432" rIns="27432" tIns="13716" bIns="13716">
            <a:noAutofit/>
          </a:bodyPr>
          <a:lstStyle/>
          <a:p>
            <a:pPr algn="ctr">
              <a:spcAft>
                <a:spcPts val="0"/>
              </a:spcAft>
              <a:defRPr sz="1600" b="1">
                <a:solidFill>
                  <a:srgbClr val="2563EB"/>
                </a:solidFill>
                <a:latin typeface="Malgun Gothic"/>
              </a:defRPr>
            </a:pPr>
            <a:r>
              <a:t>1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114800" y="1984248"/>
            <a:ext cx="512064" cy="512064"/>
          </a:xfrm>
          <a:prstGeom prst="roundRect">
            <a:avLst/>
          </a:prstGeom>
          <a:solidFill>
            <a:srgbClr val="E8EFFF"/>
          </a:solidFill>
          <a:ln w="1270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114800" y="2139696"/>
            <a:ext cx="512064" cy="182880"/>
          </a:xfrm>
          <a:prstGeom prst="rect">
            <a:avLst/>
          </a:prstGeom>
          <a:noFill/>
        </p:spPr>
        <p:txBody>
          <a:bodyPr wrap="square" anchor="t" lIns="27432" rIns="27432" tIns="13716" bIns="13716">
            <a:noAutofit/>
          </a:bodyPr>
          <a:lstStyle/>
          <a:p>
            <a:pPr algn="ctr">
              <a:spcAft>
                <a:spcPts val="0"/>
              </a:spcAft>
              <a:defRPr sz="1600" b="1">
                <a:solidFill>
                  <a:srgbClr val="2563EB"/>
                </a:solidFill>
                <a:latin typeface="Malgun Gothic"/>
              </a:defRPr>
            </a:pPr>
            <a:r>
              <a:t>1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87552" y="2926080"/>
            <a:ext cx="1481328" cy="256032"/>
          </a:xfrm>
          <a:prstGeom prst="rect">
            <a:avLst/>
          </a:prstGeom>
          <a:noFill/>
        </p:spPr>
        <p:txBody>
          <a:bodyPr wrap="square" anchor="t" lIns="27432" rIns="27432" tIns="13716" bIns="13716">
            <a:noAutofit/>
          </a:bodyPr>
          <a:lstStyle/>
          <a:p>
            <a:pPr algn="l">
              <a:spcAft>
                <a:spcPts val="0"/>
              </a:spcAft>
              <a:defRPr sz="1600" b="1">
                <a:solidFill>
                  <a:srgbClr val="0F2234"/>
                </a:solidFill>
                <a:latin typeface="Malgun Gothic"/>
              </a:defRPr>
            </a:pPr>
            <a:r>
              <a:t>네 scalar 주소</a:t>
            </a:r>
          </a:p>
        </p:txBody>
      </p:sp>
      <p:sp>
        <p:nvSpPr>
          <p:cNvPr id="21" name="Right Arrow 20"/>
          <p:cNvSpPr/>
          <p:nvPr/>
        </p:nvSpPr>
        <p:spPr>
          <a:xfrm>
            <a:off x="2651760" y="2926080"/>
            <a:ext cx="475488" cy="256032"/>
          </a:xfrm>
          <a:prstGeom prst="rightArrow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3383280" y="2770632"/>
            <a:ext cx="1993392" cy="640080"/>
          </a:xfrm>
          <a:prstGeom prst="roundRect">
            <a:avLst/>
          </a:prstGeom>
          <a:solidFill>
            <a:srgbClr val="E8E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566160" y="2980944"/>
            <a:ext cx="1627632" cy="219456"/>
          </a:xfrm>
          <a:prstGeom prst="rect">
            <a:avLst/>
          </a:prstGeom>
          <a:noFill/>
        </p:spPr>
        <p:txBody>
          <a:bodyPr wrap="square" anchor="t" lIns="27432" rIns="27432" tIns="13716" bIns="13716">
            <a:noAutofit/>
          </a:bodyPr>
          <a:lstStyle/>
          <a:p>
            <a:pPr algn="ctr">
              <a:spcAft>
                <a:spcPts val="0"/>
              </a:spcAft>
              <a:defRPr sz="1700" b="1">
                <a:solidFill>
                  <a:srgbClr val="2563EB"/>
                </a:solidFill>
                <a:latin typeface="Malgun Gothic"/>
              </a:defRPr>
            </a:pPr>
            <a:r>
              <a:t>row + 1111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87552" y="3931920"/>
            <a:ext cx="4526280" cy="274320"/>
          </a:xfrm>
          <a:prstGeom prst="rect">
            <a:avLst/>
          </a:prstGeom>
          <a:noFill/>
        </p:spPr>
        <p:txBody>
          <a:bodyPr wrap="square" anchor="t" lIns="27432" rIns="27432" tIns="13716" bIns="13716">
            <a:noAutofit/>
          </a:bodyPr>
          <a:lstStyle/>
          <a:p>
            <a:pPr algn="l">
              <a:spcAft>
                <a:spcPts val="0"/>
              </a:spcAft>
              <a:defRPr sz="1600" b="0">
                <a:solidFill>
                  <a:srgbClr val="4C6073"/>
                </a:solidFill>
                <a:latin typeface="Malgun Gothic"/>
              </a:defRPr>
            </a:pPr>
            <a:r>
              <a:t>한 lane transaction = 최대 4 events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236208" y="1188720"/>
            <a:ext cx="5303520" cy="41605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AE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37376" y="1371600"/>
            <a:ext cx="4901183" cy="182880"/>
          </a:xfrm>
          <a:prstGeom prst="rect">
            <a:avLst/>
          </a:prstGeom>
          <a:noFill/>
        </p:spPr>
        <p:txBody>
          <a:bodyPr wrap="square" anchor="t" lIns="27432" rIns="27432" tIns="13716" bIns="13716">
            <a:noAutofit/>
          </a:bodyPr>
          <a:lstStyle/>
          <a:p>
            <a:pPr algn="l">
              <a:spcAft>
                <a:spcPts val="0"/>
              </a:spcAft>
              <a:defRPr sz="1200" b="1">
                <a:solidFill>
                  <a:srgbClr val="E68414"/>
                </a:solidFill>
                <a:latin typeface="Malgun Gothic"/>
              </a:defRPr>
            </a:pPr>
            <a:r>
              <a:t>IDEA 2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37376" y="1645920"/>
            <a:ext cx="4901183" cy="310896"/>
          </a:xfrm>
          <a:prstGeom prst="rect">
            <a:avLst/>
          </a:prstGeom>
          <a:noFill/>
        </p:spPr>
        <p:txBody>
          <a:bodyPr wrap="square" anchor="t" lIns="27432" rIns="27432" tIns="13716" bIns="13716">
            <a:noAutofit/>
          </a:bodyPr>
          <a:lstStyle/>
          <a:p>
            <a:pPr algn="l">
              <a:spcAft>
                <a:spcPts val="0"/>
              </a:spcAft>
              <a:defRPr sz="2000" b="1">
                <a:solidFill>
                  <a:srgbClr val="0F2234"/>
                </a:solidFill>
                <a:latin typeface="Malgun Gothic"/>
              </a:defRPr>
            </a:pPr>
            <a:r>
              <a:t>SOURCE-LOCAL DEPTH-2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565392" y="2103120"/>
            <a:ext cx="1298448" cy="219456"/>
          </a:xfrm>
          <a:prstGeom prst="rect">
            <a:avLst/>
          </a:prstGeom>
          <a:noFill/>
        </p:spPr>
        <p:txBody>
          <a:bodyPr wrap="square" anchor="t" lIns="27432" rIns="27432" tIns="13716" bIns="13716">
            <a:no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4C6073"/>
                </a:solidFill>
                <a:latin typeface="Malgun Gothic"/>
              </a:defRPr>
            </a:pPr>
            <a:r>
              <a:t>같은 source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065008" y="1901952"/>
            <a:ext cx="1188720" cy="749808"/>
          </a:xfrm>
          <a:prstGeom prst="roundRect">
            <a:avLst/>
          </a:prstGeom>
          <a:solidFill>
            <a:srgbClr val="FFF2DC"/>
          </a:solidFill>
          <a:ln w="12700">
            <a:solidFill>
              <a:srgbClr val="E6841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065008" y="2057400"/>
            <a:ext cx="1188720" cy="402336"/>
          </a:xfrm>
          <a:prstGeom prst="rect">
            <a:avLst/>
          </a:prstGeom>
          <a:noFill/>
        </p:spPr>
        <p:txBody>
          <a:bodyPr wrap="square" anchor="t" lIns="27432" rIns="27432" tIns="13716" bIns="13716">
            <a:no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E68414"/>
                </a:solidFill>
                <a:latin typeface="Malgun Gothic"/>
              </a:defRPr>
            </a:pPr>
            <a:r>
              <a:t>slot 0</a:t>
            </a:r>
            <a:br/>
            <a:r>
              <a:t>A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9454896" y="1901952"/>
            <a:ext cx="1188720" cy="749808"/>
          </a:xfrm>
          <a:prstGeom prst="roundRect">
            <a:avLst/>
          </a:prstGeom>
          <a:solidFill>
            <a:srgbClr val="FFF2DC"/>
          </a:solidFill>
          <a:ln w="12700">
            <a:solidFill>
              <a:srgbClr val="E6841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454896" y="2057400"/>
            <a:ext cx="1188720" cy="402336"/>
          </a:xfrm>
          <a:prstGeom prst="rect">
            <a:avLst/>
          </a:prstGeom>
          <a:noFill/>
        </p:spPr>
        <p:txBody>
          <a:bodyPr wrap="square" anchor="t" lIns="27432" rIns="27432" tIns="13716" bIns="13716">
            <a:no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E68414"/>
                </a:solidFill>
                <a:latin typeface="Malgun Gothic"/>
              </a:defRPr>
            </a:pPr>
            <a:r>
              <a:t>slot 1</a:t>
            </a:r>
            <a:br/>
            <a:r>
              <a:t>B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565392" y="3063240"/>
            <a:ext cx="4526280" cy="274320"/>
          </a:xfrm>
          <a:prstGeom prst="rect">
            <a:avLst/>
          </a:prstGeom>
          <a:noFill/>
        </p:spPr>
        <p:txBody>
          <a:bodyPr wrap="square" anchor="t" lIns="27432" rIns="27432" tIns="13716" bIns="13716">
            <a:noAutofit/>
          </a:bodyPr>
          <a:lstStyle/>
          <a:p>
            <a:pPr algn="l">
              <a:spcAft>
                <a:spcPts val="0"/>
              </a:spcAft>
              <a:defRPr sz="1600" b="1">
                <a:solidFill>
                  <a:srgbClr val="0F2234"/>
                </a:solidFill>
                <a:latin typeface="Malgun Gothic"/>
              </a:defRPr>
            </a:pPr>
            <a:r>
              <a:t>A가 grant를 기다리는 동안 B 재발생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565392" y="3913632"/>
            <a:ext cx="4526280" cy="274320"/>
          </a:xfrm>
          <a:prstGeom prst="rect">
            <a:avLst/>
          </a:prstGeom>
          <a:noFill/>
        </p:spPr>
        <p:txBody>
          <a:bodyPr wrap="square" anchor="t" lIns="27432" rIns="27432" tIns="13716" bIns="13716">
            <a:noAutofit/>
          </a:bodyPr>
          <a:lstStyle/>
          <a:p>
            <a:pPr algn="l">
              <a:spcAft>
                <a:spcPts val="0"/>
              </a:spcAft>
              <a:defRPr sz="1600" b="0">
                <a:solidFill>
                  <a:srgbClr val="4C6073"/>
                </a:solidFill>
                <a:latin typeface="Malgun Gothic"/>
              </a:defRPr>
            </a:pPr>
            <a:r>
              <a:t>두 번째 occurrence를 overrun 대신 저장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658368" y="5742432"/>
            <a:ext cx="10881360" cy="566928"/>
          </a:xfrm>
          <a:prstGeom prst="roundRect">
            <a:avLst/>
          </a:prstGeom>
          <a:solidFill>
            <a:srgbClr val="EBF1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658368" y="5742432"/>
            <a:ext cx="91440" cy="566928"/>
          </a:xfrm>
          <a:prstGeom prst="rect">
            <a:avLst/>
          </a:prstGeom>
          <a:solidFill>
            <a:srgbClr val="1334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96112" y="5879592"/>
            <a:ext cx="10405872" cy="256032"/>
          </a:xfrm>
          <a:prstGeom prst="rect">
            <a:avLst/>
          </a:prstGeom>
          <a:noFill/>
        </p:spPr>
        <p:txBody>
          <a:bodyPr wrap="square" anchor="t" lIns="27432" rIns="27432" tIns="13716" bIns="13716">
            <a:noAutofit/>
          </a:bodyPr>
          <a:lstStyle/>
          <a:p>
            <a:pPr algn="ctr">
              <a:spcAft>
                <a:spcPts val="0"/>
              </a:spcAft>
              <a:defRPr sz="1700" b="1">
                <a:solidFill>
                  <a:srgbClr val="13344F"/>
                </a:solidFill>
                <a:latin typeface="Malgun Gothic"/>
              </a:defRPr>
            </a:pPr>
            <a:r>
              <a:t>bitmap은 serialization을, depth-2는 same-source recurrence를 줄인다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66928" y="310896"/>
            <a:ext cx="1143000" cy="310896"/>
          </a:xfrm>
          <a:prstGeom prst="roundRect">
            <a:avLst/>
          </a:prstGeom>
          <a:solidFill>
            <a:srgbClr val="1334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21792" y="379476"/>
            <a:ext cx="1033271" cy="164592"/>
          </a:xfrm>
          <a:prstGeom prst="rect">
            <a:avLst/>
          </a:prstGeom>
          <a:noFill/>
        </p:spPr>
        <p:txBody>
          <a:bodyPr wrap="square" anchor="t" lIns="27432" rIns="27432" tIns="13716" bIns="13716">
            <a:noAutofit/>
          </a:bodyPr>
          <a:lstStyle/>
          <a:p>
            <a:pPr algn="ctr">
              <a:spcAft>
                <a:spcPts val="0"/>
              </a:spcAft>
              <a:defRPr sz="1200" b="1">
                <a:solidFill>
                  <a:srgbClr val="FFFFFF"/>
                </a:solidFill>
                <a:latin typeface="Malgun Gothic"/>
              </a:defRPr>
            </a:pPr>
            <a:r>
              <a:t>02 구조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920240" y="182880"/>
            <a:ext cx="9646920" cy="566928"/>
          </a:xfrm>
          <a:prstGeom prst="rect">
            <a:avLst/>
          </a:prstGeom>
          <a:noFill/>
        </p:spPr>
        <p:txBody>
          <a:bodyPr wrap="square" anchor="t" lIns="27432" rIns="27432" tIns="13716" bIns="13716">
            <a:noAutofit/>
          </a:bodyPr>
          <a:lstStyle/>
          <a:p>
            <a:pPr algn="l">
              <a:spcAft>
                <a:spcPts val="0"/>
              </a:spcAft>
              <a:defRPr sz="3000" b="1">
                <a:solidFill>
                  <a:srgbClr val="0F2234"/>
                </a:solidFill>
                <a:latin typeface="Malgun Gothic"/>
              </a:defRPr>
            </a:pPr>
            <a:r>
              <a:t>steal은 capacity를, lockstep은 의미를 지킨다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66928" y="877824"/>
            <a:ext cx="11027664" cy="0"/>
          </a:xfrm>
          <a:prstGeom prst="line">
            <a:avLst/>
          </a:prstGeom>
          <a:ln w="19050">
            <a:solidFill>
              <a:srgbClr val="DAE2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85216" y="6501384"/>
            <a:ext cx="10378440" cy="182880"/>
          </a:xfrm>
          <a:prstGeom prst="rect">
            <a:avLst/>
          </a:prstGeom>
          <a:noFill/>
        </p:spPr>
        <p:txBody>
          <a:bodyPr wrap="square" anchor="t" lIns="27432" rIns="27432" tIns="13716" bIns="13716">
            <a:no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4C6073"/>
                </a:solidFill>
                <a:latin typeface="Malgun Gothic"/>
              </a:defRPr>
            </a:pPr>
            <a:r>
              <a:t>Source: final polarity RTL · native observational contract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9376" y="6492240"/>
            <a:ext cx="548640" cy="182880"/>
          </a:xfrm>
          <a:prstGeom prst="rect">
            <a:avLst/>
          </a:prstGeom>
          <a:noFill/>
        </p:spPr>
        <p:txBody>
          <a:bodyPr wrap="square" anchor="t" lIns="27432" rIns="27432" tIns="13716" bIns="13716">
            <a:noAutofit/>
          </a:bodyPr>
          <a:lstStyle/>
          <a:p>
            <a:pPr algn="r">
              <a:spcAft>
                <a:spcPts val="0"/>
              </a:spcAft>
              <a:defRPr sz="1200" b="1">
                <a:solidFill>
                  <a:srgbClr val="13344F"/>
                </a:solidFill>
                <a:latin typeface="Malgun Gothic"/>
              </a:defRPr>
            </a:pPr>
            <a:r>
              <a:t>06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1188720"/>
            <a:ext cx="5303520" cy="41605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AE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536" y="1371600"/>
            <a:ext cx="4901183" cy="182880"/>
          </a:xfrm>
          <a:prstGeom prst="rect">
            <a:avLst/>
          </a:prstGeom>
          <a:noFill/>
        </p:spPr>
        <p:txBody>
          <a:bodyPr wrap="square" anchor="t" lIns="27432" rIns="27432" tIns="13716" bIns="13716">
            <a:noAutofit/>
          </a:bodyPr>
          <a:lstStyle/>
          <a:p>
            <a:pPr algn="l">
              <a:spcAft>
                <a:spcPts val="0"/>
              </a:spcAft>
              <a:defRPr sz="1200" b="1">
                <a:solidFill>
                  <a:srgbClr val="7C4AB8"/>
                </a:solidFill>
                <a:latin typeface="Malgun Gothic"/>
              </a:defRPr>
            </a:pPr>
            <a:r>
              <a:t>IDEA 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9536" y="1645920"/>
            <a:ext cx="4901183" cy="310896"/>
          </a:xfrm>
          <a:prstGeom prst="rect">
            <a:avLst/>
          </a:prstGeom>
          <a:noFill/>
        </p:spPr>
        <p:txBody>
          <a:bodyPr wrap="square" anchor="t" lIns="27432" rIns="27432" tIns="13716" bIns="13716">
            <a:noAutofit/>
          </a:bodyPr>
          <a:lstStyle/>
          <a:p>
            <a:pPr algn="l">
              <a:spcAft>
                <a:spcPts val="0"/>
              </a:spcAft>
              <a:defRPr sz="2000" b="1">
                <a:solidFill>
                  <a:srgbClr val="0F2234"/>
                </a:solidFill>
                <a:latin typeface="Malgun Gothic"/>
              </a:defRPr>
            </a:pPr>
            <a:r>
              <a:t>CONDITIONAL LANE STEAL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05840" y="2057400"/>
            <a:ext cx="1609344" cy="1051560"/>
          </a:xfrm>
          <a:prstGeom prst="roundRect">
            <a:avLst/>
          </a:prstGeom>
          <a:solidFill>
            <a:srgbClr val="E0F6F3"/>
          </a:solidFill>
          <a:ln w="12700">
            <a:solidFill>
              <a:srgbClr val="009E9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05840" y="2267712"/>
            <a:ext cx="1609344" cy="201168"/>
          </a:xfrm>
          <a:prstGeom prst="rect">
            <a:avLst/>
          </a:prstGeom>
          <a:noFill/>
        </p:spPr>
        <p:txBody>
          <a:bodyPr wrap="square" anchor="t" lIns="27432" rIns="27432" tIns="13716" bIns="13716">
            <a:noAutofit/>
          </a:bodyPr>
          <a:lstStyle/>
          <a:p>
            <a:pPr algn="ctr">
              <a:spcAft>
                <a:spcPts val="0"/>
              </a:spcAft>
              <a:defRPr sz="1200" b="1">
                <a:solidFill>
                  <a:srgbClr val="009E96"/>
                </a:solidFill>
                <a:latin typeface="Malgun Gothic"/>
              </a:defRPr>
            </a:pPr>
            <a:r>
              <a:t>CENTER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2615184"/>
            <a:ext cx="1609344" cy="256032"/>
          </a:xfrm>
          <a:prstGeom prst="rect">
            <a:avLst/>
          </a:prstGeom>
          <a:noFill/>
        </p:spPr>
        <p:txBody>
          <a:bodyPr wrap="square" anchor="t" lIns="27432" rIns="27432" tIns="13716" bIns="13716">
            <a:noAutofit/>
          </a:bodyPr>
          <a:lstStyle/>
          <a:p>
            <a:pPr algn="ctr">
              <a:spcAft>
                <a:spcPts val="0"/>
              </a:spcAft>
              <a:defRPr sz="1800" b="1">
                <a:solidFill>
                  <a:srgbClr val="009E96"/>
                </a:solidFill>
                <a:latin typeface="Malgun Gothic"/>
              </a:defRPr>
            </a:pPr>
            <a:r>
              <a:t>busy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840480" y="2057400"/>
            <a:ext cx="1609344" cy="1051560"/>
          </a:xfrm>
          <a:prstGeom prst="roundRect">
            <a:avLst/>
          </a:prstGeom>
          <a:solidFill>
            <a:srgbClr val="EBF1F6"/>
          </a:solidFill>
          <a:ln w="12700">
            <a:solidFill>
              <a:srgbClr val="4C607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840480" y="2267712"/>
            <a:ext cx="1609344" cy="201168"/>
          </a:xfrm>
          <a:prstGeom prst="rect">
            <a:avLst/>
          </a:prstGeom>
          <a:noFill/>
        </p:spPr>
        <p:txBody>
          <a:bodyPr wrap="square" anchor="t" lIns="27432" rIns="27432" tIns="13716" bIns="13716">
            <a:noAutofit/>
          </a:bodyPr>
          <a:lstStyle/>
          <a:p>
            <a:pPr algn="ctr">
              <a:spcAft>
                <a:spcPts val="0"/>
              </a:spcAft>
              <a:defRPr sz="1200" b="1">
                <a:solidFill>
                  <a:srgbClr val="4C6073"/>
                </a:solidFill>
                <a:latin typeface="Malgun Gothic"/>
              </a:defRPr>
            </a:pPr>
            <a:r>
              <a:t>PERIPH.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840480" y="2615184"/>
            <a:ext cx="1609344" cy="256032"/>
          </a:xfrm>
          <a:prstGeom prst="rect">
            <a:avLst/>
          </a:prstGeom>
          <a:noFill/>
        </p:spPr>
        <p:txBody>
          <a:bodyPr wrap="square" anchor="t" lIns="27432" rIns="27432" tIns="13716" bIns="13716">
            <a:noAutofit/>
          </a:bodyPr>
          <a:lstStyle/>
          <a:p>
            <a:pPr algn="ctr">
              <a:spcAft>
                <a:spcPts val="0"/>
              </a:spcAft>
              <a:defRPr sz="1800" b="1">
                <a:solidFill>
                  <a:srgbClr val="4C6073"/>
                </a:solidFill>
                <a:latin typeface="Malgun Gothic"/>
              </a:defRPr>
            </a:pPr>
            <a:r>
              <a:t>idle</a:t>
            </a:r>
          </a:p>
        </p:txBody>
      </p:sp>
      <p:sp>
        <p:nvSpPr>
          <p:cNvPr id="17" name="Right Arrow 16"/>
          <p:cNvSpPr/>
          <p:nvPr/>
        </p:nvSpPr>
        <p:spPr>
          <a:xfrm>
            <a:off x="3346704" y="2450592"/>
            <a:ext cx="329184" cy="219456"/>
          </a:xfrm>
          <a:prstGeom prst="rightArrow">
            <a:avLst/>
          </a:prstGeom>
          <a:solidFill>
            <a:srgbClr val="7C4A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87552" y="3730752"/>
            <a:ext cx="4663440" cy="274320"/>
          </a:xfrm>
          <a:prstGeom prst="rect">
            <a:avLst/>
          </a:prstGeom>
          <a:noFill/>
        </p:spPr>
        <p:txBody>
          <a:bodyPr wrap="square" anchor="t" lIns="27432" rIns="27432" tIns="13716" bIns="13716">
            <a:noAutofit/>
          </a:bodyPr>
          <a:lstStyle/>
          <a:p>
            <a:pPr algn="ctr">
              <a:spcAft>
                <a:spcPts val="0"/>
              </a:spcAft>
              <a:defRPr sz="1600" b="1">
                <a:solidFill>
                  <a:srgbClr val="7C4AB8"/>
                </a:solidFill>
                <a:latin typeface="Malgun Gothic"/>
              </a:defRPr>
            </a:pPr>
            <a:r>
              <a:t>idle lane capacity를 반대 class가 재사용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87552" y="4224528"/>
            <a:ext cx="4663440" cy="219456"/>
          </a:xfrm>
          <a:prstGeom prst="rect">
            <a:avLst/>
          </a:prstGeom>
          <a:noFill/>
        </p:spPr>
        <p:txBody>
          <a:bodyPr wrap="square" anchor="t" lIns="27432" rIns="27432" tIns="13716" bIns="13716">
            <a:noAutofit/>
          </a:bodyPr>
          <a:lstStyle/>
          <a:p>
            <a:pPr algn="ctr">
              <a:spcAft>
                <a:spcPts val="0"/>
              </a:spcAft>
              <a:defRPr sz="1300" b="0">
                <a:solidFill>
                  <a:srgbClr val="4C6073"/>
                </a:solidFill>
                <a:latin typeface="Malgun Gothic"/>
              </a:defRPr>
            </a:pPr>
            <a:r>
              <a:t>global fairness 수치는 별도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36208" y="1188720"/>
            <a:ext cx="5303520" cy="41605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AE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37376" y="1371600"/>
            <a:ext cx="4901183" cy="182880"/>
          </a:xfrm>
          <a:prstGeom prst="rect">
            <a:avLst/>
          </a:prstGeom>
          <a:noFill/>
        </p:spPr>
        <p:txBody>
          <a:bodyPr wrap="square" anchor="t" lIns="27432" rIns="27432" tIns="13716" bIns="13716">
            <a:noAutofit/>
          </a:bodyPr>
          <a:lstStyle/>
          <a:p>
            <a:pPr algn="l">
              <a:spcAft>
                <a:spcPts val="0"/>
              </a:spcAft>
              <a:defRPr sz="1200" b="1">
                <a:solidFill>
                  <a:srgbClr val="2563EB"/>
                </a:solidFill>
                <a:latin typeface="Malgun Gothic"/>
              </a:defRPr>
            </a:pPr>
            <a:r>
              <a:t>IDEA 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37376" y="1645920"/>
            <a:ext cx="4901183" cy="310896"/>
          </a:xfrm>
          <a:prstGeom prst="rect">
            <a:avLst/>
          </a:prstGeom>
          <a:noFill/>
        </p:spPr>
        <p:txBody>
          <a:bodyPr wrap="square" anchor="t" lIns="27432" rIns="27432" tIns="13716" bIns="13716">
            <a:noAutofit/>
          </a:bodyPr>
          <a:lstStyle/>
          <a:p>
            <a:pPr algn="l">
              <a:spcAft>
                <a:spcPts val="0"/>
              </a:spcAft>
              <a:defRPr sz="2000" b="1">
                <a:solidFill>
                  <a:srgbClr val="0F2234"/>
                </a:solidFill>
                <a:latin typeface="Malgun Gothic"/>
              </a:defRPr>
            </a:pPr>
            <a:r>
              <a:t>POLARITY LOCKSTEP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601968" y="1956816"/>
            <a:ext cx="4572000" cy="713232"/>
          </a:xfrm>
          <a:prstGeom prst="roundRect">
            <a:avLst/>
          </a:prstGeom>
          <a:solidFill>
            <a:srgbClr val="E8EFFF"/>
          </a:solidFill>
          <a:ln w="1270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821424" y="2176272"/>
            <a:ext cx="347472" cy="201168"/>
          </a:xfrm>
          <a:prstGeom prst="rect">
            <a:avLst/>
          </a:prstGeom>
          <a:noFill/>
        </p:spPr>
        <p:txBody>
          <a:bodyPr wrap="square" anchor="t" lIns="27432" rIns="27432" tIns="13716" bIns="13716">
            <a:no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2563EB"/>
                </a:solidFill>
                <a:latin typeface="Malgun Gothic"/>
              </a:defRPr>
            </a:pPr>
            <a:r>
              <a:t>A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370064" y="2176272"/>
            <a:ext cx="1901952" cy="201168"/>
          </a:xfrm>
          <a:prstGeom prst="rect">
            <a:avLst/>
          </a:prstGeom>
          <a:noFill/>
        </p:spPr>
        <p:txBody>
          <a:bodyPr wrap="square" anchor="t" lIns="27432" rIns="27432" tIns="13716" bIns="13716">
            <a:no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0F2234"/>
                </a:solidFill>
                <a:latin typeface="Malgun Gothic"/>
              </a:defRPr>
            </a:pPr>
            <a:r>
              <a:t>row2 · col1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656064" y="2176272"/>
            <a:ext cx="1188720" cy="201168"/>
          </a:xfrm>
          <a:prstGeom prst="rect">
            <a:avLst/>
          </a:prstGeom>
          <a:noFill/>
        </p:spPr>
        <p:txBody>
          <a:bodyPr wrap="square" anchor="t" lIns="27432" rIns="27432" tIns="13716" bIns="13716">
            <a:noAutofit/>
          </a:bodyPr>
          <a:lstStyle/>
          <a:p>
            <a:pPr algn="r">
              <a:spcAft>
                <a:spcPts val="0"/>
              </a:spcAft>
              <a:defRPr sz="1500" b="1">
                <a:solidFill>
                  <a:srgbClr val="2563EB"/>
                </a:solidFill>
                <a:latin typeface="Malgun Gothic"/>
              </a:defRPr>
            </a:pPr>
            <a:r>
              <a:t>pol 0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601968" y="2916936"/>
            <a:ext cx="4572000" cy="713232"/>
          </a:xfrm>
          <a:prstGeom prst="roundRect">
            <a:avLst/>
          </a:prstGeom>
          <a:solidFill>
            <a:srgbClr val="E8EFFF"/>
          </a:solidFill>
          <a:ln w="1270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821424" y="3136392"/>
            <a:ext cx="347472" cy="201168"/>
          </a:xfrm>
          <a:prstGeom prst="rect">
            <a:avLst/>
          </a:prstGeom>
          <a:noFill/>
        </p:spPr>
        <p:txBody>
          <a:bodyPr wrap="square" anchor="t" lIns="27432" rIns="27432" tIns="13716" bIns="13716">
            <a:no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2563EB"/>
                </a:solidFill>
                <a:latin typeface="Malgun Gothic"/>
              </a:defRPr>
            </a:pPr>
            <a:r>
              <a:t>B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370064" y="3136392"/>
            <a:ext cx="1901952" cy="201168"/>
          </a:xfrm>
          <a:prstGeom prst="rect">
            <a:avLst/>
          </a:prstGeom>
          <a:noFill/>
        </p:spPr>
        <p:txBody>
          <a:bodyPr wrap="square" anchor="t" lIns="27432" rIns="27432" tIns="13716" bIns="13716">
            <a:no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0F2234"/>
                </a:solidFill>
                <a:latin typeface="Malgun Gothic"/>
              </a:defRPr>
            </a:pPr>
            <a:r>
              <a:t>row2 · col2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656064" y="3136392"/>
            <a:ext cx="1188720" cy="201168"/>
          </a:xfrm>
          <a:prstGeom prst="rect">
            <a:avLst/>
          </a:prstGeom>
          <a:noFill/>
        </p:spPr>
        <p:txBody>
          <a:bodyPr wrap="square" anchor="t" lIns="27432" rIns="27432" tIns="13716" bIns="13716">
            <a:noAutofit/>
          </a:bodyPr>
          <a:lstStyle/>
          <a:p>
            <a:pPr algn="r">
              <a:spcAft>
                <a:spcPts val="0"/>
              </a:spcAft>
              <a:defRPr sz="1500" b="1">
                <a:solidFill>
                  <a:srgbClr val="2563EB"/>
                </a:solidFill>
                <a:latin typeface="Malgun Gothic"/>
              </a:defRPr>
            </a:pPr>
            <a:r>
              <a:t>pol 1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583680" y="4242816"/>
            <a:ext cx="4608576" cy="237744"/>
          </a:xfrm>
          <a:prstGeom prst="rect">
            <a:avLst/>
          </a:prstGeom>
          <a:noFill/>
        </p:spPr>
        <p:txBody>
          <a:bodyPr wrap="square" anchor="t" lIns="27432" rIns="27432" tIns="13716" bIns="13716">
            <a:no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2563EB"/>
                </a:solidFill>
                <a:latin typeface="Malgun Gothic"/>
              </a:defRPr>
            </a:pPr>
            <a:r>
              <a:t>address와 polarity를 같은 slot에서 push / pop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58368" y="5742432"/>
            <a:ext cx="10881360" cy="566928"/>
          </a:xfrm>
          <a:prstGeom prst="roundRect">
            <a:avLst/>
          </a:prstGeom>
          <a:solidFill>
            <a:srgbClr val="E0F6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58368" y="5742432"/>
            <a:ext cx="91440" cy="566928"/>
          </a:xfrm>
          <a:prstGeom prst="rect">
            <a:avLst/>
          </a:prstGeom>
          <a:solidFill>
            <a:srgbClr val="009E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96112" y="5879592"/>
            <a:ext cx="10405872" cy="256032"/>
          </a:xfrm>
          <a:prstGeom prst="rect">
            <a:avLst/>
          </a:prstGeom>
          <a:noFill/>
        </p:spPr>
        <p:txBody>
          <a:bodyPr wrap="square" anchor="t" lIns="27432" rIns="27432" tIns="13716" bIns="13716">
            <a:noAutofit/>
          </a:bodyPr>
          <a:lstStyle/>
          <a:p>
            <a:pPr algn="ctr">
              <a:spcAft>
                <a:spcPts val="0"/>
              </a:spcAft>
              <a:defRPr sz="1700" b="1">
                <a:solidFill>
                  <a:srgbClr val="009E96"/>
                </a:solidFill>
                <a:latin typeface="Malgun Gothic"/>
              </a:defRPr>
            </a:pPr>
            <a:r>
              <a:t>steal은 capacity 낭비를 줄이고, lockstep은 selected-event 의미를 보존한다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66928" y="310896"/>
            <a:ext cx="1143000" cy="310896"/>
          </a:xfrm>
          <a:prstGeom prst="roundRect">
            <a:avLst/>
          </a:prstGeom>
          <a:solidFill>
            <a:srgbClr val="1334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21792" y="379476"/>
            <a:ext cx="1033271" cy="164592"/>
          </a:xfrm>
          <a:prstGeom prst="rect">
            <a:avLst/>
          </a:prstGeom>
          <a:noFill/>
        </p:spPr>
        <p:txBody>
          <a:bodyPr wrap="square" anchor="t" lIns="27432" rIns="27432" tIns="13716" bIns="13716">
            <a:noAutofit/>
          </a:bodyPr>
          <a:lstStyle/>
          <a:p>
            <a:pPr algn="ctr">
              <a:spcAft>
                <a:spcPts val="0"/>
              </a:spcAft>
              <a:defRPr sz="1200" b="1">
                <a:solidFill>
                  <a:srgbClr val="FFFFFF"/>
                </a:solidFill>
                <a:latin typeface="Malgun Gothic"/>
              </a:defRPr>
            </a:pPr>
            <a:r>
              <a:t>02 구조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920240" y="182880"/>
            <a:ext cx="9646920" cy="566928"/>
          </a:xfrm>
          <a:prstGeom prst="rect">
            <a:avLst/>
          </a:prstGeom>
          <a:noFill/>
        </p:spPr>
        <p:txBody>
          <a:bodyPr wrap="square" anchor="t" lIns="27432" rIns="27432" tIns="13716" bIns="13716">
            <a:noAutofit/>
          </a:bodyPr>
          <a:lstStyle/>
          <a:p>
            <a:pPr algn="l">
              <a:spcAft>
                <a:spcPts val="0"/>
              </a:spcAft>
              <a:defRPr sz="3000" b="1">
                <a:solidFill>
                  <a:srgbClr val="0F2234"/>
                </a:solidFill>
                <a:latin typeface="Malgun Gothic"/>
              </a:defRPr>
            </a:pPr>
            <a:r>
              <a:t>주소 절감은 제출 RTL과 후속 실험을 분리했다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66928" y="877824"/>
            <a:ext cx="11027664" cy="0"/>
          </a:xfrm>
          <a:prstGeom prst="line">
            <a:avLst/>
          </a:prstGeom>
          <a:ln w="19050">
            <a:solidFill>
              <a:srgbClr val="DAE2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85216" y="6501384"/>
            <a:ext cx="10378440" cy="182880"/>
          </a:xfrm>
          <a:prstGeom prst="rect">
            <a:avLst/>
          </a:prstGeom>
          <a:noFill/>
        </p:spPr>
        <p:txBody>
          <a:bodyPr wrap="square" anchor="t" lIns="27432" rIns="27432" tIns="13716" bIns="13716">
            <a:no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4C6073"/>
                </a:solidFill>
                <a:latin typeface="Malgun Gothic"/>
              </a:defRPr>
            </a:pPr>
            <a:r>
              <a:t>Source: row-trim/repeat-flag address-only studies · final polarity boundary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9376" y="6492240"/>
            <a:ext cx="548640" cy="182880"/>
          </a:xfrm>
          <a:prstGeom prst="rect">
            <a:avLst/>
          </a:prstGeom>
          <a:noFill/>
        </p:spPr>
        <p:txBody>
          <a:bodyPr wrap="square" anchor="t" lIns="27432" rIns="27432" tIns="13716" bIns="13716">
            <a:noAutofit/>
          </a:bodyPr>
          <a:lstStyle/>
          <a:p>
            <a:pPr algn="r">
              <a:spcAft>
                <a:spcPts val="0"/>
              </a:spcAft>
              <a:defRPr sz="1200" b="1">
                <a:solidFill>
                  <a:srgbClr val="13344F"/>
                </a:solidFill>
                <a:latin typeface="Malgun Gothic"/>
              </a:defRPr>
            </a:pPr>
            <a:r>
              <a:t>07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1298448"/>
            <a:ext cx="3328416" cy="3858768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9E9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877824" y="1572768"/>
            <a:ext cx="932688" cy="310896"/>
          </a:xfrm>
          <a:prstGeom prst="roundRect">
            <a:avLst/>
          </a:prstGeom>
          <a:solidFill>
            <a:srgbClr val="009E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32688" y="1641348"/>
            <a:ext cx="822960" cy="164592"/>
          </a:xfrm>
          <a:prstGeom prst="rect">
            <a:avLst/>
          </a:prstGeom>
          <a:noFill/>
        </p:spPr>
        <p:txBody>
          <a:bodyPr wrap="square" anchor="t" lIns="27432" rIns="27432" tIns="13716" bIns="13716">
            <a:noAutofit/>
          </a:bodyPr>
          <a:lstStyle/>
          <a:p>
            <a:pPr algn="ctr">
              <a:spcAft>
                <a:spcPts val="0"/>
              </a:spcAft>
              <a:defRPr sz="1200" b="1">
                <a:solidFill>
                  <a:srgbClr val="FFFFFF"/>
                </a:solidFill>
                <a:latin typeface="Malgun Gothic"/>
              </a:defRPr>
            </a:pPr>
            <a:r>
              <a:t>SUBMIT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77824" y="2148840"/>
            <a:ext cx="2889504" cy="310896"/>
          </a:xfrm>
          <a:prstGeom prst="rect">
            <a:avLst/>
          </a:prstGeom>
          <a:noFill/>
        </p:spPr>
        <p:txBody>
          <a:bodyPr wrap="square" anchor="t" lIns="27432" rIns="27432" tIns="13716" bIns="13716">
            <a:noAutofit/>
          </a:bodyPr>
          <a:lstStyle/>
          <a:p>
            <a:pPr algn="ctr">
              <a:spcAft>
                <a:spcPts val="0"/>
              </a:spcAft>
              <a:defRPr sz="2000" b="1">
                <a:solidFill>
                  <a:srgbClr val="0F2234"/>
                </a:solidFill>
                <a:latin typeface="Malgun Gothic"/>
              </a:defRPr>
            </a:pPr>
            <a:r>
              <a:t>ROW + MASK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77824" y="2834640"/>
            <a:ext cx="2889504" cy="512064"/>
          </a:xfrm>
          <a:prstGeom prst="rect">
            <a:avLst/>
          </a:prstGeom>
          <a:noFill/>
        </p:spPr>
        <p:txBody>
          <a:bodyPr wrap="square" anchor="t" lIns="27432" rIns="27432" tIns="13716" bIns="13716">
            <a:noAutofit/>
          </a:bodyPr>
          <a:lstStyle/>
          <a:p>
            <a:pPr algn="ctr">
              <a:spcAft>
                <a:spcPts val="0"/>
              </a:spcAft>
              <a:defRPr sz="2800" b="1">
                <a:solidFill>
                  <a:srgbClr val="009E96"/>
                </a:solidFill>
                <a:latin typeface="Malgun Gothic"/>
              </a:defRPr>
            </a:pPr>
            <a:r>
              <a:t>현재 최종 RTL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50976" y="3794760"/>
            <a:ext cx="2743200" cy="694944"/>
          </a:xfrm>
          <a:prstGeom prst="roundRect">
            <a:avLst/>
          </a:prstGeom>
          <a:solidFill>
            <a:srgbClr val="E0F6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78992" y="4014215"/>
            <a:ext cx="2487168" cy="256032"/>
          </a:xfrm>
          <a:prstGeom prst="rect">
            <a:avLst/>
          </a:prstGeom>
          <a:noFill/>
        </p:spPr>
        <p:txBody>
          <a:bodyPr wrap="square" anchor="t" lIns="27432" rIns="27432" tIns="13716" bIns="13716">
            <a:noAutofit/>
          </a:bodyPr>
          <a:lstStyle/>
          <a:p>
            <a:pPr algn="ctr">
              <a:spcAft>
                <a:spcPts val="0"/>
              </a:spcAft>
              <a:defRPr sz="1400" b="1">
                <a:solidFill>
                  <a:srgbClr val="009E96"/>
                </a:solidFill>
                <a:latin typeface="Malgun Gothic"/>
              </a:defRPr>
            </a:pPr>
            <a:r>
              <a:t>pol_mask 포함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352544" y="1298448"/>
            <a:ext cx="3328416" cy="3858768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4C607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4572000" y="1572768"/>
            <a:ext cx="932688" cy="310896"/>
          </a:xfrm>
          <a:prstGeom prst="roundRect">
            <a:avLst/>
          </a:prstGeom>
          <a:solidFill>
            <a:srgbClr val="4C60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626864" y="1641348"/>
            <a:ext cx="822960" cy="164592"/>
          </a:xfrm>
          <a:prstGeom prst="rect">
            <a:avLst/>
          </a:prstGeom>
          <a:noFill/>
        </p:spPr>
        <p:txBody>
          <a:bodyPr wrap="square" anchor="t" lIns="27432" rIns="27432" tIns="13716" bIns="13716">
            <a:noAutofit/>
          </a:bodyPr>
          <a:lstStyle/>
          <a:p>
            <a:pPr algn="ctr">
              <a:spcAft>
                <a:spcPts val="0"/>
              </a:spcAft>
              <a:defRPr sz="1200" b="1">
                <a:solidFill>
                  <a:srgbClr val="FFFFFF"/>
                </a:solidFill>
                <a:latin typeface="Malgun Gothic"/>
              </a:defRPr>
            </a:pPr>
            <a:r>
              <a:t>STUDY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0" y="2148840"/>
            <a:ext cx="2889504" cy="310896"/>
          </a:xfrm>
          <a:prstGeom prst="rect">
            <a:avLst/>
          </a:prstGeom>
          <a:noFill/>
        </p:spPr>
        <p:txBody>
          <a:bodyPr wrap="square" anchor="t" lIns="27432" rIns="27432" tIns="13716" bIns="13716">
            <a:noAutofit/>
          </a:bodyPr>
          <a:lstStyle/>
          <a:p>
            <a:pPr algn="ctr">
              <a:spcAft>
                <a:spcPts val="0"/>
              </a:spcAft>
              <a:defRPr sz="2000" b="1">
                <a:solidFill>
                  <a:srgbClr val="0F2234"/>
                </a:solidFill>
                <a:latin typeface="Malgun Gothic"/>
              </a:defRPr>
            </a:pPr>
            <a:r>
              <a:t>ROW-TRIM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0" y="2834640"/>
            <a:ext cx="2889504" cy="512064"/>
          </a:xfrm>
          <a:prstGeom prst="rect">
            <a:avLst/>
          </a:prstGeom>
          <a:noFill/>
        </p:spPr>
        <p:txBody>
          <a:bodyPr wrap="square" anchor="t" lIns="27432" rIns="27432" tIns="13716" bIns="13716">
            <a:noAutofit/>
          </a:bodyPr>
          <a:lstStyle/>
          <a:p>
            <a:pPr algn="ctr">
              <a:spcAft>
                <a:spcPts val="0"/>
              </a:spcAft>
              <a:defRPr sz="2800" b="1">
                <a:solidFill>
                  <a:srgbClr val="4C6073"/>
                </a:solidFill>
                <a:latin typeface="Malgun Gothic"/>
              </a:defRPr>
            </a:pPr>
            <a:r>
              <a:t>−14.29%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645152" y="3794760"/>
            <a:ext cx="2743200" cy="694944"/>
          </a:xfrm>
          <a:prstGeom prst="roundRect">
            <a:avLst/>
          </a:prstGeom>
          <a:solidFill>
            <a:srgbClr val="EBF1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773168" y="4014215"/>
            <a:ext cx="2487168" cy="256032"/>
          </a:xfrm>
          <a:prstGeom prst="rect">
            <a:avLst/>
          </a:prstGeom>
          <a:noFill/>
        </p:spPr>
        <p:txBody>
          <a:bodyPr wrap="square" anchor="t" lIns="27432" rIns="27432" tIns="13716" bIns="13716">
            <a:noAutofit/>
          </a:bodyPr>
          <a:lstStyle/>
          <a:p>
            <a:pPr algn="ctr">
              <a:spcAft>
                <a:spcPts val="0"/>
              </a:spcAft>
              <a:defRPr sz="1400" b="1">
                <a:solidFill>
                  <a:srgbClr val="4C6073"/>
                </a:solidFill>
                <a:latin typeface="Malgun Gothic"/>
              </a:defRPr>
            </a:pPr>
            <a:r>
              <a:t>base Cluster2 전용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046720" y="1298448"/>
            <a:ext cx="3328416" cy="3858768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6841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8266176" y="1572768"/>
            <a:ext cx="932688" cy="310896"/>
          </a:xfrm>
          <a:prstGeom prst="roundRect">
            <a:avLst/>
          </a:prstGeom>
          <a:solidFill>
            <a:srgbClr val="E684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321040" y="1641348"/>
            <a:ext cx="822960" cy="164592"/>
          </a:xfrm>
          <a:prstGeom prst="rect">
            <a:avLst/>
          </a:prstGeom>
          <a:noFill/>
        </p:spPr>
        <p:txBody>
          <a:bodyPr wrap="square" anchor="t" lIns="27432" rIns="27432" tIns="13716" bIns="13716">
            <a:noAutofit/>
          </a:bodyPr>
          <a:lstStyle/>
          <a:p>
            <a:pPr algn="ctr">
              <a:spcAft>
                <a:spcPts val="0"/>
              </a:spcAft>
              <a:defRPr sz="1200" b="1">
                <a:solidFill>
                  <a:srgbClr val="FFFFFF"/>
                </a:solidFill>
                <a:latin typeface="Malgun Gothic"/>
              </a:defRPr>
            </a:pPr>
            <a:r>
              <a:t>NEXT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66176" y="2148840"/>
            <a:ext cx="2889504" cy="310896"/>
          </a:xfrm>
          <a:prstGeom prst="rect">
            <a:avLst/>
          </a:prstGeom>
          <a:noFill/>
        </p:spPr>
        <p:txBody>
          <a:bodyPr wrap="square" anchor="t" lIns="27432" rIns="27432" tIns="13716" bIns="13716">
            <a:noAutofit/>
          </a:bodyPr>
          <a:lstStyle/>
          <a:p>
            <a:pPr algn="ctr">
              <a:spcAft>
                <a:spcPts val="0"/>
              </a:spcAft>
              <a:defRPr sz="2000" b="1">
                <a:solidFill>
                  <a:srgbClr val="0F2234"/>
                </a:solidFill>
                <a:latin typeface="Malgun Gothic"/>
              </a:defRPr>
            </a:pPr>
            <a:r>
              <a:t>REPEAT-FLAG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266176" y="2834640"/>
            <a:ext cx="2889504" cy="512064"/>
          </a:xfrm>
          <a:prstGeom prst="rect">
            <a:avLst/>
          </a:prstGeom>
          <a:noFill/>
        </p:spPr>
        <p:txBody>
          <a:bodyPr wrap="square" anchor="t" lIns="27432" rIns="27432" tIns="13716" bIns="13716">
            <a:noAutofit/>
          </a:bodyPr>
          <a:lstStyle/>
          <a:p>
            <a:pPr algn="ctr">
              <a:spcAft>
                <a:spcPts val="0"/>
              </a:spcAft>
              <a:defRPr sz="2800" b="1">
                <a:solidFill>
                  <a:srgbClr val="E68414"/>
                </a:solidFill>
                <a:latin typeface="Malgun Gothic"/>
              </a:defRPr>
            </a:pPr>
            <a:r>
              <a:t>−15.61%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339328" y="3794760"/>
            <a:ext cx="2743200" cy="694944"/>
          </a:xfrm>
          <a:prstGeom prst="roundRect">
            <a:avLst/>
          </a:prstGeom>
          <a:solidFill>
            <a:srgbClr val="FFF2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467344" y="4014215"/>
            <a:ext cx="2487168" cy="256032"/>
          </a:xfrm>
          <a:prstGeom prst="rect">
            <a:avLst/>
          </a:prstGeom>
          <a:noFill/>
        </p:spPr>
        <p:txBody>
          <a:bodyPr wrap="square" anchor="t" lIns="27432" rIns="27432" tIns="13716" bIns="13716">
            <a:noAutofit/>
          </a:bodyPr>
          <a:lstStyle/>
          <a:p>
            <a:pPr algn="ctr">
              <a:spcAft>
                <a:spcPts val="0"/>
              </a:spcAft>
              <a:defRPr sz="1400" b="1">
                <a:solidFill>
                  <a:srgbClr val="E68414"/>
                </a:solidFill>
                <a:latin typeface="Malgun Gothic"/>
              </a:defRPr>
            </a:pPr>
            <a:r>
              <a:t>polarity 재검증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58368" y="5742432"/>
            <a:ext cx="10881360" cy="566928"/>
          </a:xfrm>
          <a:prstGeom prst="roundRect">
            <a:avLst/>
          </a:prstGeom>
          <a:solidFill>
            <a:srgbClr val="FFF2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658368" y="5742432"/>
            <a:ext cx="91440" cy="566928"/>
          </a:xfrm>
          <a:prstGeom prst="rect">
            <a:avLst/>
          </a:prstGeom>
          <a:solidFill>
            <a:srgbClr val="E684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96112" y="5879592"/>
            <a:ext cx="10405872" cy="256032"/>
          </a:xfrm>
          <a:prstGeom prst="rect">
            <a:avLst/>
          </a:prstGeom>
          <a:noFill/>
        </p:spPr>
        <p:txBody>
          <a:bodyPr wrap="square" anchor="t" lIns="27432" rIns="27432" tIns="13716" bIns="13716">
            <a:noAutofit/>
          </a:bodyPr>
          <a:lstStyle/>
          <a:p>
            <a:pPr algn="ctr">
              <a:spcAft>
                <a:spcPts val="0"/>
              </a:spcAft>
              <a:defRPr sz="1700" b="1">
                <a:solidFill>
                  <a:srgbClr val="E68414"/>
                </a:solidFill>
                <a:latin typeface="Malgun Gothic"/>
              </a:defRPr>
            </a:pPr>
            <a:r>
              <a:t>2차 codec 후보는 repeat-flag — polarity 포함 end-to-end 검증 후 통합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66928" y="310896"/>
            <a:ext cx="1143000" cy="310896"/>
          </a:xfrm>
          <a:prstGeom prst="roundRect">
            <a:avLst/>
          </a:prstGeom>
          <a:solidFill>
            <a:srgbClr val="1334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21792" y="379476"/>
            <a:ext cx="1033271" cy="164592"/>
          </a:xfrm>
          <a:prstGeom prst="rect">
            <a:avLst/>
          </a:prstGeom>
          <a:noFill/>
        </p:spPr>
        <p:txBody>
          <a:bodyPr wrap="square" anchor="t" lIns="27432" rIns="27432" tIns="13716" bIns="13716">
            <a:noAutofit/>
          </a:bodyPr>
          <a:lstStyle/>
          <a:p>
            <a:pPr algn="ctr">
              <a:spcAft>
                <a:spcPts val="0"/>
              </a:spcAft>
              <a:defRPr sz="1200" b="1">
                <a:solidFill>
                  <a:srgbClr val="FFFFFF"/>
                </a:solidFill>
                <a:latin typeface="Malgun Gothic"/>
              </a:defRPr>
            </a:pPr>
            <a:r>
              <a:t>03 결과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920240" y="182880"/>
            <a:ext cx="9646920" cy="566928"/>
          </a:xfrm>
          <a:prstGeom prst="rect">
            <a:avLst/>
          </a:prstGeom>
          <a:noFill/>
        </p:spPr>
        <p:txBody>
          <a:bodyPr wrap="square" anchor="t" lIns="27432" rIns="27432" tIns="13716" bIns="13716">
            <a:noAutofit/>
          </a:bodyPr>
          <a:lstStyle/>
          <a:p>
            <a:pPr algn="l">
              <a:spcAft>
                <a:spcPts val="0"/>
              </a:spcAft>
              <a:defRPr sz="3000" b="1">
                <a:solidFill>
                  <a:srgbClr val="0F2234"/>
                </a:solidFill>
                <a:latin typeface="Malgun Gothic"/>
              </a:defRPr>
            </a:pPr>
            <a:r>
              <a:t>full50 source-overrun: 12,259 → 502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66928" y="877824"/>
            <a:ext cx="11027664" cy="0"/>
          </a:xfrm>
          <a:prstGeom prst="line">
            <a:avLst/>
          </a:prstGeom>
          <a:ln w="19050">
            <a:solidFill>
              <a:srgbClr val="DAE2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85216" y="6501384"/>
            <a:ext cx="10378440" cy="182880"/>
          </a:xfrm>
          <a:prstGeom prst="rect">
            <a:avLst/>
          </a:prstGeom>
          <a:noFill/>
        </p:spPr>
        <p:txBody>
          <a:bodyPr wrap="square" anchor="t" lIns="27432" rIns="27432" tIns="13716" bIns="13716">
            <a:no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4C6073"/>
                </a:solidFill>
                <a:latin typeface="Malgun Gothic"/>
              </a:defRPr>
            </a:pPr>
            <a:r>
              <a:t>Source: same 50 traces · 106,416 offered events/design · family diagnostic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9376" y="6492240"/>
            <a:ext cx="548640" cy="182880"/>
          </a:xfrm>
          <a:prstGeom prst="rect">
            <a:avLst/>
          </a:prstGeom>
          <a:noFill/>
        </p:spPr>
        <p:txBody>
          <a:bodyPr wrap="square" anchor="t" lIns="27432" rIns="27432" tIns="13716" bIns="13716">
            <a:noAutofit/>
          </a:bodyPr>
          <a:lstStyle/>
          <a:p>
            <a:pPr algn="r">
              <a:spcAft>
                <a:spcPts val="0"/>
              </a:spcAft>
              <a:defRPr sz="1200" b="1">
                <a:solidFill>
                  <a:srgbClr val="13344F"/>
                </a:solidFill>
                <a:latin typeface="Malgun Gothic"/>
              </a:defRPr>
            </a:pPr>
            <a:r>
              <a:t>08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1115568"/>
            <a:ext cx="7452360" cy="426110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AE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572768" y="1993392"/>
            <a:ext cx="1078992" cy="2148840"/>
          </a:xfrm>
          <a:prstGeom prst="rect">
            <a:avLst/>
          </a:prstGeom>
          <a:solidFill>
            <a:srgbClr val="D23A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88720" y="1554479"/>
            <a:ext cx="1847088" cy="365760"/>
          </a:xfrm>
          <a:prstGeom prst="rect">
            <a:avLst/>
          </a:prstGeom>
          <a:noFill/>
        </p:spPr>
        <p:txBody>
          <a:bodyPr wrap="square" anchor="t" lIns="27432" rIns="27432" tIns="13716" bIns="13716">
            <a:noAutofit/>
          </a:bodyPr>
          <a:lstStyle/>
          <a:p>
            <a:pPr algn="ctr">
              <a:spcAft>
                <a:spcPts val="0"/>
              </a:spcAft>
              <a:defRPr sz="2400" b="1">
                <a:solidFill>
                  <a:srgbClr val="D23A46"/>
                </a:solidFill>
                <a:latin typeface="Malgun Gothic"/>
              </a:defRPr>
            </a:pPr>
            <a:r>
              <a:t>26.49%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88720" y="4370832"/>
            <a:ext cx="1847088" cy="530352"/>
          </a:xfrm>
          <a:prstGeom prst="rect">
            <a:avLst/>
          </a:prstGeom>
          <a:noFill/>
        </p:spPr>
        <p:txBody>
          <a:bodyPr wrap="square" anchor="t" lIns="27432" rIns="27432" tIns="13716" bIns="13716">
            <a:noAutofit/>
          </a:bodyPr>
          <a:lstStyle/>
          <a:p>
            <a:pPr algn="ctr">
              <a:spcAft>
                <a:spcPts val="0"/>
              </a:spcAft>
              <a:defRPr sz="1300" b="1">
                <a:solidFill>
                  <a:srgbClr val="0F2234"/>
                </a:solidFill>
                <a:latin typeface="Malgun Gothic"/>
              </a:defRPr>
            </a:pPr>
            <a:r>
              <a:t>SCALAR</a:t>
            </a:r>
            <a:br/>
            <a:r>
              <a:t>FOVEA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88720" y="4983480"/>
            <a:ext cx="1847088" cy="201168"/>
          </a:xfrm>
          <a:prstGeom prst="rect">
            <a:avLst/>
          </a:prstGeom>
          <a:noFill/>
        </p:spPr>
        <p:txBody>
          <a:bodyPr wrap="square" anchor="t" lIns="27432" rIns="27432" tIns="13716" bIns="13716">
            <a:noAutofit/>
          </a:bodyPr>
          <a:lstStyle/>
          <a:p>
            <a:pPr algn="ctr">
              <a:spcAft>
                <a:spcPts val="0"/>
              </a:spcAft>
              <a:defRPr sz="1200" b="0">
                <a:solidFill>
                  <a:srgbClr val="4C6073"/>
                </a:solidFill>
                <a:latin typeface="Malgun Gothic"/>
              </a:defRPr>
            </a:pPr>
            <a:r>
              <a:t>loss 28,187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813048" y="3207742"/>
            <a:ext cx="1078992" cy="934489"/>
          </a:xfrm>
          <a:prstGeom prst="rect">
            <a:avLst/>
          </a:prstGeom>
          <a:solidFill>
            <a:srgbClr val="E684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429000" y="2768830"/>
            <a:ext cx="1847088" cy="365760"/>
          </a:xfrm>
          <a:prstGeom prst="rect">
            <a:avLst/>
          </a:prstGeom>
          <a:noFill/>
        </p:spPr>
        <p:txBody>
          <a:bodyPr wrap="square" anchor="t" lIns="27432" rIns="27432" tIns="13716" bIns="13716">
            <a:noAutofit/>
          </a:bodyPr>
          <a:lstStyle/>
          <a:p>
            <a:pPr algn="ctr">
              <a:spcAft>
                <a:spcPts val="0"/>
              </a:spcAft>
              <a:defRPr sz="2400" b="1">
                <a:solidFill>
                  <a:srgbClr val="E68414"/>
                </a:solidFill>
                <a:latin typeface="Malgun Gothic"/>
              </a:defRPr>
            </a:pPr>
            <a:r>
              <a:t>11.52%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29000" y="4370832"/>
            <a:ext cx="1847088" cy="530352"/>
          </a:xfrm>
          <a:prstGeom prst="rect">
            <a:avLst/>
          </a:prstGeom>
          <a:noFill/>
        </p:spPr>
        <p:txBody>
          <a:bodyPr wrap="square" anchor="t" lIns="27432" rIns="27432" tIns="13716" bIns="13716">
            <a:noAutofit/>
          </a:bodyPr>
          <a:lstStyle/>
          <a:p>
            <a:pPr algn="ctr">
              <a:spcAft>
                <a:spcPts val="0"/>
              </a:spcAft>
              <a:defRPr sz="1300" b="1">
                <a:solidFill>
                  <a:srgbClr val="0F2234"/>
                </a:solidFill>
                <a:latin typeface="Malgun Gothic"/>
              </a:defRPr>
            </a:pPr>
            <a:r>
              <a:t>BASE</a:t>
            </a:r>
            <a:br/>
            <a:r>
              <a:t>CLUSTER2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429000" y="4983480"/>
            <a:ext cx="1847088" cy="201168"/>
          </a:xfrm>
          <a:prstGeom prst="rect">
            <a:avLst/>
          </a:prstGeom>
          <a:noFill/>
        </p:spPr>
        <p:txBody>
          <a:bodyPr wrap="square" anchor="t" lIns="27432" rIns="27432" tIns="13716" bIns="13716">
            <a:noAutofit/>
          </a:bodyPr>
          <a:lstStyle/>
          <a:p>
            <a:pPr algn="ctr">
              <a:spcAft>
                <a:spcPts val="0"/>
              </a:spcAft>
              <a:defRPr sz="1200" b="0">
                <a:solidFill>
                  <a:srgbClr val="4C6073"/>
                </a:solidFill>
                <a:latin typeface="Malgun Gothic"/>
              </a:defRPr>
            </a:pPr>
            <a:r>
              <a:t>loss 12,259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053328" y="4032504"/>
            <a:ext cx="1078992" cy="109728"/>
          </a:xfrm>
          <a:prstGeom prst="rect">
            <a:avLst/>
          </a:prstGeom>
          <a:solidFill>
            <a:srgbClr val="009E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669280" y="1389888"/>
            <a:ext cx="1847088" cy="365760"/>
          </a:xfrm>
          <a:prstGeom prst="rect">
            <a:avLst/>
          </a:prstGeom>
          <a:noFill/>
        </p:spPr>
        <p:txBody>
          <a:bodyPr wrap="square" anchor="t" lIns="27432" rIns="27432" tIns="13716" bIns="13716">
            <a:noAutofit/>
          </a:bodyPr>
          <a:lstStyle/>
          <a:p>
            <a:pPr algn="ctr">
              <a:spcAft>
                <a:spcPts val="0"/>
              </a:spcAft>
              <a:defRPr sz="2400" b="1">
                <a:solidFill>
                  <a:srgbClr val="009E96"/>
                </a:solidFill>
                <a:latin typeface="Malgun Gothic"/>
              </a:defRPr>
            </a:pPr>
            <a:r>
              <a:t>0.47%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669280" y="4370832"/>
            <a:ext cx="1847088" cy="530352"/>
          </a:xfrm>
          <a:prstGeom prst="rect">
            <a:avLst/>
          </a:prstGeom>
          <a:noFill/>
        </p:spPr>
        <p:txBody>
          <a:bodyPr wrap="square" anchor="t" lIns="27432" rIns="27432" tIns="13716" bIns="13716">
            <a:noAutofit/>
          </a:bodyPr>
          <a:lstStyle/>
          <a:p>
            <a:pPr algn="ctr">
              <a:spcAft>
                <a:spcPts val="0"/>
              </a:spcAft>
              <a:defRPr sz="1300" b="1">
                <a:solidFill>
                  <a:srgbClr val="0F2234"/>
                </a:solidFill>
                <a:latin typeface="Malgun Gothic"/>
              </a:defRPr>
            </a:pPr>
            <a:r>
              <a:t>CLUSTER2</a:t>
            </a:r>
            <a:br/>
            <a:r>
              <a:t>STEAL_BUF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669280" y="4983480"/>
            <a:ext cx="1847088" cy="201168"/>
          </a:xfrm>
          <a:prstGeom prst="rect">
            <a:avLst/>
          </a:prstGeom>
          <a:noFill/>
        </p:spPr>
        <p:txBody>
          <a:bodyPr wrap="square" anchor="t" lIns="27432" rIns="27432" tIns="13716" bIns="13716">
            <a:noAutofit/>
          </a:bodyPr>
          <a:lstStyle/>
          <a:p>
            <a:pPr algn="ctr">
              <a:spcAft>
                <a:spcPts val="0"/>
              </a:spcAft>
              <a:defRPr sz="1200" b="0">
                <a:solidFill>
                  <a:srgbClr val="4C6073"/>
                </a:solidFill>
                <a:latin typeface="Malgun Gothic"/>
              </a:defRPr>
            </a:pPr>
            <a:r>
              <a:t>loss 502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375904" y="1115568"/>
            <a:ext cx="3163824" cy="4261104"/>
          </a:xfrm>
          <a:prstGeom prst="roundRect">
            <a:avLst/>
          </a:prstGeom>
          <a:solidFill>
            <a:srgbClr val="1334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668512" y="1508760"/>
            <a:ext cx="2578608" cy="201168"/>
          </a:xfrm>
          <a:prstGeom prst="rect">
            <a:avLst/>
          </a:prstGeom>
          <a:noFill/>
        </p:spPr>
        <p:txBody>
          <a:bodyPr wrap="square" anchor="t" lIns="27432" rIns="27432" tIns="13716" bIns="13716">
            <a:noAutofit/>
          </a:bodyPr>
          <a:lstStyle/>
          <a:p>
            <a:pPr algn="ctr">
              <a:spcAft>
                <a:spcPts val="0"/>
              </a:spcAft>
              <a:defRPr sz="1200" b="1">
                <a:solidFill>
                  <a:srgbClr val="B9D5E6"/>
                </a:solidFill>
                <a:latin typeface="Malgun Gothic"/>
              </a:defRPr>
            </a:pPr>
            <a:r>
              <a:t>BASE → STEAL_BUF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613648" y="2075688"/>
            <a:ext cx="2688336" cy="603504"/>
          </a:xfrm>
          <a:prstGeom prst="rect">
            <a:avLst/>
          </a:prstGeom>
          <a:noFill/>
        </p:spPr>
        <p:txBody>
          <a:bodyPr wrap="square" anchor="t" lIns="27432" rIns="27432" tIns="13716" bIns="13716">
            <a:noAutofit/>
          </a:bodyPr>
          <a:lstStyle/>
          <a:p>
            <a:pPr algn="ctr">
              <a:spcAft>
                <a:spcPts val="0"/>
              </a:spcAft>
              <a:defRPr sz="3500" b="1">
                <a:solidFill>
                  <a:srgbClr val="FFFFFF"/>
                </a:solidFill>
                <a:latin typeface="Malgun Gothic"/>
              </a:defRPr>
            </a:pPr>
            <a:r>
              <a:t>−95.9%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668512" y="2761488"/>
            <a:ext cx="2578608" cy="219456"/>
          </a:xfrm>
          <a:prstGeom prst="rect">
            <a:avLst/>
          </a:prstGeom>
          <a:noFill/>
        </p:spPr>
        <p:txBody>
          <a:bodyPr wrap="square" anchor="t" lIns="27432" rIns="27432" tIns="13716" bIns="13716">
            <a:noAutofit/>
          </a:bodyPr>
          <a:lstStyle/>
          <a:p>
            <a:pPr algn="ctr">
              <a:spcAft>
                <a:spcPts val="0"/>
              </a:spcAft>
              <a:defRPr sz="1300" b="0">
                <a:solidFill>
                  <a:srgbClr val="B9D5E6"/>
                </a:solidFill>
                <a:latin typeface="Malgun Gothic"/>
              </a:defRPr>
            </a:pPr>
            <a:r>
              <a:t>relative loss reduction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8796528" y="3310128"/>
            <a:ext cx="2304288" cy="0"/>
          </a:xfrm>
          <a:prstGeom prst="line">
            <a:avLst/>
          </a:prstGeom>
          <a:ln w="19050">
            <a:solidFill>
              <a:srgbClr val="4D6F8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8668512" y="3584448"/>
            <a:ext cx="2578608" cy="402336"/>
          </a:xfrm>
          <a:prstGeom prst="rect">
            <a:avLst/>
          </a:prstGeom>
          <a:noFill/>
        </p:spPr>
        <p:txBody>
          <a:bodyPr wrap="square" anchor="t" lIns="27432" rIns="27432" tIns="13716" bIns="13716">
            <a:noAutofit/>
          </a:bodyPr>
          <a:lstStyle/>
          <a:p>
            <a:pPr algn="ctr">
              <a:spcAft>
                <a:spcPts val="0"/>
              </a:spcAft>
              <a:defRPr sz="2500" b="1">
                <a:solidFill>
                  <a:srgbClr val="009E96"/>
                </a:solidFill>
                <a:latin typeface="Malgun Gothic"/>
              </a:defRPr>
            </a:pPr>
            <a:r>
              <a:t>24.42×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668512" y="4041648"/>
            <a:ext cx="2578608" cy="201168"/>
          </a:xfrm>
          <a:prstGeom prst="rect">
            <a:avLst/>
          </a:prstGeom>
          <a:noFill/>
        </p:spPr>
        <p:txBody>
          <a:bodyPr wrap="square" anchor="t" lIns="27432" rIns="27432" tIns="13716" bIns="13716">
            <a:noAutofit/>
          </a:bodyPr>
          <a:lstStyle/>
          <a:p>
            <a:pPr algn="ctr">
              <a:spcAft>
                <a:spcPts val="0"/>
              </a:spcAft>
              <a:defRPr sz="1300" b="0">
                <a:solidFill>
                  <a:srgbClr val="B9D5E6"/>
                </a:solidFill>
                <a:latin typeface="Malgun Gothic"/>
              </a:defRPr>
            </a:pPr>
            <a:r>
              <a:t>smaller remaining loss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613648" y="4700016"/>
            <a:ext cx="2688336" cy="219456"/>
          </a:xfrm>
          <a:prstGeom prst="rect">
            <a:avLst/>
          </a:prstGeom>
          <a:noFill/>
        </p:spPr>
        <p:txBody>
          <a:bodyPr wrap="square" anchor="t" lIns="27432" rIns="27432" tIns="13716" bIns="13716">
            <a:noAutofit/>
          </a:bodyPr>
          <a:lstStyle/>
          <a:p>
            <a:pPr algn="ctr">
              <a:spcAft>
                <a:spcPts val="0"/>
              </a:spcAft>
              <a:defRPr sz="1300" b="1">
                <a:solidFill>
                  <a:srgbClr val="FFFFFF"/>
                </a:solidFill>
                <a:latin typeface="Malgun Gothic"/>
              </a:defRPr>
            </a:pPr>
            <a:r>
              <a:t>48 / 50 traces: overrun 0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58368" y="5742432"/>
            <a:ext cx="10881360" cy="566928"/>
          </a:xfrm>
          <a:prstGeom prst="roundRect">
            <a:avLst/>
          </a:prstGeom>
          <a:solidFill>
            <a:srgbClr val="E0F6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658368" y="5742432"/>
            <a:ext cx="91440" cy="566928"/>
          </a:xfrm>
          <a:prstGeom prst="rect">
            <a:avLst/>
          </a:prstGeom>
          <a:solidFill>
            <a:srgbClr val="009E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96112" y="5879592"/>
            <a:ext cx="10405872" cy="256032"/>
          </a:xfrm>
          <a:prstGeom prst="rect">
            <a:avLst/>
          </a:prstGeom>
          <a:noFill/>
        </p:spPr>
        <p:txBody>
          <a:bodyPr wrap="square" anchor="t" lIns="27432" rIns="27432" tIns="13716" bIns="13716">
            <a:noAutofit/>
          </a:bodyPr>
          <a:lstStyle/>
          <a:p>
            <a:pPr algn="ctr">
              <a:spcAft>
                <a:spcPts val="0"/>
              </a:spcAft>
              <a:defRPr sz="1700" b="1">
                <a:solidFill>
                  <a:srgbClr val="009E96"/>
                </a:solidFill>
                <a:latin typeface="Malgun Gothic"/>
              </a:defRPr>
            </a:pPr>
            <a:r>
              <a:t>steal-buffer의 핵심 효과: 기본 Cluster2의 남은 재발생 손실을 직접 줄였다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66928" y="310896"/>
            <a:ext cx="1143000" cy="310896"/>
          </a:xfrm>
          <a:prstGeom prst="roundRect">
            <a:avLst/>
          </a:prstGeom>
          <a:solidFill>
            <a:srgbClr val="1334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21792" y="379476"/>
            <a:ext cx="1033271" cy="164592"/>
          </a:xfrm>
          <a:prstGeom prst="rect">
            <a:avLst/>
          </a:prstGeom>
          <a:noFill/>
        </p:spPr>
        <p:txBody>
          <a:bodyPr wrap="square" anchor="t" lIns="27432" rIns="27432" tIns="13716" bIns="13716">
            <a:noAutofit/>
          </a:bodyPr>
          <a:lstStyle/>
          <a:p>
            <a:pPr algn="ctr">
              <a:spcAft>
                <a:spcPts val="0"/>
              </a:spcAft>
              <a:defRPr sz="1200" b="1">
                <a:solidFill>
                  <a:srgbClr val="FFFFFF"/>
                </a:solidFill>
                <a:latin typeface="Malgun Gothic"/>
              </a:defRPr>
            </a:pPr>
            <a:r>
              <a:t>03 결과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920240" y="182880"/>
            <a:ext cx="9646920" cy="566928"/>
          </a:xfrm>
          <a:prstGeom prst="rect">
            <a:avLst/>
          </a:prstGeom>
          <a:noFill/>
        </p:spPr>
        <p:txBody>
          <a:bodyPr wrap="square" anchor="t" lIns="27432" rIns="27432" tIns="13716" bIns="13716">
            <a:noAutofit/>
          </a:bodyPr>
          <a:lstStyle/>
          <a:p>
            <a:pPr algn="l">
              <a:spcAft>
                <a:spcPts val="0"/>
              </a:spcAft>
              <a:defRPr sz="3000" b="1">
                <a:solidFill>
                  <a:srgbClr val="0F2234"/>
                </a:solidFill>
                <a:latin typeface="Malgun Gothic"/>
              </a:defRPr>
            </a:pPr>
            <a:r>
              <a:t>cycle 4,162: 두 lane이 3 events를 retire했다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66928" y="877824"/>
            <a:ext cx="11027664" cy="0"/>
          </a:xfrm>
          <a:prstGeom prst="line">
            <a:avLst/>
          </a:prstGeom>
          <a:ln w="19050">
            <a:solidFill>
              <a:srgbClr val="DAE2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85216" y="6501384"/>
            <a:ext cx="10378440" cy="182880"/>
          </a:xfrm>
          <a:prstGeom prst="rect">
            <a:avLst/>
          </a:prstGeom>
          <a:noFill/>
        </p:spPr>
        <p:txBody>
          <a:bodyPr wrap="square" anchor="t" lIns="27432" rIns="27432" tIns="13716" bIns="13716">
            <a:no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4C6073"/>
                </a:solidFill>
                <a:latin typeface="Malgun Gothic"/>
              </a:defRPr>
            </a:pPr>
            <a:r>
              <a:t>Source: Xcelium 23.09-s013 · redred_cluster2_polarity_v1_native_observational_tb.sv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9376" y="6492240"/>
            <a:ext cx="548640" cy="182880"/>
          </a:xfrm>
          <a:prstGeom prst="rect">
            <a:avLst/>
          </a:prstGeom>
          <a:noFill/>
        </p:spPr>
        <p:txBody>
          <a:bodyPr wrap="square" anchor="t" lIns="27432" rIns="27432" tIns="13716" bIns="13716">
            <a:noAutofit/>
          </a:bodyPr>
          <a:lstStyle/>
          <a:p>
            <a:pPr algn="r">
              <a:spcAft>
                <a:spcPts val="0"/>
              </a:spcAft>
              <a:defRPr sz="1200" b="1">
                <a:solidFill>
                  <a:srgbClr val="13344F"/>
                </a:solidFill>
                <a:latin typeface="Malgun Gothic"/>
              </a:defRPr>
            </a:pPr>
            <a:r>
              <a:t>09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1188720"/>
            <a:ext cx="2414016" cy="1243584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04672" y="1389888"/>
            <a:ext cx="2121408" cy="164592"/>
          </a:xfrm>
          <a:prstGeom prst="rect">
            <a:avLst/>
          </a:prstGeom>
          <a:noFill/>
        </p:spPr>
        <p:txBody>
          <a:bodyPr wrap="square" anchor="t" lIns="27432" rIns="27432" tIns="13716" bIns="13716">
            <a:noAutofit/>
          </a:bodyPr>
          <a:lstStyle/>
          <a:p>
            <a:pPr algn="ctr">
              <a:spcAft>
                <a:spcPts val="0"/>
              </a:spcAft>
              <a:defRPr sz="1200" b="1">
                <a:solidFill>
                  <a:srgbClr val="2563EB"/>
                </a:solidFill>
                <a:latin typeface="Malgun Gothic"/>
              </a:defRPr>
            </a:pPr>
            <a:r>
              <a:t>INPUT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4672" y="1719072"/>
            <a:ext cx="2121408" cy="438912"/>
          </a:xfrm>
          <a:prstGeom prst="rect">
            <a:avLst/>
          </a:prstGeom>
          <a:noFill/>
        </p:spPr>
        <p:txBody>
          <a:bodyPr wrap="square" anchor="t" lIns="27432" rIns="27432" tIns="13716" bIns="13716">
            <a:noAutofit/>
          </a:bodyPr>
          <a:lstStyle/>
          <a:p>
            <a:pPr algn="ctr">
              <a:spcAft>
                <a:spcPts val="0"/>
              </a:spcAft>
              <a:defRPr sz="1600" b="1">
                <a:solidFill>
                  <a:srgbClr val="0F2234"/>
                </a:solidFill>
                <a:latin typeface="Malgun Gothic"/>
              </a:defRPr>
            </a:pPr>
            <a:r>
              <a:t>UZH 4×4 patch</a:t>
            </a:r>
            <a:br/>
            <a:r>
              <a:t>8,503 events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3127248" y="1645920"/>
            <a:ext cx="201168" cy="182880"/>
          </a:xfrm>
          <a:prstGeom prst="rightArrow">
            <a:avLst/>
          </a:prstGeom>
          <a:solidFill>
            <a:srgbClr val="4C60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3419856" y="1188720"/>
            <a:ext cx="2414016" cy="1243584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6841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566160" y="1389888"/>
            <a:ext cx="2121408" cy="164592"/>
          </a:xfrm>
          <a:prstGeom prst="rect">
            <a:avLst/>
          </a:prstGeom>
          <a:noFill/>
        </p:spPr>
        <p:txBody>
          <a:bodyPr wrap="square" anchor="t" lIns="27432" rIns="27432" tIns="13716" bIns="13716">
            <a:noAutofit/>
          </a:bodyPr>
          <a:lstStyle/>
          <a:p>
            <a:pPr algn="ctr">
              <a:spcAft>
                <a:spcPts val="0"/>
              </a:spcAft>
              <a:defRPr sz="1200" b="1">
                <a:solidFill>
                  <a:srgbClr val="E68414"/>
                </a:solidFill>
                <a:latin typeface="Malgun Gothic"/>
              </a:defRPr>
            </a:pPr>
            <a:r>
              <a:t>SIM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66160" y="1719072"/>
            <a:ext cx="2121408" cy="438912"/>
          </a:xfrm>
          <a:prstGeom prst="rect">
            <a:avLst/>
          </a:prstGeom>
          <a:noFill/>
        </p:spPr>
        <p:txBody>
          <a:bodyPr wrap="square" anchor="t" lIns="27432" rIns="27432" tIns="13716" bIns="13716">
            <a:noAutofit/>
          </a:bodyPr>
          <a:lstStyle/>
          <a:p>
            <a:pPr algn="ctr">
              <a:spcAft>
                <a:spcPts val="0"/>
              </a:spcAft>
              <a:defRPr sz="1600" b="1">
                <a:solidFill>
                  <a:srgbClr val="0F2234"/>
                </a:solidFill>
                <a:latin typeface="Malgun Gothic"/>
              </a:defRPr>
            </a:pPr>
            <a:r>
              <a:t>Xcelium</a:t>
            </a:r>
            <a:br/>
            <a:r>
              <a:t>RTL + TB</a:t>
            </a:r>
          </a:p>
        </p:txBody>
      </p:sp>
      <p:sp>
        <p:nvSpPr>
          <p:cNvPr id="15" name="Right Arrow 14"/>
          <p:cNvSpPr/>
          <p:nvPr/>
        </p:nvSpPr>
        <p:spPr>
          <a:xfrm>
            <a:off x="5888736" y="1645920"/>
            <a:ext cx="201168" cy="182880"/>
          </a:xfrm>
          <a:prstGeom prst="rightArrow">
            <a:avLst/>
          </a:prstGeom>
          <a:solidFill>
            <a:srgbClr val="4C60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6181344" y="1188720"/>
            <a:ext cx="2414016" cy="1243584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7C4A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327648" y="1389888"/>
            <a:ext cx="2121408" cy="164592"/>
          </a:xfrm>
          <a:prstGeom prst="rect">
            <a:avLst/>
          </a:prstGeom>
          <a:noFill/>
        </p:spPr>
        <p:txBody>
          <a:bodyPr wrap="square" anchor="t" lIns="27432" rIns="27432" tIns="13716" bIns="13716">
            <a:noAutofit/>
          </a:bodyPr>
          <a:lstStyle/>
          <a:p>
            <a:pPr algn="ctr">
              <a:spcAft>
                <a:spcPts val="0"/>
              </a:spcAft>
              <a:defRPr sz="1200" b="1">
                <a:solidFill>
                  <a:srgbClr val="7C4AB8"/>
                </a:solidFill>
                <a:latin typeface="Malgun Gothic"/>
              </a:defRPr>
            </a:pPr>
            <a:r>
              <a:t>LEDGER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327648" y="1719072"/>
            <a:ext cx="2121408" cy="438912"/>
          </a:xfrm>
          <a:prstGeom prst="rect">
            <a:avLst/>
          </a:prstGeom>
          <a:noFill/>
        </p:spPr>
        <p:txBody>
          <a:bodyPr wrap="square" anchor="t" lIns="27432" rIns="27432" tIns="13716" bIns="13716">
            <a:noAutofit/>
          </a:bodyPr>
          <a:lstStyle/>
          <a:p>
            <a:pPr algn="ctr">
              <a:spcAft>
                <a:spcPts val="0"/>
              </a:spcAft>
              <a:defRPr sz="1600" b="1">
                <a:solidFill>
                  <a:srgbClr val="0F2234"/>
                </a:solidFill>
                <a:latin typeface="Malgun Gothic"/>
              </a:defRPr>
            </a:pPr>
            <a:r>
              <a:t>raw cycle trace</a:t>
            </a:r>
            <a:br/>
            <a:r>
              <a:t>independent Python</a:t>
            </a:r>
          </a:p>
        </p:txBody>
      </p:sp>
      <p:sp>
        <p:nvSpPr>
          <p:cNvPr id="19" name="Right Arrow 18"/>
          <p:cNvSpPr/>
          <p:nvPr/>
        </p:nvSpPr>
        <p:spPr>
          <a:xfrm>
            <a:off x="8650224" y="1645920"/>
            <a:ext cx="201168" cy="182880"/>
          </a:xfrm>
          <a:prstGeom prst="rightArrow">
            <a:avLst/>
          </a:prstGeom>
          <a:solidFill>
            <a:srgbClr val="4C60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8942832" y="1188720"/>
            <a:ext cx="2414016" cy="1243584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9E9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089136" y="1389888"/>
            <a:ext cx="2121408" cy="164592"/>
          </a:xfrm>
          <a:prstGeom prst="rect">
            <a:avLst/>
          </a:prstGeom>
          <a:noFill/>
        </p:spPr>
        <p:txBody>
          <a:bodyPr wrap="square" anchor="t" lIns="27432" rIns="27432" tIns="13716" bIns="13716">
            <a:noAutofit/>
          </a:bodyPr>
          <a:lstStyle/>
          <a:p>
            <a:pPr algn="ctr">
              <a:spcAft>
                <a:spcPts val="0"/>
              </a:spcAft>
              <a:defRPr sz="1200" b="1">
                <a:solidFill>
                  <a:srgbClr val="009E96"/>
                </a:solidFill>
                <a:latin typeface="Malgun Gothic"/>
              </a:defRPr>
            </a:pPr>
            <a:r>
              <a:t>RESULT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089136" y="1719072"/>
            <a:ext cx="2121408" cy="438912"/>
          </a:xfrm>
          <a:prstGeom prst="rect">
            <a:avLst/>
          </a:prstGeom>
          <a:noFill/>
        </p:spPr>
        <p:txBody>
          <a:bodyPr wrap="square" anchor="t" lIns="27432" rIns="27432" tIns="13716" bIns="13716">
            <a:noAutofit/>
          </a:bodyPr>
          <a:lstStyle/>
          <a:p>
            <a:pPr algn="ctr">
              <a:spcAft>
                <a:spcPts val="0"/>
              </a:spcAft>
              <a:defRPr sz="1600" b="1">
                <a:solidFill>
                  <a:srgbClr val="0F2234"/>
                </a:solidFill>
                <a:latin typeface="Malgun Gothic"/>
              </a:defRPr>
            </a:pPr>
            <a:r>
              <a:t>8,503 / 8,503</a:t>
            </a:r>
            <a:br/>
            <a:r>
              <a:t>PASS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58368" y="2706624"/>
            <a:ext cx="6912864" cy="272491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AE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59536" y="2889504"/>
            <a:ext cx="6510527" cy="182880"/>
          </a:xfrm>
          <a:prstGeom prst="rect">
            <a:avLst/>
          </a:prstGeom>
          <a:noFill/>
        </p:spPr>
        <p:txBody>
          <a:bodyPr wrap="square" anchor="t" lIns="27432" rIns="27432" tIns="13716" bIns="13716">
            <a:noAutofit/>
          </a:bodyPr>
          <a:lstStyle/>
          <a:p>
            <a:pPr algn="l">
              <a:spcAft>
                <a:spcPts val="0"/>
              </a:spcAft>
              <a:defRPr sz="1200" b="1">
                <a:solidFill>
                  <a:srgbClr val="13344F"/>
                </a:solidFill>
                <a:latin typeface="Malgun Gothic"/>
              </a:defRPr>
            </a:pPr>
            <a:r>
              <a:t>ACTUAL RETIRE · CYCLE 4,162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59536" y="3163824"/>
            <a:ext cx="6510527" cy="310896"/>
          </a:xfrm>
          <a:prstGeom prst="rect">
            <a:avLst/>
          </a:prstGeom>
          <a:noFill/>
        </p:spPr>
        <p:txBody>
          <a:bodyPr wrap="square" anchor="t" lIns="27432" rIns="27432" tIns="13716" bIns="13716">
            <a:noAutofit/>
          </a:bodyPr>
          <a:lstStyle/>
          <a:p>
            <a:pPr algn="l">
              <a:spcAft>
                <a:spcPts val="0"/>
              </a:spcAft>
              <a:defRPr sz="2000" b="1">
                <a:solidFill>
                  <a:srgbClr val="0F2234"/>
                </a:solidFill>
                <a:latin typeface="Malgun Gothic"/>
              </a:defRPr>
            </a:pPr>
            <a:r>
              <a:t>두 lane에서 합계 3 events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932688" y="3749039"/>
            <a:ext cx="932688" cy="310896"/>
          </a:xfrm>
          <a:prstGeom prst="round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87552" y="3817620"/>
            <a:ext cx="822960" cy="164592"/>
          </a:xfrm>
          <a:prstGeom prst="rect">
            <a:avLst/>
          </a:prstGeom>
          <a:noFill/>
        </p:spPr>
        <p:txBody>
          <a:bodyPr wrap="square" anchor="t" lIns="27432" rIns="27432" tIns="13716" bIns="13716">
            <a:noAutofit/>
          </a:bodyPr>
          <a:lstStyle/>
          <a:p>
            <a:pPr algn="ctr">
              <a:spcAft>
                <a:spcPts val="0"/>
              </a:spcAft>
              <a:defRPr sz="1200" b="1">
                <a:solidFill>
                  <a:srgbClr val="FFFFFF"/>
                </a:solidFill>
                <a:latin typeface="Malgun Gothic"/>
              </a:defRPr>
            </a:pPr>
            <a:r>
              <a:t>LANE 0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084831" y="3822191"/>
            <a:ext cx="822960" cy="201168"/>
          </a:xfrm>
          <a:prstGeom prst="rect">
            <a:avLst/>
          </a:prstGeom>
          <a:noFill/>
        </p:spPr>
        <p:txBody>
          <a:bodyPr wrap="square" anchor="t" lIns="27432" rIns="27432" tIns="13716" bIns="13716">
            <a:no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0F2234"/>
                </a:solidFill>
                <a:latin typeface="Malgun Gothic"/>
              </a:defRPr>
            </a:pPr>
            <a:r>
              <a:t>row 2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063240" y="3822191"/>
            <a:ext cx="1389888" cy="201168"/>
          </a:xfrm>
          <a:prstGeom prst="rect">
            <a:avLst/>
          </a:prstGeom>
          <a:noFill/>
        </p:spPr>
        <p:txBody>
          <a:bodyPr wrap="square" anchor="t" lIns="27432" rIns="27432" tIns="13716" bIns="13716">
            <a:no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0F2234"/>
                </a:solidFill>
                <a:latin typeface="Malgun Gothic"/>
              </a:defRPr>
            </a:pPr>
            <a:r>
              <a:t>col 0x6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590288" y="3822191"/>
            <a:ext cx="1389888" cy="201168"/>
          </a:xfrm>
          <a:prstGeom prst="rect">
            <a:avLst/>
          </a:prstGeom>
          <a:noFill/>
        </p:spPr>
        <p:txBody>
          <a:bodyPr wrap="square" anchor="t" lIns="27432" rIns="27432" tIns="13716" bIns="13716">
            <a:no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0F2234"/>
                </a:solidFill>
                <a:latin typeface="Malgun Gothic"/>
              </a:defRPr>
            </a:pPr>
            <a:r>
              <a:t>pol 0x0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153912" y="3822191"/>
            <a:ext cx="1078992" cy="201168"/>
          </a:xfrm>
          <a:prstGeom prst="rect">
            <a:avLst/>
          </a:prstGeom>
          <a:noFill/>
        </p:spPr>
        <p:txBody>
          <a:bodyPr wrap="square" anchor="t" lIns="27432" rIns="27432" tIns="13716" bIns="13716">
            <a:noAutofit/>
          </a:bodyPr>
          <a:lstStyle/>
          <a:p>
            <a:pPr algn="r">
              <a:spcAft>
                <a:spcPts val="0"/>
              </a:spcAft>
              <a:defRPr sz="1400" b="1">
                <a:solidFill>
                  <a:srgbClr val="2563EB"/>
                </a:solidFill>
                <a:latin typeface="Malgun Gothic"/>
              </a:defRPr>
            </a:pPr>
            <a:r>
              <a:t>2 events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932688" y="4407407"/>
            <a:ext cx="932688" cy="310896"/>
          </a:xfrm>
          <a:prstGeom prst="roundRect">
            <a:avLst/>
          </a:prstGeom>
          <a:solidFill>
            <a:srgbClr val="009E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987552" y="4475988"/>
            <a:ext cx="822960" cy="164592"/>
          </a:xfrm>
          <a:prstGeom prst="rect">
            <a:avLst/>
          </a:prstGeom>
          <a:noFill/>
        </p:spPr>
        <p:txBody>
          <a:bodyPr wrap="square" anchor="t" lIns="27432" rIns="27432" tIns="13716" bIns="13716">
            <a:noAutofit/>
          </a:bodyPr>
          <a:lstStyle/>
          <a:p>
            <a:pPr algn="ctr">
              <a:spcAft>
                <a:spcPts val="0"/>
              </a:spcAft>
              <a:defRPr sz="1200" b="1">
                <a:solidFill>
                  <a:srgbClr val="FFFFFF"/>
                </a:solidFill>
                <a:latin typeface="Malgun Gothic"/>
              </a:defRPr>
            </a:pPr>
            <a:r>
              <a:t>LANE 1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2084831" y="4480559"/>
            <a:ext cx="822960" cy="201168"/>
          </a:xfrm>
          <a:prstGeom prst="rect">
            <a:avLst/>
          </a:prstGeom>
          <a:noFill/>
        </p:spPr>
        <p:txBody>
          <a:bodyPr wrap="square" anchor="t" lIns="27432" rIns="27432" tIns="13716" bIns="13716">
            <a:no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0F2234"/>
                </a:solidFill>
                <a:latin typeface="Malgun Gothic"/>
              </a:defRPr>
            </a:pPr>
            <a:r>
              <a:t>row 0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063240" y="4480559"/>
            <a:ext cx="1389888" cy="201168"/>
          </a:xfrm>
          <a:prstGeom prst="rect">
            <a:avLst/>
          </a:prstGeom>
          <a:noFill/>
        </p:spPr>
        <p:txBody>
          <a:bodyPr wrap="square" anchor="t" lIns="27432" rIns="27432" tIns="13716" bIns="13716">
            <a:no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0F2234"/>
                </a:solidFill>
                <a:latin typeface="Malgun Gothic"/>
              </a:defRPr>
            </a:pPr>
            <a:r>
              <a:t>col 0x1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590288" y="4480559"/>
            <a:ext cx="1389888" cy="201168"/>
          </a:xfrm>
          <a:prstGeom prst="rect">
            <a:avLst/>
          </a:prstGeom>
          <a:noFill/>
        </p:spPr>
        <p:txBody>
          <a:bodyPr wrap="square" anchor="t" lIns="27432" rIns="27432" tIns="13716" bIns="13716">
            <a:no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0F2234"/>
                </a:solidFill>
                <a:latin typeface="Malgun Gothic"/>
              </a:defRPr>
            </a:pPr>
            <a:r>
              <a:t>pol 0x1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153912" y="4480559"/>
            <a:ext cx="1078992" cy="201168"/>
          </a:xfrm>
          <a:prstGeom prst="rect">
            <a:avLst/>
          </a:prstGeom>
          <a:noFill/>
        </p:spPr>
        <p:txBody>
          <a:bodyPr wrap="square" anchor="t" lIns="27432" rIns="27432" tIns="13716" bIns="13716">
            <a:noAutofit/>
          </a:bodyPr>
          <a:lstStyle/>
          <a:p>
            <a:pPr algn="r">
              <a:spcAft>
                <a:spcPts val="0"/>
              </a:spcAft>
              <a:defRPr sz="1400" b="1">
                <a:solidFill>
                  <a:srgbClr val="009E96"/>
                </a:solidFill>
                <a:latin typeface="Malgun Gothic"/>
              </a:defRPr>
            </a:pPr>
            <a:r>
              <a:t>1 event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7863840" y="2706624"/>
            <a:ext cx="3675887" cy="2724912"/>
          </a:xfrm>
          <a:prstGeom prst="roundRect">
            <a:avLst/>
          </a:prstGeom>
          <a:solidFill>
            <a:srgbClr val="1334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8174736" y="3054096"/>
            <a:ext cx="3054096" cy="182880"/>
          </a:xfrm>
          <a:prstGeom prst="rect">
            <a:avLst/>
          </a:prstGeom>
          <a:noFill/>
        </p:spPr>
        <p:txBody>
          <a:bodyPr wrap="square" anchor="t" lIns="27432" rIns="27432" tIns="13716" bIns="13716">
            <a:noAutofit/>
          </a:bodyPr>
          <a:lstStyle/>
          <a:p>
            <a:pPr algn="ctr">
              <a:spcAft>
                <a:spcPts val="0"/>
              </a:spcAft>
              <a:defRPr sz="1200" b="1">
                <a:solidFill>
                  <a:srgbClr val="BCD6E7"/>
                </a:solidFill>
                <a:latin typeface="Malgun Gothic"/>
              </a:defRPr>
            </a:pPr>
            <a:r>
              <a:t>CONSERVATION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156448" y="3547872"/>
            <a:ext cx="3090672" cy="347472"/>
          </a:xfrm>
          <a:prstGeom prst="rect">
            <a:avLst/>
          </a:prstGeom>
          <a:noFill/>
        </p:spPr>
        <p:txBody>
          <a:bodyPr wrap="square" anchor="t" lIns="27432" rIns="27432" tIns="13716" bIns="13716">
            <a:noAutofit/>
          </a:bodyPr>
          <a:lstStyle/>
          <a:p>
            <a:pPr algn="ctr">
              <a:spcAft>
                <a:spcPts val="0"/>
              </a:spcAft>
              <a:defRPr sz="2200" b="1">
                <a:solidFill>
                  <a:srgbClr val="FFFFFF"/>
                </a:solidFill>
                <a:latin typeface="Malgun Gothic"/>
              </a:defRPr>
            </a:pPr>
            <a:r>
              <a:t>8,503 = 8,503 + 0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156448" y="3950208"/>
            <a:ext cx="3090672" cy="201168"/>
          </a:xfrm>
          <a:prstGeom prst="rect">
            <a:avLst/>
          </a:prstGeom>
          <a:noFill/>
        </p:spPr>
        <p:txBody>
          <a:bodyPr wrap="square" anchor="t" lIns="27432" rIns="27432" tIns="13716" bIns="13716">
            <a:noAutofit/>
          </a:bodyPr>
          <a:lstStyle/>
          <a:p>
            <a:pPr algn="ctr">
              <a:spcAft>
                <a:spcPts val="0"/>
              </a:spcAft>
              <a:defRPr sz="1200" b="0">
                <a:solidFill>
                  <a:srgbClr val="BCD6E7"/>
                </a:solidFill>
                <a:latin typeface="Malgun Gothic"/>
              </a:defRPr>
            </a:pPr>
            <a:r>
              <a:t>generated   delivered   overrun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174736" y="4462272"/>
            <a:ext cx="3054096" cy="530352"/>
          </a:xfrm>
          <a:prstGeom prst="rect">
            <a:avLst/>
          </a:prstGeom>
          <a:noFill/>
        </p:spPr>
        <p:txBody>
          <a:bodyPr wrap="square" anchor="t" lIns="27432" rIns="27432" tIns="13716" bIns="13716">
            <a:noAutofit/>
          </a:bodyPr>
          <a:lstStyle/>
          <a:p>
            <a:pPr algn="ctr">
              <a:spcAft>
                <a:spcPts val="0"/>
              </a:spcAft>
              <a:defRPr sz="1400" b="1">
                <a:solidFill>
                  <a:srgbClr val="009E96"/>
                </a:solidFill>
                <a:latin typeface="Malgun Gothic"/>
              </a:defRPr>
            </a:pPr>
            <a:r>
              <a:t>phantom 0 · duplicate 0</a:t>
            </a:r>
            <a:br/>
            <a:r>
              <a:t>polarity mismatch 0 · drain empty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658368" y="5742432"/>
            <a:ext cx="10881360" cy="566928"/>
          </a:xfrm>
          <a:prstGeom prst="roundRect">
            <a:avLst/>
          </a:prstGeom>
          <a:solidFill>
            <a:srgbClr val="EBF1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658368" y="5742432"/>
            <a:ext cx="91440" cy="566928"/>
          </a:xfrm>
          <a:prstGeom prst="rect">
            <a:avLst/>
          </a:prstGeom>
          <a:solidFill>
            <a:srgbClr val="1334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896112" y="5879592"/>
            <a:ext cx="10405872" cy="256032"/>
          </a:xfrm>
          <a:prstGeom prst="rect">
            <a:avLst/>
          </a:prstGeom>
          <a:noFill/>
        </p:spPr>
        <p:txBody>
          <a:bodyPr wrap="square" anchor="t" lIns="27432" rIns="27432" tIns="13716" bIns="13716">
            <a:noAutofit/>
          </a:bodyPr>
          <a:lstStyle/>
          <a:p>
            <a:pPr algn="ctr">
              <a:spcAft>
                <a:spcPts val="0"/>
              </a:spcAft>
              <a:defRPr sz="1700" b="1">
                <a:solidFill>
                  <a:srgbClr val="13344F"/>
                </a:solidFill>
                <a:latin typeface="Malgun Gothic"/>
              </a:defRPr>
            </a:pPr>
            <a:r>
              <a:t>TB의 PASS 문자열이 아니라 raw ledger를 독립 경로로 재해석했다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66928" y="310896"/>
            <a:ext cx="1143000" cy="310896"/>
          </a:xfrm>
          <a:prstGeom prst="roundRect">
            <a:avLst/>
          </a:prstGeom>
          <a:solidFill>
            <a:srgbClr val="1334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21792" y="379476"/>
            <a:ext cx="1033271" cy="164592"/>
          </a:xfrm>
          <a:prstGeom prst="rect">
            <a:avLst/>
          </a:prstGeom>
          <a:noFill/>
        </p:spPr>
        <p:txBody>
          <a:bodyPr wrap="square" anchor="t" lIns="27432" rIns="27432" tIns="13716" bIns="13716">
            <a:noAutofit/>
          </a:bodyPr>
          <a:lstStyle/>
          <a:p>
            <a:pPr algn="ctr">
              <a:spcAft>
                <a:spcPts val="0"/>
              </a:spcAft>
              <a:defRPr sz="1200" b="1">
                <a:solidFill>
                  <a:srgbClr val="FFFFFF"/>
                </a:solidFill>
                <a:latin typeface="Malgun Gothic"/>
              </a:defRPr>
            </a:pPr>
            <a:r>
              <a:t>04 구현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920240" y="182880"/>
            <a:ext cx="9646920" cy="566928"/>
          </a:xfrm>
          <a:prstGeom prst="rect">
            <a:avLst/>
          </a:prstGeom>
          <a:noFill/>
        </p:spPr>
        <p:txBody>
          <a:bodyPr wrap="square" anchor="t" lIns="27432" rIns="27432" tIns="13716" bIns="13716">
            <a:noAutofit/>
          </a:bodyPr>
          <a:lstStyle/>
          <a:p>
            <a:pPr algn="l">
              <a:spcAft>
                <a:spcPts val="0"/>
              </a:spcAft>
              <a:defRPr sz="3000" b="1">
                <a:solidFill>
                  <a:srgbClr val="0F2234"/>
                </a:solidFill>
                <a:latin typeface="Malgun Gothic"/>
              </a:defRPr>
            </a:pPr>
            <a:r>
              <a:t>최종 top: 285.714 MHz post-route PASS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66928" y="877824"/>
            <a:ext cx="11027664" cy="0"/>
          </a:xfrm>
          <a:prstGeom prst="line">
            <a:avLst/>
          </a:prstGeom>
          <a:ln w="19050">
            <a:solidFill>
              <a:srgbClr val="DAE2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85216" y="6501384"/>
            <a:ext cx="10378440" cy="182880"/>
          </a:xfrm>
          <a:prstGeom prst="rect">
            <a:avLst/>
          </a:prstGeom>
          <a:noFill/>
        </p:spPr>
        <p:txBody>
          <a:bodyPr wrap="square" anchor="t" lIns="27432" rIns="27432" tIns="13716" bIns="13716">
            <a:no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4C6073"/>
                </a:solidFill>
                <a:latin typeface="Malgun Gothic"/>
              </a:defRPr>
            </a:pPr>
            <a:r>
              <a:t>Source: Genus 23.14-s090_1 · Innovus 23.14-s088_1 · GPDK045 slow 0.9 V 125 °C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9376" y="6492240"/>
            <a:ext cx="548640" cy="182880"/>
          </a:xfrm>
          <a:prstGeom prst="rect">
            <a:avLst/>
          </a:prstGeom>
          <a:noFill/>
        </p:spPr>
        <p:txBody>
          <a:bodyPr wrap="square" anchor="t" lIns="27432" rIns="27432" tIns="13716" bIns="13716">
            <a:noAutofit/>
          </a:bodyPr>
          <a:lstStyle/>
          <a:p>
            <a:pPr algn="r">
              <a:spcAft>
                <a:spcPts val="0"/>
              </a:spcAft>
              <a:defRPr sz="1200" b="1">
                <a:solidFill>
                  <a:srgbClr val="13344F"/>
                </a:solidFill>
                <a:latin typeface="Malgun Gothic"/>
              </a:defRPr>
            </a:pPr>
            <a:r>
              <a:t>12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1152144"/>
            <a:ext cx="6995160" cy="290779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AE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536" y="1335024"/>
            <a:ext cx="6592824" cy="182880"/>
          </a:xfrm>
          <a:prstGeom prst="rect">
            <a:avLst/>
          </a:prstGeom>
          <a:noFill/>
        </p:spPr>
        <p:txBody>
          <a:bodyPr wrap="square" anchor="t" lIns="27432" rIns="27432" tIns="13716" bIns="13716">
            <a:noAutofit/>
          </a:bodyPr>
          <a:lstStyle/>
          <a:p>
            <a:pPr algn="l">
              <a:spcAft>
                <a:spcPts val="0"/>
              </a:spcAft>
              <a:defRPr sz="1200" b="1">
                <a:solidFill>
                  <a:srgbClr val="009E96"/>
                </a:solidFill>
                <a:latin typeface="Malgun Gothic"/>
              </a:defRPr>
            </a:pPr>
            <a:r>
              <a:t>POST-ROUTE TIMING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9536" y="1609344"/>
            <a:ext cx="6592824" cy="310896"/>
          </a:xfrm>
          <a:prstGeom prst="rect">
            <a:avLst/>
          </a:prstGeom>
          <a:noFill/>
        </p:spPr>
        <p:txBody>
          <a:bodyPr wrap="square" anchor="t" lIns="27432" rIns="27432" tIns="13716" bIns="13716">
            <a:noAutofit/>
          </a:bodyPr>
          <a:lstStyle/>
          <a:p>
            <a:pPr algn="l">
              <a:spcAft>
                <a:spcPts val="0"/>
              </a:spcAft>
              <a:defRPr sz="2000" b="1">
                <a:solidFill>
                  <a:srgbClr val="0F2234"/>
                </a:solidFill>
                <a:latin typeface="Malgun Gothic"/>
              </a:defRPr>
            </a:pPr>
            <a:r>
              <a:t>fastest tested passing point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1097280" y="3127248"/>
            <a:ext cx="6089904" cy="0"/>
          </a:xfrm>
          <a:prstGeom prst="line">
            <a:avLst/>
          </a:prstGeom>
          <a:ln w="25400">
            <a:solidFill>
              <a:srgbClr val="4C607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ectangle 11"/>
          <p:cNvSpPr/>
          <p:nvPr/>
        </p:nvSpPr>
        <p:spPr>
          <a:xfrm>
            <a:off x="1188720" y="2944368"/>
            <a:ext cx="146304" cy="365760"/>
          </a:xfrm>
          <a:prstGeom prst="rect">
            <a:avLst/>
          </a:prstGeom>
          <a:solidFill>
            <a:srgbClr val="1F93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85800" y="2331720"/>
            <a:ext cx="1152144" cy="219456"/>
          </a:xfrm>
          <a:prstGeom prst="rect">
            <a:avLst/>
          </a:prstGeom>
          <a:noFill/>
        </p:spPr>
        <p:txBody>
          <a:bodyPr wrap="square" anchor="t" lIns="27432" rIns="27432" tIns="13716" bIns="13716">
            <a:noAutofit/>
          </a:bodyPr>
          <a:lstStyle/>
          <a:p>
            <a:pPr algn="ctr">
              <a:spcAft>
                <a:spcPts val="0"/>
              </a:spcAft>
              <a:defRPr sz="1300" b="1">
                <a:solidFill>
                  <a:srgbClr val="0F2234"/>
                </a:solidFill>
                <a:latin typeface="Malgun Gothic"/>
              </a:defRPr>
            </a:pPr>
            <a:r>
              <a:t>200 MHz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2679192"/>
            <a:ext cx="969264" cy="182880"/>
          </a:xfrm>
          <a:prstGeom prst="rect">
            <a:avLst/>
          </a:prstGeom>
          <a:noFill/>
        </p:spPr>
        <p:txBody>
          <a:bodyPr wrap="square" anchor="t" lIns="27432" rIns="27432" tIns="13716" bIns="13716">
            <a:noAutofit/>
          </a:bodyPr>
          <a:lstStyle/>
          <a:p>
            <a:pPr algn="ctr">
              <a:spcAft>
                <a:spcPts val="0"/>
              </a:spcAft>
              <a:defRPr sz="1200" b="1">
                <a:solidFill>
                  <a:srgbClr val="1F935E"/>
                </a:solidFill>
                <a:latin typeface="Malgun Gothic"/>
              </a:defRPr>
            </a:pPr>
            <a:r>
              <a:t>PASS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063240" y="2944368"/>
            <a:ext cx="146304" cy="365760"/>
          </a:xfrm>
          <a:prstGeom prst="rect">
            <a:avLst/>
          </a:prstGeom>
          <a:solidFill>
            <a:srgbClr val="1F93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560320" y="2331720"/>
            <a:ext cx="1152144" cy="219456"/>
          </a:xfrm>
          <a:prstGeom prst="rect">
            <a:avLst/>
          </a:prstGeom>
          <a:noFill/>
        </p:spPr>
        <p:txBody>
          <a:bodyPr wrap="square" anchor="t" lIns="27432" rIns="27432" tIns="13716" bIns="13716">
            <a:noAutofit/>
          </a:bodyPr>
          <a:lstStyle/>
          <a:p>
            <a:pPr algn="ctr">
              <a:spcAft>
                <a:spcPts val="0"/>
              </a:spcAft>
              <a:defRPr sz="1300" b="1">
                <a:solidFill>
                  <a:srgbClr val="0F2234"/>
                </a:solidFill>
                <a:latin typeface="Malgun Gothic"/>
              </a:defRPr>
            </a:pPr>
            <a:r>
              <a:t>250 MHz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651760" y="2679192"/>
            <a:ext cx="969264" cy="182880"/>
          </a:xfrm>
          <a:prstGeom prst="rect">
            <a:avLst/>
          </a:prstGeom>
          <a:noFill/>
        </p:spPr>
        <p:txBody>
          <a:bodyPr wrap="square" anchor="t" lIns="27432" rIns="27432" tIns="13716" bIns="13716">
            <a:noAutofit/>
          </a:bodyPr>
          <a:lstStyle/>
          <a:p>
            <a:pPr algn="ctr">
              <a:spcAft>
                <a:spcPts val="0"/>
              </a:spcAft>
              <a:defRPr sz="1200" b="1">
                <a:solidFill>
                  <a:srgbClr val="1F935E"/>
                </a:solidFill>
                <a:latin typeface="Malgun Gothic"/>
              </a:defRPr>
            </a:pPr>
            <a:r>
              <a:t>PASS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956048" y="2944368"/>
            <a:ext cx="146304" cy="365760"/>
          </a:xfrm>
          <a:prstGeom prst="rect">
            <a:avLst/>
          </a:prstGeom>
          <a:solidFill>
            <a:srgbClr val="009E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453128" y="2331720"/>
            <a:ext cx="1152144" cy="219456"/>
          </a:xfrm>
          <a:prstGeom prst="rect">
            <a:avLst/>
          </a:prstGeom>
          <a:noFill/>
        </p:spPr>
        <p:txBody>
          <a:bodyPr wrap="square" anchor="t" lIns="27432" rIns="27432" tIns="13716" bIns="13716">
            <a:noAutofit/>
          </a:bodyPr>
          <a:lstStyle/>
          <a:p>
            <a:pPr algn="ctr">
              <a:spcAft>
                <a:spcPts val="0"/>
              </a:spcAft>
              <a:defRPr sz="1300" b="1">
                <a:solidFill>
                  <a:srgbClr val="0F2234"/>
                </a:solidFill>
                <a:latin typeface="Malgun Gothic"/>
              </a:defRPr>
            </a:pPr>
            <a:r>
              <a:t>285.714 MHz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44568" y="2679192"/>
            <a:ext cx="969264" cy="182880"/>
          </a:xfrm>
          <a:prstGeom prst="rect">
            <a:avLst/>
          </a:prstGeom>
          <a:noFill/>
        </p:spPr>
        <p:txBody>
          <a:bodyPr wrap="square" anchor="t" lIns="27432" rIns="27432" tIns="13716" bIns="13716">
            <a:noAutofit/>
          </a:bodyPr>
          <a:lstStyle/>
          <a:p>
            <a:pPr algn="ctr">
              <a:spcAft>
                <a:spcPts val="0"/>
              </a:spcAft>
              <a:defRPr sz="1200" b="1">
                <a:solidFill>
                  <a:srgbClr val="009E96"/>
                </a:solidFill>
                <a:latin typeface="Malgun Gothic"/>
              </a:defRPr>
            </a:pPr>
            <a:r>
              <a:t>PASS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821424" y="2944368"/>
            <a:ext cx="146304" cy="365760"/>
          </a:xfrm>
          <a:prstGeom prst="rect">
            <a:avLst/>
          </a:prstGeom>
          <a:solidFill>
            <a:srgbClr val="D23A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318504" y="2331720"/>
            <a:ext cx="1152144" cy="219456"/>
          </a:xfrm>
          <a:prstGeom prst="rect">
            <a:avLst/>
          </a:prstGeom>
          <a:noFill/>
        </p:spPr>
        <p:txBody>
          <a:bodyPr wrap="square" anchor="t" lIns="27432" rIns="27432" tIns="13716" bIns="13716">
            <a:noAutofit/>
          </a:bodyPr>
          <a:lstStyle/>
          <a:p>
            <a:pPr algn="ctr">
              <a:spcAft>
                <a:spcPts val="0"/>
              </a:spcAft>
              <a:defRPr sz="1300" b="1">
                <a:solidFill>
                  <a:srgbClr val="0F2234"/>
                </a:solidFill>
                <a:latin typeface="Malgun Gothic"/>
              </a:defRPr>
            </a:pPr>
            <a:r>
              <a:t>333.333 MHz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09944" y="2679192"/>
            <a:ext cx="969264" cy="182880"/>
          </a:xfrm>
          <a:prstGeom prst="rect">
            <a:avLst/>
          </a:prstGeom>
          <a:noFill/>
        </p:spPr>
        <p:txBody>
          <a:bodyPr wrap="square" anchor="t" lIns="27432" rIns="27432" tIns="13716" bIns="13716">
            <a:noAutofit/>
          </a:bodyPr>
          <a:lstStyle/>
          <a:p>
            <a:pPr algn="ctr">
              <a:spcAft>
                <a:spcPts val="0"/>
              </a:spcAft>
              <a:defRPr sz="1200" b="1">
                <a:solidFill>
                  <a:srgbClr val="D23A46"/>
                </a:solidFill>
                <a:latin typeface="Malgun Gothic"/>
              </a:defRPr>
            </a:pPr>
            <a:r>
              <a:t>FAIL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42415" y="3447288"/>
            <a:ext cx="6272784" cy="256032"/>
          </a:xfrm>
          <a:prstGeom prst="rect">
            <a:avLst/>
          </a:prstGeom>
          <a:noFill/>
        </p:spPr>
        <p:txBody>
          <a:bodyPr wrap="square" anchor="t" lIns="27432" rIns="27432" tIns="13716" bIns="13716">
            <a:no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009E96"/>
                </a:solidFill>
                <a:latin typeface="Malgun Gothic"/>
              </a:defRPr>
            </a:pPr>
            <a:r>
              <a:t>285.714 MHz: setup +0.454 ns · hold +0.167 ns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936992" y="1152144"/>
            <a:ext cx="3602736" cy="13441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AE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193024" y="1417320"/>
            <a:ext cx="932688" cy="182880"/>
          </a:xfrm>
          <a:prstGeom prst="rect">
            <a:avLst/>
          </a:prstGeom>
          <a:noFill/>
        </p:spPr>
        <p:txBody>
          <a:bodyPr wrap="square" anchor="t" lIns="27432" rIns="27432" tIns="13716" bIns="13716">
            <a:noAutofit/>
          </a:bodyPr>
          <a:lstStyle/>
          <a:p>
            <a:pPr algn="l">
              <a:spcAft>
                <a:spcPts val="0"/>
              </a:spcAft>
              <a:defRPr sz="1200" b="1">
                <a:solidFill>
                  <a:srgbClr val="E68414"/>
                </a:solidFill>
                <a:latin typeface="Malgun Gothic"/>
              </a:defRPr>
            </a:pPr>
            <a:r>
              <a:t>AREA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193024" y="1764792"/>
            <a:ext cx="2322576" cy="329184"/>
          </a:xfrm>
          <a:prstGeom prst="rect">
            <a:avLst/>
          </a:prstGeom>
          <a:noFill/>
        </p:spPr>
        <p:txBody>
          <a:bodyPr wrap="square" anchor="t" lIns="27432" rIns="27432" tIns="13716" bIns="13716">
            <a:noAutofit/>
          </a:bodyPr>
          <a:lstStyle/>
          <a:p>
            <a:pPr algn="l">
              <a:spcAft>
                <a:spcPts val="0"/>
              </a:spcAft>
              <a:defRPr sz="2200" b="1">
                <a:solidFill>
                  <a:srgbClr val="0F2234"/>
                </a:solidFill>
                <a:latin typeface="Malgun Gothic"/>
              </a:defRPr>
            </a:pPr>
            <a:r>
              <a:t>1254.114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193024" y="2139696"/>
            <a:ext cx="2743200" cy="182880"/>
          </a:xfrm>
          <a:prstGeom prst="rect">
            <a:avLst/>
          </a:prstGeom>
          <a:noFill/>
        </p:spPr>
        <p:txBody>
          <a:bodyPr wrap="square" anchor="t" lIns="27432" rIns="27432" tIns="13716" bIns="13716">
            <a:no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4C6073"/>
                </a:solidFill>
                <a:latin typeface="Malgun Gothic"/>
              </a:defRPr>
            </a:pPr>
            <a:r>
              <a:t>596 instances · raw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7936992" y="2715768"/>
            <a:ext cx="3602736" cy="13441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AE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193024" y="2980944"/>
            <a:ext cx="932688" cy="182880"/>
          </a:xfrm>
          <a:prstGeom prst="rect">
            <a:avLst/>
          </a:prstGeom>
          <a:noFill/>
        </p:spPr>
        <p:txBody>
          <a:bodyPr wrap="square" anchor="t" lIns="27432" rIns="27432" tIns="13716" bIns="13716">
            <a:noAutofit/>
          </a:bodyPr>
          <a:lstStyle/>
          <a:p>
            <a:pPr algn="l">
              <a:spcAft>
                <a:spcPts val="0"/>
              </a:spcAft>
              <a:defRPr sz="1200" b="1">
                <a:solidFill>
                  <a:srgbClr val="7C4AB8"/>
                </a:solidFill>
                <a:latin typeface="Malgun Gothic"/>
              </a:defRPr>
            </a:pPr>
            <a:r>
              <a:t>POWER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193024" y="3328416"/>
            <a:ext cx="2322576" cy="329184"/>
          </a:xfrm>
          <a:prstGeom prst="rect">
            <a:avLst/>
          </a:prstGeom>
          <a:noFill/>
        </p:spPr>
        <p:txBody>
          <a:bodyPr wrap="square" anchor="t" lIns="27432" rIns="27432" tIns="13716" bIns="13716">
            <a:noAutofit/>
          </a:bodyPr>
          <a:lstStyle/>
          <a:p>
            <a:pPr algn="l">
              <a:spcAft>
                <a:spcPts val="0"/>
              </a:spcAft>
              <a:defRPr sz="2200" b="1">
                <a:solidFill>
                  <a:srgbClr val="0F2234"/>
                </a:solidFill>
                <a:latin typeface="Malgun Gothic"/>
              </a:defRPr>
            </a:pPr>
            <a:r>
              <a:t>0.1074 mW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193024" y="3703320"/>
            <a:ext cx="2743200" cy="182880"/>
          </a:xfrm>
          <a:prstGeom prst="rect">
            <a:avLst/>
          </a:prstGeom>
          <a:noFill/>
        </p:spPr>
        <p:txBody>
          <a:bodyPr wrap="square" anchor="t" lIns="27432" rIns="27432" tIns="13716" bIns="13716">
            <a:no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4C6073"/>
                </a:solidFill>
                <a:latin typeface="Malgun Gothic"/>
              </a:defRPr>
            </a:pPr>
            <a:r>
              <a:t>vectorless · activity 0.2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658368" y="4352544"/>
            <a:ext cx="10881360" cy="1005840"/>
          </a:xfrm>
          <a:prstGeom prst="roundRect">
            <a:avLst/>
          </a:prstGeom>
          <a:solidFill>
            <a:srgbClr val="EBF1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914400" y="4553712"/>
            <a:ext cx="1572768" cy="182880"/>
          </a:xfrm>
          <a:prstGeom prst="rect">
            <a:avLst/>
          </a:prstGeom>
          <a:noFill/>
        </p:spPr>
        <p:txBody>
          <a:bodyPr wrap="square" anchor="t" lIns="27432" rIns="27432" tIns="13716" bIns="13716">
            <a:noAutofit/>
          </a:bodyPr>
          <a:lstStyle/>
          <a:p>
            <a:pPr algn="l">
              <a:spcAft>
                <a:spcPts val="0"/>
              </a:spcAft>
              <a:defRPr sz="1200" b="1">
                <a:solidFill>
                  <a:srgbClr val="13344F"/>
                </a:solidFill>
                <a:latin typeface="Malgun Gothic"/>
              </a:defRPr>
            </a:pPr>
            <a:r>
              <a:t>EVIDENCE BOUNDARY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2596896" y="4526280"/>
            <a:ext cx="8650224" cy="384048"/>
          </a:xfrm>
          <a:prstGeom prst="rect">
            <a:avLst/>
          </a:prstGeom>
          <a:noFill/>
        </p:spPr>
        <p:txBody>
          <a:bodyPr wrap="square" anchor="t" lIns="27432" rIns="27432" tIns="13716" bIns="13716">
            <a:noAutofit/>
          </a:bodyPr>
          <a:lstStyle/>
          <a:p>
            <a:pPr algn="ctr">
              <a:spcAft>
                <a:spcPts val="0"/>
              </a:spcAft>
              <a:defRPr sz="1400" b="1">
                <a:solidFill>
                  <a:srgbClr val="4C6073"/>
                </a:solidFill>
                <a:latin typeface="Malgun Gothic"/>
              </a:defRPr>
            </a:pPr>
            <a:r>
              <a:t>fastest tested PASS ≠ exact Fmax · area unit 미기재 · vectorless power ≠ workload signoff power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596896" y="4983480"/>
            <a:ext cx="8650224" cy="201168"/>
          </a:xfrm>
          <a:prstGeom prst="rect">
            <a:avLst/>
          </a:prstGeom>
          <a:noFill/>
        </p:spPr>
        <p:txBody>
          <a:bodyPr wrap="square" anchor="t" lIns="27432" rIns="27432" tIns="13716" bIns="13716">
            <a:noAutofit/>
          </a:bodyPr>
          <a:lstStyle/>
          <a:p>
            <a:pPr algn="ctr">
              <a:spcAft>
                <a:spcPts val="0"/>
              </a:spcAft>
              <a:defRPr sz="1300" b="1">
                <a:solidFill>
                  <a:srgbClr val="1F935E"/>
                </a:solidFill>
                <a:latin typeface="Malgun Gothic"/>
              </a:defRPr>
            </a:pPr>
            <a:r>
              <a:t>internal DRC 0 · antenna 0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658368" y="5742432"/>
            <a:ext cx="10881360" cy="566928"/>
          </a:xfrm>
          <a:prstGeom prst="roundRect">
            <a:avLst/>
          </a:prstGeom>
          <a:solidFill>
            <a:srgbClr val="EBF1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658368" y="5742432"/>
            <a:ext cx="91440" cy="566928"/>
          </a:xfrm>
          <a:prstGeom prst="rect">
            <a:avLst/>
          </a:prstGeom>
          <a:solidFill>
            <a:srgbClr val="1334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896112" y="5879592"/>
            <a:ext cx="10405872" cy="256032"/>
          </a:xfrm>
          <a:prstGeom prst="rect">
            <a:avLst/>
          </a:prstGeom>
          <a:noFill/>
        </p:spPr>
        <p:txBody>
          <a:bodyPr wrap="square" anchor="t" lIns="27432" rIns="27432" tIns="13716" bIns="13716">
            <a:noAutofit/>
          </a:bodyPr>
          <a:lstStyle/>
          <a:p>
            <a:pPr algn="ctr">
              <a:spcAft>
                <a:spcPts val="0"/>
              </a:spcAft>
              <a:defRPr sz="1700" b="1">
                <a:solidFill>
                  <a:srgbClr val="13344F"/>
                </a:solidFill>
                <a:latin typeface="Malgun Gothic"/>
              </a:defRPr>
            </a:pPr>
            <a:r>
              <a:t>1차 제출 범위: 동작 RTL + tested timing/area/power — signoff 과장은 하지 않는다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66928" y="310896"/>
            <a:ext cx="1143000" cy="310896"/>
          </a:xfrm>
          <a:prstGeom prst="roundRect">
            <a:avLst/>
          </a:prstGeom>
          <a:solidFill>
            <a:srgbClr val="1334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21792" y="379476"/>
            <a:ext cx="1033271" cy="164592"/>
          </a:xfrm>
          <a:prstGeom prst="rect">
            <a:avLst/>
          </a:prstGeom>
          <a:noFill/>
        </p:spPr>
        <p:txBody>
          <a:bodyPr wrap="square" anchor="t" lIns="27432" rIns="27432" tIns="13716" bIns="13716">
            <a:noAutofit/>
          </a:bodyPr>
          <a:lstStyle/>
          <a:p>
            <a:pPr algn="ctr">
              <a:spcAft>
                <a:spcPts val="0"/>
              </a:spcAft>
              <a:defRPr sz="1200" b="1">
                <a:solidFill>
                  <a:srgbClr val="FFFFFF"/>
                </a:solidFill>
                <a:latin typeface="Malgun Gothic"/>
              </a:defRPr>
            </a:pPr>
            <a:r>
              <a:t>05 확장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920240" y="182880"/>
            <a:ext cx="9646920" cy="566928"/>
          </a:xfrm>
          <a:prstGeom prst="rect">
            <a:avLst/>
          </a:prstGeom>
          <a:noFill/>
        </p:spPr>
        <p:txBody>
          <a:bodyPr wrap="square" anchor="t" lIns="27432" rIns="27432" tIns="13716" bIns="13716">
            <a:noAutofit/>
          </a:bodyPr>
          <a:lstStyle/>
          <a:p>
            <a:pPr algn="l">
              <a:spcAft>
                <a:spcPts val="0"/>
              </a:spcAft>
              <a:defRPr sz="3000" b="1">
                <a:solidFill>
                  <a:srgbClr val="0F2234"/>
                </a:solidFill>
                <a:latin typeface="Malgun Gothic"/>
              </a:defRPr>
            </a:pPr>
            <a:r>
              <a:t>CAV 확장 경로: 8,503 events 전수 분기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66928" y="877824"/>
            <a:ext cx="11027664" cy="0"/>
          </a:xfrm>
          <a:prstGeom prst="line">
            <a:avLst/>
          </a:prstGeom>
          <a:ln w="19050">
            <a:solidFill>
              <a:srgbClr val="DAE2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85216" y="6501384"/>
            <a:ext cx="10378440" cy="182880"/>
          </a:xfrm>
          <a:prstGeom prst="rect">
            <a:avLst/>
          </a:prstGeom>
          <a:noFill/>
        </p:spPr>
        <p:txBody>
          <a:bodyPr wrap="square" anchor="t" lIns="27432" rIns="27432" tIns="13716" bIns="13716">
            <a:no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4C6073"/>
                </a:solidFill>
                <a:latin typeface="Malgun Gothic"/>
              </a:defRPr>
            </a:pPr>
            <a:r>
              <a:t>Source: sealed legacy address-only CAV software path · separate from final polarity RTL/PPA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9376" y="6492240"/>
            <a:ext cx="548640" cy="182880"/>
          </a:xfrm>
          <a:prstGeom prst="rect">
            <a:avLst/>
          </a:prstGeom>
          <a:noFill/>
        </p:spPr>
        <p:txBody>
          <a:bodyPr wrap="square" anchor="t" lIns="27432" rIns="27432" tIns="13716" bIns="13716">
            <a:noAutofit/>
          </a:bodyPr>
          <a:lstStyle/>
          <a:p>
            <a:pPr algn="r">
              <a:spcAft>
                <a:spcPts val="0"/>
              </a:spcAft>
              <a:defRPr sz="1200" b="1">
                <a:solidFill>
                  <a:srgbClr val="13344F"/>
                </a:solidFill>
                <a:latin typeface="Malgun Gothic"/>
              </a:defRPr>
            </a:pPr>
            <a:r>
              <a:t>12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1152144"/>
            <a:ext cx="2788920" cy="1207008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41247" y="1435608"/>
            <a:ext cx="2423160" cy="201168"/>
          </a:xfrm>
          <a:prstGeom prst="rect">
            <a:avLst/>
          </a:prstGeom>
          <a:noFill/>
        </p:spPr>
        <p:txBody>
          <a:bodyPr wrap="square" anchor="t" lIns="27432" rIns="27432" tIns="13716" bIns="13716">
            <a:noAutofit/>
          </a:bodyPr>
          <a:lstStyle/>
          <a:p>
            <a:pPr algn="ctr">
              <a:spcAft>
                <a:spcPts val="0"/>
              </a:spcAft>
              <a:defRPr sz="1200" b="1">
                <a:solidFill>
                  <a:srgbClr val="2563EB"/>
                </a:solidFill>
                <a:latin typeface="Malgun Gothic"/>
              </a:defRPr>
            </a:pPr>
            <a:r>
              <a:t>UZH EVENTS + POSE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41247" y="1810512"/>
            <a:ext cx="2423160" cy="256032"/>
          </a:xfrm>
          <a:prstGeom prst="rect">
            <a:avLst/>
          </a:prstGeom>
          <a:noFill/>
        </p:spPr>
        <p:txBody>
          <a:bodyPr wrap="square" anchor="t" lIns="27432" rIns="27432" tIns="13716" bIns="13716">
            <a:noAutofit/>
          </a:bodyPr>
          <a:lstStyle/>
          <a:p>
            <a:pPr algn="ctr">
              <a:spcAft>
                <a:spcPts val="0"/>
              </a:spcAft>
              <a:defRPr sz="1600" b="1">
                <a:solidFill>
                  <a:srgbClr val="0F2234"/>
                </a:solidFill>
                <a:latin typeface="Malgun Gothic"/>
              </a:defRPr>
            </a:pPr>
            <a:r>
              <a:t>8,503 occurrences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3630168" y="1609344"/>
            <a:ext cx="402336" cy="237744"/>
          </a:xfrm>
          <a:prstGeom prst="rightArrow">
            <a:avLst/>
          </a:prstGeom>
          <a:solidFill>
            <a:srgbClr val="4C60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251960" y="1152144"/>
            <a:ext cx="3255264" cy="1207008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7C4A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434840" y="1435608"/>
            <a:ext cx="2889504" cy="201168"/>
          </a:xfrm>
          <a:prstGeom prst="rect">
            <a:avLst/>
          </a:prstGeom>
          <a:noFill/>
        </p:spPr>
        <p:txBody>
          <a:bodyPr wrap="square" anchor="t" lIns="27432" rIns="27432" tIns="13716" bIns="13716">
            <a:noAutofit/>
          </a:bodyPr>
          <a:lstStyle/>
          <a:p>
            <a:pPr algn="ctr">
              <a:spcAft>
                <a:spcPts val="0"/>
              </a:spcAft>
              <a:defRPr sz="1200" b="1">
                <a:solidFill>
                  <a:srgbClr val="7C4AB8"/>
                </a:solidFill>
                <a:latin typeface="Malgun Gothic"/>
              </a:defRPr>
            </a:pPr>
            <a:r>
              <a:t>IDENTITY JOIN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34840" y="1810512"/>
            <a:ext cx="2889504" cy="256032"/>
          </a:xfrm>
          <a:prstGeom prst="rect">
            <a:avLst/>
          </a:prstGeom>
          <a:noFill/>
        </p:spPr>
        <p:txBody>
          <a:bodyPr wrap="square" anchor="t" lIns="27432" rIns="27432" tIns="13716" bIns="13716">
            <a:noAutofit/>
          </a:bodyPr>
          <a:lstStyle/>
          <a:p>
            <a:pPr algn="ctr">
              <a:spcAft>
                <a:spcPts val="0"/>
              </a:spcAft>
              <a:defRPr sz="1600" b="1">
                <a:solidFill>
                  <a:srgbClr val="0F2234"/>
                </a:solidFill>
                <a:latin typeface="Malgun Gothic"/>
              </a:defRPr>
            </a:pPr>
            <a:r>
              <a:t>8,503 / 8,503</a:t>
            </a:r>
          </a:p>
        </p:txBody>
      </p:sp>
      <p:sp>
        <p:nvSpPr>
          <p:cNvPr id="15" name="Right Arrow 14"/>
          <p:cNvSpPr/>
          <p:nvPr/>
        </p:nvSpPr>
        <p:spPr>
          <a:xfrm>
            <a:off x="7690104" y="1609344"/>
            <a:ext cx="402336" cy="237744"/>
          </a:xfrm>
          <a:prstGeom prst="rightArrow">
            <a:avLst/>
          </a:prstGeom>
          <a:solidFill>
            <a:srgbClr val="4C60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8302752" y="1152144"/>
            <a:ext cx="3236976" cy="1207008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9E9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485632" y="1435608"/>
            <a:ext cx="2871216" cy="201168"/>
          </a:xfrm>
          <a:prstGeom prst="rect">
            <a:avLst/>
          </a:prstGeom>
          <a:noFill/>
        </p:spPr>
        <p:txBody>
          <a:bodyPr wrap="square" anchor="t" lIns="27432" rIns="27432" tIns="13716" bIns="13716">
            <a:noAutofit/>
          </a:bodyPr>
          <a:lstStyle/>
          <a:p>
            <a:pPr algn="ctr">
              <a:spcAft>
                <a:spcPts val="0"/>
              </a:spcAft>
              <a:defRPr sz="1200" b="1">
                <a:solidFill>
                  <a:srgbClr val="009E96"/>
                </a:solidFill>
                <a:latin typeface="Malgun Gothic"/>
              </a:defRPr>
            </a:pPr>
            <a:r>
              <a:t>CAUSAL-CAV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485632" y="1810512"/>
            <a:ext cx="2871216" cy="256032"/>
          </a:xfrm>
          <a:prstGeom prst="rect">
            <a:avLst/>
          </a:prstGeom>
          <a:noFill/>
        </p:spPr>
        <p:txBody>
          <a:bodyPr wrap="square" anchor="t" lIns="27432" rIns="27432" tIns="13716" bIns="13716">
            <a:noAutofit/>
          </a:bodyPr>
          <a:lstStyle/>
          <a:p>
            <a:pPr algn="ctr">
              <a:spcAft>
                <a:spcPts val="0"/>
              </a:spcAft>
              <a:defRPr sz="1600" b="1">
                <a:solidFill>
                  <a:srgbClr val="0F2234"/>
                </a:solidFill>
                <a:latin typeface="Malgun Gothic"/>
              </a:defRPr>
            </a:pPr>
            <a:r>
              <a:t>occurrence-time geometry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9921240" y="2377440"/>
            <a:ext cx="0" cy="530352"/>
          </a:xfrm>
          <a:prstGeom prst="line">
            <a:avLst/>
          </a:prstGeom>
          <a:ln w="25400">
            <a:solidFill>
              <a:srgbClr val="009E9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6675120" y="2907792"/>
            <a:ext cx="3950208" cy="0"/>
          </a:xfrm>
          <a:prstGeom prst="line">
            <a:avLst/>
          </a:prstGeom>
          <a:ln w="25400">
            <a:solidFill>
              <a:srgbClr val="009E9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6675120" y="2907792"/>
            <a:ext cx="0" cy="274320"/>
          </a:xfrm>
          <a:prstGeom prst="line">
            <a:avLst/>
          </a:prstGeom>
          <a:ln w="25400">
            <a:solidFill>
              <a:srgbClr val="009E9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10625328" y="2907792"/>
            <a:ext cx="0" cy="274320"/>
          </a:xfrm>
          <a:prstGeom prst="line">
            <a:avLst/>
          </a:prstGeom>
          <a:ln w="25400">
            <a:solidFill>
              <a:srgbClr val="009E9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Rounded Rectangle 22"/>
          <p:cNvSpPr/>
          <p:nvPr/>
        </p:nvSpPr>
        <p:spPr>
          <a:xfrm>
            <a:off x="658368" y="3163824"/>
            <a:ext cx="4059936" cy="1408176"/>
          </a:xfrm>
          <a:prstGeom prst="roundRect">
            <a:avLst/>
          </a:prstGeom>
          <a:solidFill>
            <a:srgbClr val="FEE9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14400" y="3456432"/>
            <a:ext cx="3547872" cy="201168"/>
          </a:xfrm>
          <a:prstGeom prst="rect">
            <a:avLst/>
          </a:prstGeom>
          <a:noFill/>
        </p:spPr>
        <p:txBody>
          <a:bodyPr wrap="square" anchor="t" lIns="27432" rIns="27432" tIns="13716" bIns="13716">
            <a:noAutofit/>
          </a:bodyPr>
          <a:lstStyle/>
          <a:p>
            <a:pPr algn="ctr">
              <a:spcAft>
                <a:spcPts val="0"/>
              </a:spcAft>
              <a:defRPr sz="1200" b="1">
                <a:solidFill>
                  <a:srgbClr val="D23A46"/>
                </a:solidFill>
                <a:latin typeface="Malgun Gothic"/>
              </a:defRPr>
            </a:pPr>
            <a:r>
              <a:t>현재 증거 범위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14400" y="3813048"/>
            <a:ext cx="3547872" cy="237744"/>
          </a:xfrm>
          <a:prstGeom prst="rect">
            <a:avLst/>
          </a:prstGeom>
          <a:noFill/>
        </p:spPr>
        <p:txBody>
          <a:bodyPr wrap="square" anchor="t" lIns="27432" rIns="27432" tIns="13716" bIns="13716">
            <a:noAutofit/>
          </a:bodyPr>
          <a:lstStyle/>
          <a:p>
            <a:pPr algn="ctr">
              <a:spcAft>
                <a:spcPts val="0"/>
              </a:spcAft>
              <a:defRPr sz="1700" b="1">
                <a:solidFill>
                  <a:srgbClr val="0F2234"/>
                </a:solidFill>
                <a:latin typeface="Malgun Gothic"/>
              </a:defRPr>
            </a:pPr>
            <a:r>
              <a:t>software feasibility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4400" y="4169663"/>
            <a:ext cx="3547872" cy="201168"/>
          </a:xfrm>
          <a:prstGeom prst="rect">
            <a:avLst/>
          </a:prstGeom>
          <a:noFill/>
        </p:spPr>
        <p:txBody>
          <a:bodyPr wrap="square" anchor="t" lIns="27432" rIns="27432" tIns="13716" bIns="13716">
            <a:noAutofit/>
          </a:bodyPr>
          <a:lstStyle/>
          <a:p>
            <a:pPr algn="ctr">
              <a:spcAft>
                <a:spcPts val="0"/>
              </a:spcAft>
              <a:defRPr sz="1300" b="1">
                <a:solidFill>
                  <a:srgbClr val="D23A46"/>
                </a:solidFill>
                <a:latin typeface="Malgun Gothic"/>
              </a:defRPr>
            </a:pPr>
            <a:r>
              <a:t>polarity→CAV RTL/PPA는 HOLD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157216" y="3163824"/>
            <a:ext cx="3035808" cy="1408176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1F93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413248" y="3456432"/>
            <a:ext cx="2523744" cy="201168"/>
          </a:xfrm>
          <a:prstGeom prst="rect">
            <a:avLst/>
          </a:prstGeom>
          <a:noFill/>
        </p:spPr>
        <p:txBody>
          <a:bodyPr wrap="square" anchor="t" lIns="27432" rIns="27432" tIns="13716" bIns="13716">
            <a:noAutofit/>
          </a:bodyPr>
          <a:lstStyle/>
          <a:p>
            <a:pPr algn="ctr">
              <a:spcAft>
                <a:spcPts val="0"/>
              </a:spcAft>
              <a:defRPr sz="1200" b="1">
                <a:solidFill>
                  <a:srgbClr val="1F935E"/>
                </a:solidFill>
                <a:latin typeface="Malgun Gothic"/>
              </a:defRPr>
            </a:pPr>
            <a:r>
              <a:t>WORLD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413248" y="3813048"/>
            <a:ext cx="2523744" cy="237744"/>
          </a:xfrm>
          <a:prstGeom prst="rect">
            <a:avLst/>
          </a:prstGeom>
          <a:noFill/>
        </p:spPr>
        <p:txBody>
          <a:bodyPr wrap="square" anchor="t" lIns="27432" rIns="27432" tIns="13716" bIns="13716">
            <a:noAutofit/>
          </a:bodyPr>
          <a:lstStyle/>
          <a:p>
            <a:pPr algn="ctr">
              <a:spcAft>
                <a:spcPts val="0"/>
              </a:spcAft>
              <a:defRPr sz="1700" b="1">
                <a:solidFill>
                  <a:srgbClr val="0F2234"/>
                </a:solidFill>
                <a:latin typeface="Malgun Gothic"/>
              </a:defRPr>
            </a:pPr>
            <a:r>
              <a:t>8,420 events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413248" y="4169663"/>
            <a:ext cx="2523744" cy="201168"/>
          </a:xfrm>
          <a:prstGeom prst="rect">
            <a:avLst/>
          </a:prstGeom>
          <a:noFill/>
        </p:spPr>
        <p:txBody>
          <a:bodyPr wrap="square" anchor="t" lIns="27432" rIns="27432" tIns="13716" bIns="13716">
            <a:noAutofit/>
          </a:bodyPr>
          <a:lstStyle/>
          <a:p>
            <a:pPr algn="ctr">
              <a:spcAft>
                <a:spcPts val="0"/>
              </a:spcAft>
              <a:defRPr sz="1300" b="1">
                <a:solidFill>
                  <a:srgbClr val="4C6073"/>
                </a:solidFill>
                <a:latin typeface="Malgun Gothic"/>
              </a:defRPr>
            </a:pPr>
            <a:r>
              <a:t>821 grid cells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9070848" y="3163824"/>
            <a:ext cx="2468880" cy="1408176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6841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326880" y="3456432"/>
            <a:ext cx="1956816" cy="201168"/>
          </a:xfrm>
          <a:prstGeom prst="rect">
            <a:avLst/>
          </a:prstGeom>
          <a:noFill/>
        </p:spPr>
        <p:txBody>
          <a:bodyPr wrap="square" anchor="t" lIns="27432" rIns="27432" tIns="13716" bIns="13716">
            <a:noAutofit/>
          </a:bodyPr>
          <a:lstStyle/>
          <a:p>
            <a:pPr algn="ctr">
              <a:spcAft>
                <a:spcPts val="0"/>
              </a:spcAft>
              <a:defRPr sz="1200" b="1">
                <a:solidFill>
                  <a:srgbClr val="E68414"/>
                </a:solidFill>
                <a:latin typeface="Malgun Gothic"/>
              </a:defRPr>
            </a:pPr>
            <a:r>
              <a:t>SENSOR_FIXED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326880" y="3813048"/>
            <a:ext cx="1956816" cy="237744"/>
          </a:xfrm>
          <a:prstGeom prst="rect">
            <a:avLst/>
          </a:prstGeom>
          <a:noFill/>
        </p:spPr>
        <p:txBody>
          <a:bodyPr wrap="square" anchor="t" lIns="27432" rIns="27432" tIns="13716" bIns="13716">
            <a:noAutofit/>
          </a:bodyPr>
          <a:lstStyle/>
          <a:p>
            <a:pPr algn="ctr">
              <a:spcAft>
                <a:spcPts val="0"/>
              </a:spcAft>
              <a:defRPr sz="1700" b="1">
                <a:solidFill>
                  <a:srgbClr val="0F2234"/>
                </a:solidFill>
                <a:latin typeface="Malgun Gothic"/>
              </a:defRPr>
            </a:pPr>
            <a:r>
              <a:t>83 bypass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58368" y="5742432"/>
            <a:ext cx="10881360" cy="566928"/>
          </a:xfrm>
          <a:prstGeom prst="roundRect">
            <a:avLst/>
          </a:prstGeom>
          <a:solidFill>
            <a:srgbClr val="EBF1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658368" y="5742432"/>
            <a:ext cx="91440" cy="566928"/>
          </a:xfrm>
          <a:prstGeom prst="rect">
            <a:avLst/>
          </a:prstGeom>
          <a:solidFill>
            <a:srgbClr val="7C4A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96112" y="5879592"/>
            <a:ext cx="10405872" cy="256032"/>
          </a:xfrm>
          <a:prstGeom prst="rect">
            <a:avLst/>
          </a:prstGeom>
          <a:noFill/>
        </p:spPr>
        <p:txBody>
          <a:bodyPr wrap="square" anchor="t" lIns="27432" rIns="27432" tIns="13716" bIns="13716">
            <a:noAutofit/>
          </a:bodyPr>
          <a:lstStyle/>
          <a:p>
            <a:pPr algn="ctr">
              <a:spcAft>
                <a:spcPts val="0"/>
              </a:spcAft>
              <a:defRPr sz="1700" b="1">
                <a:solidFill>
                  <a:srgbClr val="7C4AB8"/>
                </a:solidFill>
                <a:latin typeface="Malgun Gothic"/>
              </a:defRPr>
            </a:pPr>
            <a:r>
              <a:t>확장 경로는 확인했지만 final polarity proof chain과 섞지 않았다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66928" y="310896"/>
            <a:ext cx="1143000" cy="310896"/>
          </a:xfrm>
          <a:prstGeom prst="roundRect">
            <a:avLst/>
          </a:prstGeom>
          <a:solidFill>
            <a:srgbClr val="1334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21792" y="379476"/>
            <a:ext cx="1033271" cy="164592"/>
          </a:xfrm>
          <a:prstGeom prst="rect">
            <a:avLst/>
          </a:prstGeom>
          <a:noFill/>
        </p:spPr>
        <p:txBody>
          <a:bodyPr wrap="square" anchor="t" lIns="27432" rIns="27432" tIns="13716" bIns="13716">
            <a:noAutofit/>
          </a:bodyPr>
          <a:lstStyle/>
          <a:p>
            <a:pPr algn="ctr">
              <a:spcAft>
                <a:spcPts val="0"/>
              </a:spcAft>
              <a:defRPr sz="1200" b="1">
                <a:solidFill>
                  <a:srgbClr val="FFFFFF"/>
                </a:solidFill>
                <a:latin typeface="Malgun Gothic"/>
              </a:defRPr>
            </a:pPr>
            <a:r>
              <a:t>06 결론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920240" y="182880"/>
            <a:ext cx="9646920" cy="566928"/>
          </a:xfrm>
          <a:prstGeom prst="rect">
            <a:avLst/>
          </a:prstGeom>
          <a:noFill/>
        </p:spPr>
        <p:txBody>
          <a:bodyPr wrap="square" anchor="t" lIns="27432" rIns="27432" tIns="13716" bIns="13716">
            <a:noAutofit/>
          </a:bodyPr>
          <a:lstStyle/>
          <a:p>
            <a:pPr algn="l">
              <a:spcAft>
                <a:spcPts val="0"/>
              </a:spcAft>
              <a:defRPr sz="3000" b="1">
                <a:solidFill>
                  <a:srgbClr val="0F2234"/>
                </a:solidFill>
                <a:latin typeface="Malgun Gothic"/>
              </a:defRPr>
            </a:pPr>
            <a:r>
              <a:t>1차 성과 세 가지와 2차 검증 세 가지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66928" y="877824"/>
            <a:ext cx="11027664" cy="0"/>
          </a:xfrm>
          <a:prstGeom prst="line">
            <a:avLst/>
          </a:prstGeom>
          <a:ln w="19050">
            <a:solidFill>
              <a:srgbClr val="DAE2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85216" y="6501384"/>
            <a:ext cx="10378440" cy="182880"/>
          </a:xfrm>
          <a:prstGeom prst="rect">
            <a:avLst/>
          </a:prstGeom>
          <a:noFill/>
        </p:spPr>
        <p:txBody>
          <a:bodyPr wrap="square" anchor="t" lIns="27432" rIns="27432" tIns="13716" bIns="13716">
            <a:no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4C6073"/>
                </a:solidFill>
                <a:latin typeface="Malgun Gothic"/>
              </a:defRPr>
            </a:pPr>
            <a:r>
              <a:t>Evidence: full50 family diagnostic · final UZH polarity replay · tested physical flow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9376" y="6492240"/>
            <a:ext cx="548640" cy="182880"/>
          </a:xfrm>
          <a:prstGeom prst="rect">
            <a:avLst/>
          </a:prstGeom>
          <a:noFill/>
        </p:spPr>
        <p:txBody>
          <a:bodyPr wrap="square" anchor="t" lIns="27432" rIns="27432" tIns="13716" bIns="13716">
            <a:noAutofit/>
          </a:bodyPr>
          <a:lstStyle/>
          <a:p>
            <a:pPr algn="r">
              <a:spcAft>
                <a:spcPts val="0"/>
              </a:spcAft>
              <a:defRPr sz="1200" b="1">
                <a:solidFill>
                  <a:srgbClr val="13344F"/>
                </a:solidFill>
                <a:latin typeface="Malgun Gothic"/>
              </a:defRPr>
            </a:pPr>
            <a:r>
              <a:t>12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1170432"/>
            <a:ext cx="3401568" cy="1874519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9E9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877824" y="1408176"/>
            <a:ext cx="1243584" cy="310896"/>
          </a:xfrm>
          <a:prstGeom prst="roundRect">
            <a:avLst/>
          </a:prstGeom>
          <a:solidFill>
            <a:srgbClr val="009E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32688" y="1476756"/>
            <a:ext cx="1133856" cy="164592"/>
          </a:xfrm>
          <a:prstGeom prst="rect">
            <a:avLst/>
          </a:prstGeom>
          <a:noFill/>
        </p:spPr>
        <p:txBody>
          <a:bodyPr wrap="square" anchor="t" lIns="27432" rIns="27432" tIns="13716" bIns="13716">
            <a:noAutofit/>
          </a:bodyPr>
          <a:lstStyle/>
          <a:p>
            <a:pPr algn="ctr">
              <a:spcAft>
                <a:spcPts val="0"/>
              </a:spcAft>
              <a:defRPr sz="1200" b="1">
                <a:solidFill>
                  <a:srgbClr val="FFFFFF"/>
                </a:solidFill>
                <a:latin typeface="Malgun Gothic"/>
              </a:defRPr>
            </a:pPr>
            <a:r>
              <a:t>LOSS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77824" y="1901952"/>
            <a:ext cx="2962656" cy="402336"/>
          </a:xfrm>
          <a:prstGeom prst="rect">
            <a:avLst/>
          </a:prstGeom>
          <a:noFill/>
        </p:spPr>
        <p:txBody>
          <a:bodyPr wrap="square" anchor="t" lIns="27432" rIns="27432" tIns="13716" bIns="13716">
            <a:noAutofit/>
          </a:bodyPr>
          <a:lstStyle/>
          <a:p>
            <a:pPr algn="ctr">
              <a:spcAft>
                <a:spcPts val="0"/>
              </a:spcAft>
              <a:defRPr sz="2500" b="1">
                <a:solidFill>
                  <a:srgbClr val="009E96"/>
                </a:solidFill>
                <a:latin typeface="Malgun Gothic"/>
              </a:defRPr>
            </a:pPr>
            <a:r>
              <a:t>−95.9%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77824" y="2487168"/>
            <a:ext cx="2962656" cy="256032"/>
          </a:xfrm>
          <a:prstGeom prst="rect">
            <a:avLst/>
          </a:prstGeom>
          <a:noFill/>
        </p:spPr>
        <p:txBody>
          <a:bodyPr wrap="square" anchor="t" lIns="27432" rIns="27432" tIns="13716" bIns="13716">
            <a:noAutofit/>
          </a:bodyPr>
          <a:lstStyle/>
          <a:p>
            <a:pPr algn="ctr">
              <a:spcAft>
                <a:spcPts val="0"/>
              </a:spcAft>
              <a:defRPr sz="1300" b="1">
                <a:solidFill>
                  <a:srgbClr val="4C6073"/>
                </a:solidFill>
                <a:latin typeface="Malgun Gothic"/>
              </a:defRPr>
            </a:pPr>
            <a:r>
              <a:t>base Cluster2 → steal_buf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334255" y="1170432"/>
            <a:ext cx="3401568" cy="1874519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553712" y="1408176"/>
            <a:ext cx="1243584" cy="310896"/>
          </a:xfrm>
          <a:prstGeom prst="round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608575" y="1476756"/>
            <a:ext cx="1133856" cy="164592"/>
          </a:xfrm>
          <a:prstGeom prst="rect">
            <a:avLst/>
          </a:prstGeom>
          <a:noFill/>
        </p:spPr>
        <p:txBody>
          <a:bodyPr wrap="square" anchor="t" lIns="27432" rIns="27432" tIns="13716" bIns="13716">
            <a:noAutofit/>
          </a:bodyPr>
          <a:lstStyle/>
          <a:p>
            <a:pPr algn="ctr">
              <a:spcAft>
                <a:spcPts val="0"/>
              </a:spcAft>
              <a:defRPr sz="1200" b="1">
                <a:solidFill>
                  <a:srgbClr val="FFFFFF"/>
                </a:solidFill>
                <a:latin typeface="Malgun Gothic"/>
              </a:defRPr>
            </a:pPr>
            <a:r>
              <a:t>MEANING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53712" y="1901952"/>
            <a:ext cx="2962656" cy="402336"/>
          </a:xfrm>
          <a:prstGeom prst="rect">
            <a:avLst/>
          </a:prstGeom>
          <a:noFill/>
        </p:spPr>
        <p:txBody>
          <a:bodyPr wrap="square" anchor="t" lIns="27432" rIns="27432" tIns="13716" bIns="13716">
            <a:noAutofit/>
          </a:bodyPr>
          <a:lstStyle/>
          <a:p>
            <a:pPr algn="ctr">
              <a:spcAft>
                <a:spcPts val="0"/>
              </a:spcAft>
              <a:defRPr sz="2500" b="1">
                <a:solidFill>
                  <a:srgbClr val="2563EB"/>
                </a:solidFill>
                <a:latin typeface="Malgun Gothic"/>
              </a:defRPr>
            </a:pPr>
            <a:r>
              <a:t>8,503 / 8,503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53712" y="2487168"/>
            <a:ext cx="2962656" cy="256032"/>
          </a:xfrm>
          <a:prstGeom prst="rect">
            <a:avLst/>
          </a:prstGeom>
          <a:noFill/>
        </p:spPr>
        <p:txBody>
          <a:bodyPr wrap="square" anchor="t" lIns="27432" rIns="27432" tIns="13716" bIns="13716">
            <a:noAutofit/>
          </a:bodyPr>
          <a:lstStyle/>
          <a:p>
            <a:pPr algn="ctr">
              <a:spcAft>
                <a:spcPts val="0"/>
              </a:spcAft>
              <a:defRPr sz="1300" b="1">
                <a:solidFill>
                  <a:srgbClr val="4C6073"/>
                </a:solidFill>
                <a:latin typeface="Malgun Gothic"/>
              </a:defRPr>
            </a:pPr>
            <a:r>
              <a:t>polarity mismatch 0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010144" y="1170432"/>
            <a:ext cx="3401568" cy="1874519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6841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8229600" y="1408176"/>
            <a:ext cx="1243584" cy="310896"/>
          </a:xfrm>
          <a:prstGeom prst="roundRect">
            <a:avLst/>
          </a:prstGeom>
          <a:solidFill>
            <a:srgbClr val="E684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284464" y="1476756"/>
            <a:ext cx="1133856" cy="164592"/>
          </a:xfrm>
          <a:prstGeom prst="rect">
            <a:avLst/>
          </a:prstGeom>
          <a:noFill/>
        </p:spPr>
        <p:txBody>
          <a:bodyPr wrap="square" anchor="t" lIns="27432" rIns="27432" tIns="13716" bIns="13716">
            <a:noAutofit/>
          </a:bodyPr>
          <a:lstStyle/>
          <a:p>
            <a:pPr algn="ctr">
              <a:spcAft>
                <a:spcPts val="0"/>
              </a:spcAft>
              <a:defRPr sz="1200" b="1">
                <a:solidFill>
                  <a:srgbClr val="FFFFFF"/>
                </a:solidFill>
                <a:latin typeface="Malgun Gothic"/>
              </a:defRPr>
            </a:pPr>
            <a:r>
              <a:t>IMPLEMENT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29600" y="1901952"/>
            <a:ext cx="2962656" cy="402336"/>
          </a:xfrm>
          <a:prstGeom prst="rect">
            <a:avLst/>
          </a:prstGeom>
          <a:noFill/>
        </p:spPr>
        <p:txBody>
          <a:bodyPr wrap="square" anchor="t" lIns="27432" rIns="27432" tIns="13716" bIns="13716">
            <a:noAutofit/>
          </a:bodyPr>
          <a:lstStyle/>
          <a:p>
            <a:pPr algn="ctr">
              <a:spcAft>
                <a:spcPts val="0"/>
              </a:spcAft>
              <a:defRPr sz="2500" b="1">
                <a:solidFill>
                  <a:srgbClr val="E68414"/>
                </a:solidFill>
                <a:latin typeface="Malgun Gothic"/>
              </a:defRPr>
            </a:pPr>
            <a:r>
              <a:t>285.714 MHz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29600" y="2487168"/>
            <a:ext cx="2962656" cy="256032"/>
          </a:xfrm>
          <a:prstGeom prst="rect">
            <a:avLst/>
          </a:prstGeom>
          <a:noFill/>
        </p:spPr>
        <p:txBody>
          <a:bodyPr wrap="square" anchor="t" lIns="27432" rIns="27432" tIns="13716" bIns="13716">
            <a:noAutofit/>
          </a:bodyPr>
          <a:lstStyle/>
          <a:p>
            <a:pPr algn="ctr">
              <a:spcAft>
                <a:spcPts val="0"/>
              </a:spcAft>
              <a:defRPr sz="1300" b="1">
                <a:solidFill>
                  <a:srgbClr val="4C6073"/>
                </a:solidFill>
                <a:latin typeface="Malgun Gothic"/>
              </a:defRPr>
            </a:pPr>
            <a:r>
              <a:t>fastest tested PASS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4944" y="3456432"/>
            <a:ext cx="1316736" cy="274320"/>
          </a:xfrm>
          <a:prstGeom prst="rect">
            <a:avLst/>
          </a:prstGeom>
          <a:noFill/>
        </p:spPr>
        <p:txBody>
          <a:bodyPr wrap="square" anchor="t" lIns="27432" rIns="27432" tIns="13716" bIns="13716">
            <a:no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13344F"/>
                </a:solidFill>
                <a:latin typeface="Malgun Gothic"/>
              </a:defRPr>
            </a:pPr>
            <a:r>
              <a:t>2차 과제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58368" y="3858768"/>
            <a:ext cx="3401568" cy="1261872"/>
          </a:xfrm>
          <a:prstGeom prst="roundRect">
            <a:avLst/>
          </a:prstGeom>
          <a:solidFill>
            <a:srgbClr val="EBF1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841247" y="4096512"/>
            <a:ext cx="475488" cy="310896"/>
          </a:xfrm>
          <a:prstGeom prst="roundRect">
            <a:avLst/>
          </a:prstGeom>
          <a:solidFill>
            <a:srgbClr val="E684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96112" y="4165092"/>
            <a:ext cx="365760" cy="164592"/>
          </a:xfrm>
          <a:prstGeom prst="rect">
            <a:avLst/>
          </a:prstGeom>
          <a:noFill/>
        </p:spPr>
        <p:txBody>
          <a:bodyPr wrap="square" anchor="t" lIns="27432" rIns="27432" tIns="13716" bIns="13716">
            <a:noAutofit/>
          </a:bodyPr>
          <a:lstStyle/>
          <a:p>
            <a:pPr algn="ctr">
              <a:spcAft>
                <a:spcPts val="0"/>
              </a:spcAft>
              <a:defRPr sz="1200" b="1">
                <a:solidFill>
                  <a:srgbClr val="FFFFFF"/>
                </a:solidFill>
                <a:latin typeface="Malgun Gothic"/>
              </a:defRPr>
            </a:pPr>
            <a:r>
              <a:t>01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463040" y="4096512"/>
            <a:ext cx="713232" cy="201168"/>
          </a:xfrm>
          <a:prstGeom prst="rect">
            <a:avLst/>
          </a:prstGeom>
          <a:noFill/>
        </p:spPr>
        <p:txBody>
          <a:bodyPr wrap="square" anchor="t" lIns="27432" rIns="27432" tIns="13716" bIns="13716">
            <a:no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E68414"/>
                </a:solidFill>
                <a:latin typeface="Malgun Gothic"/>
              </a:defRPr>
            </a:pPr>
            <a:r>
              <a:t>LINK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463040" y="4453128"/>
            <a:ext cx="2340864" cy="384048"/>
          </a:xfrm>
          <a:prstGeom prst="rect">
            <a:avLst/>
          </a:prstGeom>
          <a:noFill/>
        </p:spPr>
        <p:txBody>
          <a:bodyPr wrap="square" anchor="t" lIns="27432" rIns="27432" tIns="13716" bIns="13716">
            <a:no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0F2234"/>
                </a:solidFill>
                <a:latin typeface="Malgun Gothic"/>
              </a:defRPr>
            </a:pPr>
            <a:r>
              <a:t>repeat-flag + polarity grammar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334255" y="3858768"/>
            <a:ext cx="3401568" cy="1261872"/>
          </a:xfrm>
          <a:prstGeom prst="roundRect">
            <a:avLst/>
          </a:prstGeom>
          <a:solidFill>
            <a:srgbClr val="EBF1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4517136" y="4096512"/>
            <a:ext cx="475488" cy="310896"/>
          </a:xfrm>
          <a:prstGeom prst="roundRect">
            <a:avLst/>
          </a:prstGeom>
          <a:solidFill>
            <a:srgbClr val="7C4A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571999" y="4165092"/>
            <a:ext cx="365760" cy="164592"/>
          </a:xfrm>
          <a:prstGeom prst="rect">
            <a:avLst/>
          </a:prstGeom>
          <a:noFill/>
        </p:spPr>
        <p:txBody>
          <a:bodyPr wrap="square" anchor="t" lIns="27432" rIns="27432" tIns="13716" bIns="13716">
            <a:noAutofit/>
          </a:bodyPr>
          <a:lstStyle/>
          <a:p>
            <a:pPr algn="ctr">
              <a:spcAft>
                <a:spcPts val="0"/>
              </a:spcAft>
              <a:defRPr sz="1200" b="1">
                <a:solidFill>
                  <a:srgbClr val="FFFFFF"/>
                </a:solidFill>
                <a:latin typeface="Malgun Gothic"/>
              </a:defRPr>
            </a:pPr>
            <a:r>
              <a:t>02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138927" y="4096512"/>
            <a:ext cx="713232" cy="201168"/>
          </a:xfrm>
          <a:prstGeom prst="rect">
            <a:avLst/>
          </a:prstGeom>
          <a:noFill/>
        </p:spPr>
        <p:txBody>
          <a:bodyPr wrap="square" anchor="t" lIns="27432" rIns="27432" tIns="13716" bIns="13716">
            <a:no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7C4AB8"/>
                </a:solidFill>
                <a:latin typeface="Malgun Gothic"/>
              </a:defRPr>
            </a:pPr>
            <a:r>
              <a:t>CAV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138927" y="4453128"/>
            <a:ext cx="2340864" cy="384048"/>
          </a:xfrm>
          <a:prstGeom prst="rect">
            <a:avLst/>
          </a:prstGeom>
          <a:noFill/>
        </p:spPr>
        <p:txBody>
          <a:bodyPr wrap="square" anchor="t" lIns="27432" rIns="27432" tIns="13716" bIns="13716">
            <a:no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0F2234"/>
                </a:solidFill>
                <a:latin typeface="Malgun Gothic"/>
              </a:defRPr>
            </a:pPr>
            <a:r>
              <a:t>source timestamp + full replay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8010144" y="3858768"/>
            <a:ext cx="3401568" cy="1261872"/>
          </a:xfrm>
          <a:prstGeom prst="roundRect">
            <a:avLst/>
          </a:prstGeom>
          <a:solidFill>
            <a:srgbClr val="EBF1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8193023" y="4096512"/>
            <a:ext cx="475488" cy="310896"/>
          </a:xfrm>
          <a:prstGeom prst="roundRect">
            <a:avLst/>
          </a:prstGeom>
          <a:solidFill>
            <a:srgbClr val="009E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247888" y="4165092"/>
            <a:ext cx="365760" cy="164592"/>
          </a:xfrm>
          <a:prstGeom prst="rect">
            <a:avLst/>
          </a:prstGeom>
          <a:noFill/>
        </p:spPr>
        <p:txBody>
          <a:bodyPr wrap="square" anchor="t" lIns="27432" rIns="27432" tIns="13716" bIns="13716">
            <a:noAutofit/>
          </a:bodyPr>
          <a:lstStyle/>
          <a:p>
            <a:pPr algn="ctr">
              <a:spcAft>
                <a:spcPts val="0"/>
              </a:spcAft>
              <a:defRPr sz="1200" b="1">
                <a:solidFill>
                  <a:srgbClr val="FFFFFF"/>
                </a:solidFill>
                <a:latin typeface="Malgun Gothic"/>
              </a:defRPr>
            </a:pPr>
            <a:r>
              <a:t>03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814816" y="4096512"/>
            <a:ext cx="713232" cy="201168"/>
          </a:xfrm>
          <a:prstGeom prst="rect">
            <a:avLst/>
          </a:prstGeom>
          <a:noFill/>
        </p:spPr>
        <p:txBody>
          <a:bodyPr wrap="square" anchor="t" lIns="27432" rIns="27432" tIns="13716" bIns="13716">
            <a:no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009E96"/>
                </a:solidFill>
                <a:latin typeface="Malgun Gothic"/>
              </a:defRPr>
            </a:pPr>
            <a:r>
              <a:t>PPA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814816" y="4453128"/>
            <a:ext cx="2340864" cy="384048"/>
          </a:xfrm>
          <a:prstGeom prst="rect">
            <a:avLst/>
          </a:prstGeom>
          <a:noFill/>
        </p:spPr>
        <p:txBody>
          <a:bodyPr wrap="square" anchor="t" lIns="27432" rIns="27432" tIns="13716" bIns="13716">
            <a:no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0F2234"/>
                </a:solidFill>
                <a:latin typeface="Malgun Gothic"/>
              </a:defRPr>
            </a:pPr>
            <a:r>
              <a:t>activity power + exact Fmax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658368" y="5742432"/>
            <a:ext cx="10881360" cy="566928"/>
          </a:xfrm>
          <a:prstGeom prst="roundRect">
            <a:avLst/>
          </a:prstGeom>
          <a:solidFill>
            <a:srgbClr val="EBF1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658368" y="5742432"/>
            <a:ext cx="91440" cy="566928"/>
          </a:xfrm>
          <a:prstGeom prst="rect">
            <a:avLst/>
          </a:prstGeom>
          <a:solidFill>
            <a:srgbClr val="1334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96112" y="5879592"/>
            <a:ext cx="10405872" cy="256032"/>
          </a:xfrm>
          <a:prstGeom prst="rect">
            <a:avLst/>
          </a:prstGeom>
          <a:noFill/>
        </p:spPr>
        <p:txBody>
          <a:bodyPr wrap="square" anchor="t" lIns="27432" rIns="27432" tIns="13716" bIns="13716">
            <a:noAutofit/>
          </a:bodyPr>
          <a:lstStyle/>
          <a:p>
            <a:pPr algn="ctr">
              <a:spcAft>
                <a:spcPts val="0"/>
              </a:spcAft>
              <a:defRPr sz="1700" b="1">
                <a:solidFill>
                  <a:srgbClr val="13344F"/>
                </a:solidFill>
                <a:latin typeface="Malgun Gothic"/>
              </a:defRPr>
            </a:pPr>
            <a:r>
              <a:t>Cluster2 위에 depth-2·steal·polarity를 통합해 손실과 의미를 함께 다뤘다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Cluster2 Steal-Buffer Polarity AER</dc:title>
  <dc:subject>Ground-up bottleneck, architecture, evidence, physical implementation, and CAV extension</dc:subject>
  <dc:creator>AI-semi team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