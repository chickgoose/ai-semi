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713232"/>
            <a:ext cx="1078992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3600" b="1">
                <a:solidFill>
                  <a:srgbClr val="F6F9FC"/>
                </a:solidFill>
                <a:latin typeface="Malgun Gothic"/>
              </a:defRPr>
            </a:pPr>
            <a:r>
              <a:t>AER의 네 병목을 네 구조로 완화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490472"/>
            <a:ext cx="100584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900" b="1">
                <a:solidFill>
                  <a:srgbClr val="2AD3CD"/>
                </a:solidFill>
                <a:latin typeface="Malgun Gothic"/>
              </a:defRPr>
            </a:pPr>
            <a:r>
              <a:t>Cluster2 Steal-Buffer Polarity AER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331720"/>
            <a:ext cx="2834640" cy="141732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2560320"/>
            <a:ext cx="64008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889504"/>
            <a:ext cx="2331720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FF6376"/>
                </a:solidFill>
                <a:latin typeface="Malgun Gothic"/>
              </a:defRPr>
            </a:pPr>
            <a:r>
              <a:t>4 bottlenecks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3087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2148840"/>
            <a:ext cx="3246120" cy="17830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2441448"/>
            <a:ext cx="26974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4 RTL IDEAS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2770632"/>
            <a:ext cx="2761488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FIFO · bitmap</a:t>
            </a:r>
            <a:br/>
            <a:r>
              <a:t>steal · polarity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2331720"/>
            <a:ext cx="1600200" cy="141732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8944" y="2560320"/>
            <a:ext cx="120700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071627"/>
                </a:solidFill>
                <a:latin typeface="Malgun Gothic"/>
              </a:defRPr>
            </a:pPr>
            <a:r>
              <a:t>최종 RTL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02368" y="2852928"/>
            <a:ext cx="128016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071627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38944" y="3364992"/>
            <a:ext cx="1207008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무손실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ACC2D6"/>
                </a:solidFill>
                <a:latin typeface="Malgun Gothic"/>
              </a:defRPr>
            </a:pPr>
            <a:r>
              <a:t>병목 정의  ·  구조 아이디어  ·  개선 수치  ·  물리 구현  ·  CAV 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63640"/>
            <a:ext cx="102412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2026-08-28  |  Xcelium · Genus · Innovus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우리 AER이 겨냥한 병목은 네 가지다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final polarity RTL contract and bottleneck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70432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35331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6376"/>
                </a:solidFill>
                <a:latin typeface="Malgun Gothic"/>
              </a:defRPr>
            </a:pPr>
            <a:r>
              <a:t>① 출력 직렬화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여러 source가 동시에 발생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67712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한 cycle에 1 event만 retire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170432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35331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② SOURCE 재발생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773936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grant 전에 같은 source 재발생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67712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local full → overrun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310128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3493008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B27EFF"/>
                </a:solidFill>
                <a:latin typeface="Malgun Gothic"/>
              </a:defRPr>
            </a:pPr>
            <a:r>
              <a:t>③ TRAFFIC 불균형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391363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center 또는 peripheral에 집중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407408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고정 lane이 놀며 처리력 낭비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310128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493008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4793FF"/>
                </a:solidFill>
                <a:latin typeface="Malgun Gothic"/>
              </a:defRPr>
            </a:pPr>
            <a:r>
              <a:t>④ POLARITY 정렬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91363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주소와 polarity의 저장·pop 분리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407408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event 의미 mismatch 위험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대역폭 · buffer · 자원 활용 · metadata 정렬이 서로 다른 병목으로 연결된다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우리 AER이 겨냥한 병목은 네 가지다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① 출력 직렬화가 ② source-local overrun으로 이어진다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recovered scalar Fovea Xcelium full50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20116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19072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157984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80160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19072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57984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19072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57984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1993392"/>
            <a:ext cx="640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FFB74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75887" y="1325880"/>
            <a:ext cx="2834640" cy="1874519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1627632"/>
            <a:ext cx="233172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공유 arbitration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103120"/>
            <a:ext cx="205740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0">
                <a:solidFill>
                  <a:srgbClr val="ACC2D6"/>
                </a:solidFill>
                <a:latin typeface="Malgun Gothic"/>
              </a:defRPr>
            </a:pPr>
            <a:r>
              <a:t>여러 event가</a:t>
            </a:r>
            <a:br/>
            <a:r>
              <a:t>하나의 출력 순서를 기다림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1993392"/>
            <a:ext cx="640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FF637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71231" y="1325880"/>
            <a:ext cx="3611880" cy="1874519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82127" y="1664208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FF6376"/>
                </a:solidFill>
                <a:latin typeface="Malgun Gothic"/>
              </a:defRPr>
            </a:pPr>
            <a:r>
              <a:t>1 EVENT / 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31720"/>
            <a:ext cx="310896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대기 누적  →  source-local overrun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3730752"/>
            <a:ext cx="3218688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858768"/>
            <a:ext cx="288950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169664"/>
            <a:ext cx="288950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400" b="1">
                <a:solidFill>
                  <a:srgbClr val="FFB746"/>
                </a:solidFill>
                <a:latin typeface="Malgun Gothic"/>
              </a:defRPr>
            </a:pPr>
            <a:r>
              <a:t>78,229 / 106,416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45152"/>
            <a:ext cx="28895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73.51%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53128" y="3730752"/>
            <a:ext cx="2743200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858768"/>
            <a:ext cx="241401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169664"/>
            <a:ext cx="241401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800" b="1">
                <a:solidFill>
                  <a:srgbClr val="FF63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4645152"/>
            <a:ext cx="241401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full50 baseline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3730752"/>
            <a:ext cx="3493008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5552" y="3858768"/>
            <a:ext cx="316382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THROUGHPUT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45552" y="4169664"/>
            <a:ext cx="316382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700" b="1">
                <a:solidFill>
                  <a:srgbClr val="FF6376"/>
                </a:solidFill>
                <a:latin typeface="Malgun Gothic"/>
              </a:defRPr>
            </a:pPr>
            <a:r>
              <a:t>0.673901 EPC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45552" y="4645152"/>
            <a:ext cx="316382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fixed-window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발생률이 서비스율을 넘는 순간, scalar 출력이 손실의 원인이 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① 출력 직렬화가 ② source-local overrun으로 이어진다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final polarity RTL SHA-256 20d601a9…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115568"/>
            <a:ext cx="19659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ACC2D6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48256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70432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48256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70432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09344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48256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70432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09344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48256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80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3008" y="1325880"/>
            <a:ext cx="2423160" cy="214884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1664208"/>
            <a:ext cx="1956816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SOURCE-LOCAL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2057400"/>
            <a:ext cx="195681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16 × depth-2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2596896"/>
            <a:ext cx="20116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0">
                <a:solidFill>
                  <a:srgbClr val="ACC2D6"/>
                </a:solidFill>
                <a:latin typeface="Malgun Gothic"/>
              </a:defRPr>
            </a:pPr>
            <a:r>
              <a:t>event + polarity FIFO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109728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9752" y="135331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2AD3CD"/>
                </a:solidFill>
                <a:latin typeface="Malgun Gothic"/>
              </a:defRPr>
            </a:pPr>
            <a:r>
              <a:t>CENTER 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4" y="172821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260604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86207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PERIPH. ROW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7184" y="323697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37CD85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9800" y="1325880"/>
            <a:ext cx="1554480" cy="214884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1645920"/>
            <a:ext cx="10972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071627"/>
                </a:solidFill>
                <a:latin typeface="Malgun Gothic"/>
              </a:defRPr>
            </a:pPr>
            <a:r>
              <a:t>최대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0112" y="1965960"/>
            <a:ext cx="1133856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200" b="1">
                <a:solidFill>
                  <a:srgbClr val="071627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76104" y="2816352"/>
            <a:ext cx="126187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events/cycle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34440" y="4315968"/>
            <a:ext cx="9738360" cy="74980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17904" y="4498848"/>
            <a:ext cx="9171432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출력  =  row  +  col_mask[3:0]  +  pol_mask[3:0]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핵심 변화: event를 하나씩 고르지 않고, 선택된 row를 bitmap으로 묶어 보낸다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각 병목에 대응하는 RTL 해법이 다르다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polarity RTL lines 33–153 · arbiter2/arbiter4_tree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033271"/>
            <a:ext cx="2606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병목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1033271"/>
            <a:ext cx="3822191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RTL 해법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033271"/>
            <a:ext cx="290779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직접 효과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1389888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572768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6376"/>
                </a:solidFill>
                <a:latin typeface="Malgun Gothic"/>
              </a:defRPr>
            </a:pPr>
            <a:r>
              <a:t>① 1-event/cycle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1536192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1389888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952" y="1572768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ROW BITMAP × 2 LANES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36192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389888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1572768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6376"/>
                </a:solidFill>
                <a:latin typeface="Malgun Gothic"/>
              </a:defRPr>
            </a:pPr>
            <a:r>
              <a:t>최대 8 events/cycle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414016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2596896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②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560320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5072" y="2414016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2596896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DEPTH-2 /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560320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2414016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596896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두 번째 event 흡수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438144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3621024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③ class 쏠림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3584448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5072" y="3438144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7952" y="3621024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CONDITIONAL LANE STEAL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584448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3438144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3621024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idle 처리력 재사용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462272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45152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④ addr–pol 분리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008" y="4608576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05072" y="4462272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87952" y="4645152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POLARITY LOCKSTEP FIFO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608576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84464" y="4462272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49056" y="4645152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한 가지 큰 개선이 아니라, 네 병목을 네 메커니즘으로 각각 완화했다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각 병목에 대응하는 RTL 해법이 다르다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대역폭·overflow 병목은 수치로 개선됐다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recovered Xcelium full50 · scalar Fovea vs original Cluster2 architecture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389888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2848" y="1143000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1271016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1527048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B746"/>
                </a:solidFill>
                <a:latin typeface="Malgun Gothic"/>
              </a:defRPr>
            </a:pPr>
            <a:r>
              <a:t>78,229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362456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34456" y="1143000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7336" y="1271016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1527048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37CD85"/>
                </a:solidFill>
                <a:latin typeface="Malgun Gothic"/>
              </a:defRPr>
            </a:pPr>
            <a:r>
              <a:t>94,157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1143000"/>
            <a:ext cx="2194560" cy="89611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417320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12848" y="2542032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5728" y="2670048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5728" y="2926080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63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2761488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34456" y="2542032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670048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17336" y="2926080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37CD85"/>
                </a:solidFill>
                <a:latin typeface="Malgun Gothic"/>
              </a:defRPr>
            </a:pPr>
            <a:r>
              <a:t>12,259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2542032"/>
            <a:ext cx="2194560" cy="89611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816352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−56.5%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187952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EPC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12848" y="3941064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95728" y="4069080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5728" y="4325112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B746"/>
                </a:solidFill>
                <a:latin typeface="Malgun Gothic"/>
              </a:defRPr>
            </a:pPr>
            <a:r>
              <a:t>0.6739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4160520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34456" y="3941064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17336" y="4069080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4325112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0.8116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0848" y="3941064"/>
            <a:ext cx="2194560" cy="896112"/>
          </a:xfrm>
          <a:prstGeom prst="round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4215384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구조군 비교 결과: accepted +15,928 events  =  overrun 15,928건 감소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6318504"/>
            <a:ext cx="10012680" cy="1554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1">
                <a:solidFill>
                  <a:srgbClr val="FFB746"/>
                </a:solidFill>
                <a:latin typeface="Malgun Gothic"/>
              </a:defRPr>
            </a:pPr>
            <a:r>
              <a:t>※ 최종 polarity-v1 trace의 exact head-to-head 개선율이 아니라 원본 구조군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대역폭·overflow 병목은 수치로 개선됐다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trace에서 buffer·polarity 오류 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polarity_v1_release_receipt.json · Xcelium 23.09-s013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280160"/>
            <a:ext cx="292608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4793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9385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444752"/>
            <a:ext cx="74980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1280160"/>
            <a:ext cx="292608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37CD85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19385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1444752"/>
            <a:ext cx="566928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ACC2D6"/>
                </a:solidFill>
                <a:latin typeface="Malgun Gothic"/>
              </a:defRPr>
            </a:pPr>
            <a: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280160"/>
            <a:ext cx="23774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37CD85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1993392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7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독립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order violations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37CD85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drain 후 empty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남은 event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B27EFF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6528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polarity 보존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6528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generated = delivered + overrun · phantom 0 · duplicate 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trace에서 buffer·polarity 오류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Innovus slow 0.9 V 125 °C · discrete timing 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70432"/>
            <a:ext cx="306324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298448"/>
            <a:ext cx="273405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09344"/>
            <a:ext cx="273405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3000" b="1">
                <a:solidFill>
                  <a:srgbClr val="37CD85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48840"/>
            <a:ext cx="273405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setup +0.454 ns · hold +0.167 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035808"/>
            <a:ext cx="6784848" cy="109728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222</a:t>
            </a:r>
            <a:br/>
            <a:r>
              <a:t>MHz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+1.349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42615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250</a:t>
            </a:r>
            <a:br/>
            <a:r>
              <a:t>MHz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+0.849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7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285.7</a:t>
            </a:r>
            <a:br/>
            <a:r>
              <a:t>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+0.454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2852928"/>
            <a:ext cx="347472" cy="347472"/>
          </a:xfrm>
          <a:prstGeom prst="round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0568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FF6376"/>
                </a:solidFill>
                <a:latin typeface="Malgun Gothic"/>
              </a:defRPr>
            </a:pPr>
            <a:r>
              <a:t>333.3</a:t>
            </a:r>
            <a:br/>
            <a:r>
              <a:t>MHz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−0.004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615184"/>
            <a:ext cx="4526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37CD85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615184"/>
            <a:ext cx="10058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000" b="1">
                <a:solidFill>
                  <a:srgbClr val="FF637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17043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031" y="129844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POST-ROUTE AREA RAW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160934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900" b="1">
                <a:solidFill>
                  <a:srgbClr val="2AD3CD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214884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596 instances · unit unstated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81635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1" y="294436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VECTORLESS POWER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1" y="325526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700" b="1">
                <a:solidFill>
                  <a:srgbClr val="FFB746"/>
                </a:solidFill>
                <a:latin typeface="Malgun Gothic"/>
              </a:defRPr>
            </a:pPr>
            <a:r>
              <a:t>0.107389 mW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379476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default activity 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4462272"/>
            <a:ext cx="3154680" cy="80467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681728"/>
            <a:ext cx="2788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37CD85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285.714 MHz PASS · 다음 측정점 333.333 MHz FAIL · 중간 주파수는 미측정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sealed legacy address-only official UZH→CAV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078992"/>
            <a:ext cx="10744200" cy="40233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179576"/>
            <a:ext cx="10241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B27EFF"/>
                </a:solidFill>
                <a:latin typeface="Malgun Gothic"/>
              </a:defRPr>
            </a:pPr>
            <a:r>
              <a:t>LEGACY ADDRESS-ONLY TRACK  ·  최종 polarity-v1과 독립된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96312"/>
            <a:ext cx="174650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4793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084831"/>
            <a:ext cx="178308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EXACT IDENTITY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523744"/>
            <a:ext cx="1856231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37CD85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CAUSAL-CAV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532888"/>
            <a:ext cx="17830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occurrence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69164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2AD3CD"/>
                </a:solidFill>
                <a:latin typeface="Malgun Gothic"/>
              </a:defRPr>
            </a:pPr>
            <a:r>
              <a:t>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1417320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62763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196596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2AD3CD"/>
                </a:solidFill>
                <a:latin typeface="Malgun Gothic"/>
              </a:defRPr>
            </a:pPr>
            <a:r>
              <a:t>8,420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278892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FFB746"/>
                </a:solidFill>
                <a:latin typeface="Malgun Gothic"/>
              </a:defRPr>
            </a:pPr>
            <a:r>
              <a:t>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2724912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728" y="290779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728" y="324612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FB746"/>
                </a:solidFill>
                <a:latin typeface="Malgun Gothic"/>
              </a:defRPr>
            </a:pPr>
            <a:r>
              <a:t>83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886200"/>
            <a:ext cx="484632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114800"/>
            <a:ext cx="1920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000" b="1">
                <a:solidFill>
                  <a:srgbClr val="2AD3CD"/>
                </a:solidFill>
                <a:latin typeface="Malgun Gothic"/>
              </a:defRPr>
            </a:pPr>
            <a:r>
              <a:t>WORLD 8,420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133087"/>
            <a:ext cx="24688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→ 512×256 grid · 821 cells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53328" y="3886200"/>
            <a:ext cx="493776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4096512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geometry = occurrence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453128"/>
            <a:ext cx="43891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retire cycle은 latency sidecar로만 보존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입증: software functional extension · HOLD: polarity→CAV full replay / CAV RTL / CAV PPA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네 병목을 구조적으로 분리해 완화했다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 bundle: receipts · raw reports · SHA256SUMS · PROVENANCE.json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네 병목 → 네 해법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FIFO · bitmap · steal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2AD3CD"/>
                </a:solidFill>
                <a:latin typeface="Malgun Gothic"/>
              </a:defRPr>
            </a:pPr>
            <a:r>
              <a:t>polarity lockstep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최종 RTL 증명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8,503 / 8,503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37CD85"/>
                </a:solidFill>
                <a:latin typeface="Malgun Gothic"/>
              </a:defRPr>
            </a:pPr>
            <a:r>
              <a:t>285.714 MHz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18704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B27EFF"/>
                </a:solidFill>
                <a:latin typeface="Malgun Gothic"/>
              </a:defRPr>
            </a:pPr>
            <a:r>
              <a:t>별도 확장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legacy 8,503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B27EFF"/>
                </a:solidFill>
                <a:latin typeface="Malgun Gothic"/>
              </a:defRPr>
            </a:pPr>
            <a:r>
              <a:t>8,420 WORLD + 83 bypass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13632"/>
            <a:ext cx="10424160" cy="10058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206240"/>
            <a:ext cx="96012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FFB746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114800"/>
            <a:ext cx="87325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final-trace 직접 비교  ·  CAV RTL  ·  activity power  ·  signoff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GO: polarity RTL·TB·PPA evidence 제출  |  HOLD: exact Fmax·CAV RTL·signoff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네 병목을 구조적으로 분리해 완화했다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AER — 2-lane row-bitmap으로 병목 완화</dc:title>
  <dc:subject>AER bottleneck, architecture, improvement, physical implementation, CAV extension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