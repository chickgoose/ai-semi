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4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75488"/>
            <a:ext cx="157276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44068"/>
            <a:ext cx="146304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DIGITAL 1차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6583680" cy="12984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Malgun Gothic"/>
              </a:defRPr>
            </a:pPr>
            <a:r>
              <a:t>Cluster2 Steal-Buffer</a:t>
            </a:r>
            <a:br/>
            <a:r>
              <a:t>Polarity AER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514600"/>
            <a:ext cx="7498079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D2E2EE"/>
                </a:solidFill>
                <a:latin typeface="Malgun Gothic"/>
              </a:defRPr>
            </a:pPr>
            <a:r>
              <a:t>동시성은 넓히고 · 재발생은 흡수하고 · event 의미는 보존한다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event + polarity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9067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242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depth-2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8815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8990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SCHEDULE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 + steal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8563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8738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RETIRE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/ mask / pol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FULL50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11.52% → 0.47%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base 대비 −95.9%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POLARITY REPLAY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post-route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6437376"/>
            <a:ext cx="365760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B4CADB"/>
                </a:solidFill>
                <a:latin typeface="Malgun Gothic"/>
              </a:defRPr>
            </a:pPr>
            <a:r>
              <a:t>AI-semi · 2026-08-28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Ryu의 문제 흐름을 여섯 설계 요구로 분해했다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Framing: team decomposition of Ryu's problem flow; not a literal numbered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13533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1" y="1353312"/>
            <a:ext cx="1133856" cy="310896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5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주소 overhead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bitmap + codec 후보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799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3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직렬 bandwidth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3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2 row-bitmap lanes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93023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76688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31552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arbitration 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grouped retire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3346704"/>
            <a:ext cx="4754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24911" y="3346704"/>
            <a:ext cx="1133856" cy="310896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79775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STRUCTURAL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class 불균형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rotate + lane steal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4255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17136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9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799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3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5423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timestamp mismatch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5423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payload 미포함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10144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93023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76688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motion artifact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2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sensor/system 영역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1차 직접 목표: ②·③·④ 완화 + polarity integrity 추가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직렬 출력과 source 재발생이 loss를 만든다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common full50 recovered diagnostics · 106,416 offered events/design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33472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7791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공유 선택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1 event/cycle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01183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75504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6944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대기 누적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pending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68896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43215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5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같은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5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local full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36607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10928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7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SOURCE OVERRUN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7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한 cycle 한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28,187 source-overrun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delivered 78,229 · EPC 0.673901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BASE CLUSTER2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병렬화만으로 재발생은 남는다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12,259 source-overrun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다음 해법: local depth + idle capacity reuse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출력 폭 · source-local 흡수 · class capacity를 함께 풀어야 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구조는 네 단계로 읽힌다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top aer_tx16_trad_rowcol_fovea_cluster2_steal_buf_polarity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 · ARRIVAL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16 event</a:t>
            </a:r>
            <a:br/>
            <a:r>
              <a:t>+ polarity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706624"/>
            <a:ext cx="2029968" cy="475488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occurrence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00400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2 ·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source별</a:t>
            </a:r>
            <a:br/>
            <a:r>
              <a:t>depth-2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5887" y="2706624"/>
            <a:ext cx="2029968" cy="47548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count + slots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3 · 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</a:t>
            </a:r>
            <a:br/>
            <a:r>
              <a:t>+ steal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7376" y="2706624"/>
            <a:ext cx="2029968" cy="47548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rotate + reuse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723376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7696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4 · RETIRE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  <a:br/>
            <a:r>
              <a:t>+ pol_mask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4" y="2706624"/>
            <a:ext cx="2029968" cy="475488"/>
          </a:xfrm>
          <a:prstGeom prst="roundRect">
            <a:avLst/>
          </a:prstGeom>
          <a:solidFill>
            <a:srgbClr val="E4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2016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selected events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5" y="3913632"/>
            <a:ext cx="10104120" cy="658368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3584" y="4123944"/>
            <a:ext cx="9701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2 × { valid, row, col_mask[3:0], pol_mask[3:0] }  →  최대 8 events/cycle 표현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892040"/>
            <a:ext cx="1018641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full address FIFO가 아니라 source index에 내재한 pending count와 polarity slot을 상태로 유지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주소와 polarity는 동일 source slot에서 선택되고 함께 retire한다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bitmap은 직렬화를, depth-2는 재발생을 줄인다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RTL architecture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BITMAP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103120"/>
            <a:ext cx="100584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29968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9968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24912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9856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2926080"/>
            <a:ext cx="148132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네 scalar 주소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651760" y="2926080"/>
            <a:ext cx="475488" cy="25603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83280" y="2770632"/>
            <a:ext cx="1993392" cy="640080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980944"/>
            <a:ext cx="1627632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563EB"/>
                </a:solidFill>
                <a:latin typeface="Malgun Gothic"/>
              </a:defRPr>
            </a:pPr>
            <a:r>
              <a:t>row + 1111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31920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4C6073"/>
                </a:solidFill>
                <a:latin typeface="Malgun Gothic"/>
              </a:defRPr>
            </a:pPr>
            <a:r>
              <a:t>한 lane transaction = 최대 4 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IDEA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SOURCE-LOCAL DEPTH-2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2103120"/>
            <a:ext cx="129844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같은 source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1901952"/>
            <a:ext cx="1188720" cy="74980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205740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E68414"/>
                </a:solidFill>
                <a:latin typeface="Malgun Gothic"/>
              </a:defRPr>
            </a:pPr>
            <a:r>
              <a:t>slot 0</a:t>
            </a:r>
            <a:br/>
            <a: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54896" y="1901952"/>
            <a:ext cx="1188720" cy="74980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4896" y="205740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E68414"/>
                </a:solidFill>
                <a:latin typeface="Malgun Gothic"/>
              </a:defRPr>
            </a:pPr>
            <a:r>
              <a:t>slot 1</a:t>
            </a:r>
            <a:br/>
            <a: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063240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A가 grant를 기다리는 동안 B 재발생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3913632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4C6073"/>
                </a:solidFill>
                <a:latin typeface="Malgun Gothic"/>
              </a:defRPr>
            </a:pPr>
            <a:r>
              <a:t>두 번째 occurrence를 overrun 대신 저장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bitmap은 serialization을, depth-2는 same-source recurrence를 줄인다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steal은 capacity를, lockstep은 의미를 지킨다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polarity RTL · native observational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IDEA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CONDITIONAL LANE STEAL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057400"/>
            <a:ext cx="1609344" cy="1051560"/>
          </a:xfrm>
          <a:prstGeom prst="roundRect">
            <a:avLst/>
          </a:prstGeom>
          <a:solidFill>
            <a:srgbClr val="E0F6F3"/>
          </a:solidFill>
          <a:ln w="1270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16093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15184"/>
            <a:ext cx="160934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09E96"/>
                </a:solidFill>
                <a:latin typeface="Malgun Gothic"/>
              </a:defRPr>
            </a:pPr>
            <a:r>
              <a:t>busy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057400"/>
            <a:ext cx="1609344" cy="1051560"/>
          </a:xfrm>
          <a:prstGeom prst="roundRect">
            <a:avLst/>
          </a:prstGeom>
          <a:solidFill>
            <a:srgbClr val="EBF1F6"/>
          </a:solidFill>
          <a:ln w="1270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267712"/>
            <a:ext cx="16093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4C6073"/>
                </a:solidFill>
                <a:latin typeface="Malgun Gothic"/>
              </a:defRPr>
            </a:pPr>
            <a:r>
              <a:t>PERIPH.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615184"/>
            <a:ext cx="160934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4C6073"/>
                </a:solidFill>
                <a:latin typeface="Malgun Gothic"/>
              </a:defRPr>
            </a:pPr>
            <a:r>
              <a:t>idle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46704" y="2450592"/>
            <a:ext cx="329184" cy="219456"/>
          </a:xfrm>
          <a:prstGeom prst="rightArrow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730752"/>
            <a:ext cx="466344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7C4AB8"/>
                </a:solidFill>
                <a:latin typeface="Malgun Gothic"/>
              </a:defRPr>
            </a:pPr>
            <a:r>
              <a:t>idle lane capacity를 반대 class가 재사용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24528"/>
            <a:ext cx="466344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global fairness 수치는 별도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POLARITY LOCKSTEP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1968" y="1956816"/>
            <a:ext cx="4572000" cy="713232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217627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4" y="217627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17627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01968" y="2916936"/>
            <a:ext cx="4572000" cy="713232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313639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4" y="313639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13639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242816"/>
            <a:ext cx="460857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address와 polarity를 같은 slot에서 push / pop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steal은 capacity 낭비를 줄이고, lockstep은 selected-event 의미를 보존한다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주소 절감은 제출 RTL과 후속 실험을 분리했다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row-trim/repeat-flag address-only studies · final polarity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572768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SUBMIT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009E96"/>
                </a:solidFill>
                <a:latin typeface="Malgun Gothic"/>
              </a:defRPr>
            </a:pPr>
            <a:r>
              <a:t>현재 최종 RTL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794760"/>
            <a:ext cx="2743200" cy="694944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pol_mask 포함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572768"/>
            <a:ext cx="932688" cy="310896"/>
          </a:xfrm>
          <a:prstGeom prst="roundRect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ROW-TRIM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4C6073"/>
                </a:solidFill>
                <a:latin typeface="Malgun Gothic"/>
              </a:defRPr>
            </a:pPr>
            <a:r>
              <a:t>−14.29%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3794760"/>
            <a:ext cx="2743200" cy="694944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base Cluster2 전용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66176" y="1572768"/>
            <a:ext cx="9326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REPEAT-FLAG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E68414"/>
                </a:solidFill>
                <a:latin typeface="Malgun Gothic"/>
              </a:defRPr>
            </a:pPr>
            <a:r>
              <a:t>−15.61%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9328" y="3794760"/>
            <a:ext cx="2743200" cy="694944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E68414"/>
                </a:solidFill>
                <a:latin typeface="Malgun Gothic"/>
              </a:defRPr>
            </a:pPr>
            <a:r>
              <a:t>polarity 재검증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E68414"/>
                </a:solidFill>
                <a:latin typeface="Malgun Gothic"/>
              </a:defRPr>
            </a:pPr>
            <a:r>
              <a:t>2차 codec 후보는 repeat-flag — polarity 포함 end-to-end 검증 후 통합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full50 source-overrun: 12,259 → 502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Scope: 106,416 events/design · separate campaigns · 502 = address-only steal_buf, not final polarity-v1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15568"/>
            <a:ext cx="7452360" cy="4261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72768" y="1993392"/>
            <a:ext cx="1078992" cy="214884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554479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SCALAR</a:t>
            </a:r>
            <a:br/>
            <a:r>
              <a:t>FOVEA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28,187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3207742"/>
            <a:ext cx="1078992" cy="934489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768830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BASE</a:t>
            </a:r>
            <a:br/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12,259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4032504"/>
            <a:ext cx="1078992" cy="1097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389888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009E96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CLUSTER2</a:t>
            </a:r>
            <a:br/>
            <a:r>
              <a:t>STEAL_BUF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502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1115568"/>
            <a:ext cx="3163824" cy="4261104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68512" y="1508760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9D5E6"/>
                </a:solidFill>
                <a:latin typeface="Malgun Gothic"/>
              </a:defRPr>
            </a:pPr>
            <a:r>
              <a:t>BASE → STEAL_BUF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075688"/>
            <a:ext cx="2688336" cy="60350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3500" b="1">
                <a:solidFill>
                  <a:srgbClr val="FFFFFF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2761488"/>
            <a:ext cx="257860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relative loss reduction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96528" y="3310128"/>
            <a:ext cx="2304288" cy="0"/>
          </a:xfrm>
          <a:prstGeom prst="line">
            <a:avLst/>
          </a:prstGeom>
          <a:ln w="19050">
            <a:solidFill>
              <a:srgbClr val="4D6F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68512" y="3584448"/>
            <a:ext cx="2578608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24.42×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041648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smaller remaining 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4700016"/>
            <a:ext cx="268833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48 / 50 traces: overrun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steal-buffer의 핵심 효과: 기본 Cluster2의 남은 재발생 손실을 직접 줄였다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cycle 4,162: 두 lane이 3 events를 retire했다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Xcelium 23.09-s013 · redred_cluster2_polarity_v1_native_observational_tb.sv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UZH 4×4 patch</a:t>
            </a:r>
            <a:br/>
            <a:r>
              <a:t>8,503 events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9856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Xcelium</a:t>
            </a:r>
            <a:br/>
            <a:r>
              <a:t>RTL + TB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88736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81344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raw cycle trace</a:t>
            </a:r>
            <a:br/>
            <a:r>
              <a:t>independent Python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50224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42832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  <a:br/>
            <a:r>
              <a:t>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706624"/>
            <a:ext cx="6912864" cy="2724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2889504"/>
            <a:ext cx="6510527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ACTUAL RETIRE · CYCLE 4,162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3163824"/>
            <a:ext cx="6510527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두 lane에서 합계 3 events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749039"/>
            <a:ext cx="9326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817620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3822191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822191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2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407407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47598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1" y="4480559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0288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480559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1 event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2706624"/>
            <a:ext cx="3675887" cy="2724912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3054096"/>
            <a:ext cx="305409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CD6E7"/>
                </a:solidFill>
                <a:latin typeface="Malgun Gothic"/>
              </a:defRPr>
            </a:pPr>
            <a:r>
              <a:t>CONSERVATION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448" y="3547872"/>
            <a:ext cx="3090672" cy="34747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8,503 = 8,503 + 0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448" y="3950208"/>
            <a:ext cx="30906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BCD6E7"/>
                </a:solidFill>
                <a:latin typeface="Malgun Gothic"/>
              </a:defRPr>
            </a:pPr>
            <a:r>
              <a:t>generated   delivered   overrun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4462272"/>
            <a:ext cx="3054096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phantom 0 · duplicate 0</a:t>
            </a:r>
            <a:br/>
            <a:r>
              <a:t>polarity mismatch 0 · drain empty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TB의 PASS 문자열이 아니라 raw ledger를 독립 경로로 재해석했다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top: 285.714 MHz post-route PASS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Genus 23.14-s090_1 · Innovus 23.14-s088_1 · GPDK045 slow 0.9 V 125 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699516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35024"/>
            <a:ext cx="659282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POST-ROUTE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659282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fastest tested passing point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3127248"/>
            <a:ext cx="6089904" cy="0"/>
          </a:xfrm>
          <a:prstGeom prst="line">
            <a:avLst/>
          </a:prstGeom>
          <a:ln w="25400">
            <a:solidFill>
              <a:srgbClr val="4C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8872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200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250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2944368"/>
            <a:ext cx="146304" cy="365760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21424" y="2944368"/>
            <a:ext cx="146304" cy="36576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333.333 MHz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3447288"/>
            <a:ext cx="6272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09E96"/>
                </a:solidFill>
                <a:latin typeface="Malgun Gothic"/>
              </a:defRPr>
            </a:pPr>
            <a:r>
              <a:t>285.714 MHz: setup +0.454 ns · hold +0.167 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1152144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1417320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AREA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1764792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3024" y="2139696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596 instances · raw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36992" y="2715768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2980944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3328416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0.1074 mW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4" y="3703320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vectorless · activity 0.2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352544"/>
            <a:ext cx="10881360" cy="1005840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553712"/>
            <a:ext cx="157276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EVIDENCE BOUNDARY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6896" y="4526280"/>
            <a:ext cx="865022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fastest tested PASS ≠ exact Fmax · area unit 미기재 · vectorless power ≠ workload signoff power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6896" y="4983480"/>
            <a:ext cx="865022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F935E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1차 제출 범위: 동작 RTL + tested timing/area/power — signoff 과장은 하지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World 좌표계 방향 ray 확장: 8,503 events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team-defined software projection path · separate from final polarity RTL/PPA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2788920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435608"/>
            <a:ext cx="24231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810512"/>
            <a:ext cx="2423160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occurrences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30168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152144"/>
            <a:ext cx="3255264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35608"/>
            <a:ext cx="288950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IDENTITY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288950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4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152144"/>
            <a:ext cx="3236976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435608"/>
            <a:ext cx="28712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WORLD-FRAME 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1810512"/>
            <a:ext cx="287121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occurrence-time 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21240" y="2377440"/>
            <a:ext cx="0" cy="530352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75120" y="2907792"/>
            <a:ext cx="3950208" cy="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75120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25328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8368" y="3163824"/>
            <a:ext cx="4059936" cy="140817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56432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현재 증거 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13048"/>
            <a:ext cx="35478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software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169663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D23A46"/>
                </a:solidFill>
                <a:latin typeface="Malgun Gothic"/>
              </a:defRPr>
            </a:pPr>
            <a:r>
              <a:t>변환기 RTL/PPA는 HOLD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57216" y="3163824"/>
            <a:ext cx="3035808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3248" y="3456432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13048"/>
            <a:ext cx="2523744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8,420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4169663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821 grid cells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0848" y="3163824"/>
            <a:ext cx="2468880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3456432"/>
            <a:ext cx="19568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813048"/>
            <a:ext cx="195681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83 bypass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7C4AB8"/>
                </a:solidFill>
                <a:latin typeface="Malgun Gothic"/>
              </a:defRPr>
            </a:pPr>
            <a:r>
              <a:t>event + timestamp + pose의 world-frame 방향 ray 투영을 software로 확인했다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1차 성과 세 가지와 2차 검증 세 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Evidence: full50 family diagnostic · final UZH polarity replay · tested physical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408176"/>
            <a:ext cx="1243584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base Cluster2 → steal_buf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5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408176"/>
            <a:ext cx="1243584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5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2563EB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408176"/>
            <a:ext cx="1243584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IMPLEMENT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E6841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456432"/>
            <a:ext cx="13167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344F"/>
                </a:solidFill>
                <a:latin typeface="Malgun Gothic"/>
              </a:defRPr>
            </a:pPr>
            <a:r>
              <a:t>2차 과제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7" y="40965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68414"/>
                </a:solidFill>
                <a:latin typeface="Malgun Gothic"/>
              </a:defRPr>
            </a:pPr>
            <a:r>
              <a:t>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repeat-flag + polarity grammar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5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17136" y="4096512"/>
            <a:ext cx="475488" cy="310896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1999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7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7C4AB8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8927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timestamp + pose full replay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93023" y="40965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4816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09E96"/>
                </a:solidFill>
                <a:latin typeface="Malgun Gothic"/>
              </a:defRPr>
            </a:pPr>
            <a:r>
              <a:t>PPA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4816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activity power + exact Fmax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Cluster2 위에 depth-2·steal·polarity를 통합해 손실과 의미를 함께 다뤘다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Steal-Buffer Polarity AER</dc:title>
  <dc:subject>Ground-up bottleneck, architecture, evidence, physical implementation, and world-coordinate extensibility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