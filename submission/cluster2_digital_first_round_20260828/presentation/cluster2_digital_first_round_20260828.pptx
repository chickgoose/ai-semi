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698480" cy="6217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3600" b="1">
                <a:solidFill>
                  <a:srgbClr val="F5F8FC"/>
                </a:solidFill>
                <a:latin typeface="Malgun Gothic"/>
              </a:defRPr>
            </a:pPr>
            <a:r>
              <a:t>AER 병목을 구조로 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89888"/>
            <a:ext cx="10515600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800" b="1">
                <a:solidFill>
                  <a:srgbClr val="29D2CA"/>
                </a:solidFill>
                <a:latin typeface="Malgun Gothic"/>
              </a:defRPr>
            </a:pPr>
            <a:r>
              <a:t>Cluster2 Steal-Buffer Polarity AER · 디지털 1차 설계 결과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240280"/>
            <a:ext cx="1993392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386584"/>
            <a:ext cx="5029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500" b="1">
                <a:solidFill>
                  <a:srgbClr val="FF6676"/>
                </a:solidFill>
                <a:latin typeface="Malgun Gothic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779776"/>
            <a:ext cx="166420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병목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62656" y="2240280"/>
            <a:ext cx="1993392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2386584"/>
            <a:ext cx="5029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500" b="1">
                <a:solidFill>
                  <a:srgbClr val="29D2CA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779776"/>
            <a:ext cx="166420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핵심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2240280"/>
            <a:ext cx="1993392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58384" y="2386584"/>
            <a:ext cx="5029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500" b="1">
                <a:solidFill>
                  <a:srgbClr val="3ACA86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8384" y="2779776"/>
            <a:ext cx="166420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수치 개선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61504" y="2240280"/>
            <a:ext cx="1993392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7808" y="2386584"/>
            <a:ext cx="5029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500" b="1">
                <a:solidFill>
                  <a:srgbClr val="4391FF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2779776"/>
            <a:ext cx="166420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시각적 검증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10928" y="2240280"/>
            <a:ext cx="1993392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57232" y="2386584"/>
            <a:ext cx="5029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500" b="1">
                <a:solidFill>
                  <a:srgbClr val="AE7CFF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57232" y="2779776"/>
            <a:ext cx="1664208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CAV 확장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69080"/>
            <a:ext cx="10954512" cy="1042415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" y="4270248"/>
            <a:ext cx="1143000" cy="24688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100" b="1">
                <a:solidFill>
                  <a:srgbClr val="A9BED3"/>
                </a:solidFill>
                <a:latin typeface="Malgun Gothic"/>
              </a:defRPr>
            </a:pPr>
            <a:r>
              <a:t>한 줄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4224528"/>
            <a:ext cx="9189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800" b="1">
                <a:solidFill>
                  <a:srgbClr val="3ACA86"/>
                </a:solidFill>
                <a:latin typeface="Malgun Gothic"/>
              </a:defRPr>
            </a:pPr>
            <a:r>
              <a:t>1-event/cycle 직렬화를 2-lane row-bitmap retire로 완화하고, 최종 polarity RTL의 기능·P&amp;R 가능성과 CAV 소프트웨어 확장 경로를 증명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199632"/>
            <a:ext cx="1024128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100" b="0">
                <a:solidFill>
                  <a:srgbClr val="A9BED3"/>
                </a:solidFill>
                <a:latin typeface="Malgun Gothic"/>
              </a:defRPr>
            </a:pPr>
            <a:r>
              <a:t>2026-08-28 · Xcelium / Genus / Innovus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01  병목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핵심 문제: burst 입력이 scalar retire에서 직렬화된다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recovered Fovea Xcelium full50 diagnostics · docs/K2_디지털개발_최종현황_20260813.txt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188720"/>
            <a:ext cx="210312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88720"/>
            <a:ext cx="64008" cy="1097280"/>
          </a:xfrm>
          <a:prstGeom prst="rect">
            <a:avLst/>
          </a:prstGeom>
          <a:solidFill>
            <a:srgbClr val="439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1316736"/>
            <a:ext cx="18287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16개 비동기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1655064"/>
            <a:ext cx="1828799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동시에 여러 event 발생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1188720"/>
            <a:ext cx="210312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0" y="1188720"/>
            <a:ext cx="64008" cy="1097280"/>
          </a:xfrm>
          <a:prstGeom prst="rect">
            <a:avLst/>
          </a:prstGeom>
          <a:solidFill>
            <a:srgbClr val="FF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316736"/>
            <a:ext cx="18287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공유 arbitration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13048" y="1655064"/>
            <a:ext cx="1828799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대기열과 경쟁 집중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1188720"/>
            <a:ext cx="210312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1188720"/>
            <a:ext cx="64008" cy="1097280"/>
          </a:xfrm>
          <a:prstGeom prst="rect">
            <a:avLst/>
          </a:prstGeom>
          <a:solidFill>
            <a:srgbClr val="FF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0568" y="1316736"/>
            <a:ext cx="18287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scalar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0568" y="1655064"/>
            <a:ext cx="1828799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cycle당 1 event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72600" y="1188720"/>
            <a:ext cx="210312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372600" y="1188720"/>
            <a:ext cx="64008" cy="1097280"/>
          </a:xfrm>
          <a:prstGeom prst="rect">
            <a:avLst/>
          </a:prstGeom>
          <a:solidFill>
            <a:srgbClr val="FF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8048" y="1316736"/>
            <a:ext cx="18287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결과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8048" y="1655064"/>
            <a:ext cx="1828799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local full → overrun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61488" y="1737360"/>
            <a:ext cx="841248" cy="0"/>
          </a:xfrm>
          <a:prstGeom prst="line">
            <a:avLst/>
          </a:prstGeom>
          <a:ln w="27940">
            <a:solidFill>
              <a:srgbClr val="FF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779008" y="1737360"/>
            <a:ext cx="841248" cy="0"/>
          </a:xfrm>
          <a:prstGeom prst="line">
            <a:avLst/>
          </a:prstGeom>
          <a:ln w="27940">
            <a:solidFill>
              <a:srgbClr val="FF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796528" y="1737360"/>
            <a:ext cx="512064" cy="0"/>
          </a:xfrm>
          <a:prstGeom prst="line">
            <a:avLst/>
          </a:prstGeom>
          <a:ln w="27940">
            <a:solidFill>
              <a:srgbClr val="FF66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2834640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" y="2935224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FOVEA FULL50 ACCEPTED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" y="3191256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B749"/>
                </a:solidFill>
                <a:latin typeface="Malgun Gothic"/>
              </a:defRPr>
            </a:pPr>
            <a:r>
              <a:t>78,229 / 106,416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" y="3675888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acceptance 73.51%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0520" y="2834640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06824" y="2935224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6824" y="3191256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66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06824" y="3675888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짧은 burst를 source-local capacity가 흡수 못함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35240" y="2834640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1544" y="2935224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FIXED-WINDOW EPC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1544" y="3191256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6676"/>
                </a:solidFill>
                <a:latin typeface="Malgun Gothic"/>
              </a:defRPr>
            </a:pPr>
            <a:r>
              <a:t>0.673901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1544" y="3675888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1-event/cycle 경계 아래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" y="4663440"/>
            <a:ext cx="13716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29D2CA"/>
                </a:solidFill>
                <a:latin typeface="Malgun Gothic"/>
              </a:defRPr>
            </a:pPr>
            <a:r>
              <a:t>병목의 본질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65960" y="4553712"/>
            <a:ext cx="900684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2300" b="1">
                <a:solidFill>
                  <a:srgbClr val="F5F8FC"/>
                </a:solidFill>
                <a:latin typeface="Malgun Gothic"/>
              </a:defRPr>
            </a:pPr>
            <a:r>
              <a:t>입력 발생률 ≠ retire 서비스율  →  대기 누적  →  source-local overrun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5669280"/>
            <a:ext cx="1024128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※ 수치는 회수된 scalar Fovea 기준선이며 최종 polarity-v1 trace와 다른 비교 캠페인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01  병목 정의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AER의 병목은 하나가 아니라 연쇄적으로 발생한다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RTL contract and AER bottleneck coverage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143000"/>
            <a:ext cx="3401568" cy="160020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143000"/>
            <a:ext cx="73152" cy="1600200"/>
          </a:xfrm>
          <a:prstGeom prst="rect">
            <a:avLst/>
          </a:prstGeom>
          <a:solidFill>
            <a:srgbClr val="FF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1307592"/>
            <a:ext cx="3035808" cy="2926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F6676"/>
                </a:solidFill>
                <a:latin typeface="Malgun Gothic"/>
              </a:defRPr>
            </a:pPr>
            <a:r>
              <a:t>① 직렬화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1737360"/>
            <a:ext cx="303580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300" b="0">
                <a:solidFill>
                  <a:srgbClr val="F5F8FC"/>
                </a:solidFill>
                <a:latin typeface="Malgun Gothic"/>
              </a:defRPr>
            </a:pPr>
            <a:r>
              <a:t>여러 source event를</a:t>
            </a:r>
            <a:br/>
            <a:r>
              <a:t>한 cycle에 하나만 retire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1143000"/>
            <a:ext cx="3401568" cy="160020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1143000"/>
            <a:ext cx="73152" cy="1600200"/>
          </a:xfrm>
          <a:prstGeom prst="rect">
            <a:avLst/>
          </a:prstGeom>
          <a:solidFill>
            <a:srgbClr val="FF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307592"/>
            <a:ext cx="3035808" cy="2926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FB749"/>
                </a:solidFill>
                <a:latin typeface="Malgun Gothic"/>
              </a:defRPr>
            </a:pPr>
            <a:r>
              <a:t>② 국소 포화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1737360"/>
            <a:ext cx="303580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300" b="0">
                <a:solidFill>
                  <a:srgbClr val="F5F8FC"/>
                </a:solidFill>
                <a:latin typeface="Malgun Gothic"/>
              </a:defRPr>
            </a:pPr>
            <a:r>
              <a:t>대기 중 동일 source 재발생 시</a:t>
            </a:r>
            <a:br/>
            <a:r>
              <a:t>buffer full/overrun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143000"/>
            <a:ext cx="3401568" cy="160020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143000"/>
            <a:ext cx="73152" cy="1600200"/>
          </a:xfrm>
          <a:prstGeom prst="rect">
            <a:avLst/>
          </a:prstGeom>
          <a:solidFill>
            <a:srgbClr val="AE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307592"/>
            <a:ext cx="3035808" cy="2926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AE7CFF"/>
                </a:solidFill>
                <a:latin typeface="Malgun Gothic"/>
              </a:defRPr>
            </a:pPr>
            <a:r>
              <a:t>③ 클래스 불균형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1737360"/>
            <a:ext cx="3035808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300" b="0">
                <a:solidFill>
                  <a:srgbClr val="F5F8FC"/>
                </a:solidFill>
                <a:latin typeface="Malgun Gothic"/>
              </a:defRPr>
            </a:pPr>
            <a:r>
              <a:t>center 또는 peripheral만 몰리면</a:t>
            </a:r>
            <a:br/>
            <a:r>
              <a:t>고정 lane이 놀 수 있음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401568"/>
            <a:ext cx="5303520" cy="160020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01568"/>
            <a:ext cx="73152" cy="1600200"/>
          </a:xfrm>
          <a:prstGeom prst="rect">
            <a:avLst/>
          </a:prstGeom>
          <a:solidFill>
            <a:srgbClr val="439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566160"/>
            <a:ext cx="4937759" cy="2926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4391FF"/>
                </a:solidFill>
                <a:latin typeface="Malgun Gothic"/>
              </a:defRPr>
            </a:pPr>
            <a:r>
              <a:t>④ polarity 정렬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" y="3995928"/>
            <a:ext cx="4937759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300" b="0">
                <a:solidFill>
                  <a:srgbClr val="F5F8FC"/>
                </a:solidFill>
                <a:latin typeface="Malgun Gothic"/>
              </a:defRPr>
            </a:pPr>
            <a:r>
              <a:t>주소와 polarity가 다른 시점에</a:t>
            </a:r>
            <a:br/>
            <a:r>
              <a:t>pop되면 event 의미 훼손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401568"/>
            <a:ext cx="5303520" cy="160020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401568"/>
            <a:ext cx="73152" cy="16002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64808" y="3566160"/>
            <a:ext cx="4937759" cy="29260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29D2CA"/>
                </a:solidFill>
                <a:latin typeface="Malgun Gothic"/>
              </a:defRPr>
            </a:pPr>
            <a:r>
              <a:t>⑤ 시스템 시간축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8" y="3995928"/>
            <a:ext cx="4937759" cy="6583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300" b="0">
                <a:solidFill>
                  <a:srgbClr val="F5F8FC"/>
                </a:solidFill>
                <a:latin typeface="Malgun Gothic"/>
              </a:defRPr>
            </a:pPr>
            <a:r>
              <a:t>occurrence와 retire를 섞으면</a:t>
            </a:r>
            <a:br/>
            <a:r>
              <a:t>CAV geometry 인과가 왜곡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69280"/>
            <a:ext cx="1065276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600" b="1">
                <a:solidFill>
                  <a:srgbClr val="3ACA86"/>
                </a:solidFill>
                <a:latin typeface="Malgun Gothic"/>
              </a:defRPr>
            </a:pPr>
            <a:r>
              <a:t>이번 RTL은 ①~④를 직접 다루고, ⑤는 sidecar 기반 CAV 검증에서 의미를 분리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02  핵심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핵심 구조: source-local 흡수 + row-bitmap 2-lane retire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final polarity RTL SHA-256 20d601a9…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005840"/>
            <a:ext cx="22402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A9BED3"/>
                </a:solidFill>
                <a:latin typeface="Malgun Gothic"/>
              </a:defRPr>
            </a:pPr>
            <a:r>
              <a:t>16 SOURCES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141732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9961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97864" y="141732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149961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00784" y="141732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149961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03704" y="141732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149961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" y="192024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00253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864" y="192024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200253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00784" y="192024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737360" y="200253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03704" y="192024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40280" y="200253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" y="242316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50545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97864" y="242316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4440" y="250545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700784" y="242316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737360" y="250545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03704" y="242316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40280" y="250545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29D2CA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" y="292608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00837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12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97864" y="292608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4440" y="300837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13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700784" y="292608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300837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14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03704" y="2926080"/>
            <a:ext cx="384048" cy="384048"/>
          </a:xfrm>
          <a:prstGeom prst="roundRect">
            <a:avLst/>
          </a:prstGeom>
          <a:solidFill>
            <a:srgbClr val="183A56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240280" y="3008376"/>
            <a:ext cx="310896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4391FF"/>
                </a:solidFill>
                <a:latin typeface="Malgun Gothic"/>
              </a:defRPr>
            </a:pPr>
            <a:r>
              <a:t>15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926080" y="2377440"/>
            <a:ext cx="777240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3749039" y="1234440"/>
            <a:ext cx="2057400" cy="2304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749039" y="1234440"/>
            <a:ext cx="64008" cy="2304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04487" y="1362456"/>
            <a:ext cx="17830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16 × depth-2 FIFO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904487" y="1700784"/>
            <a:ext cx="1783080" cy="1746504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pending count</a:t>
            </a:r>
            <a:br/>
            <a:r>
              <a:t>front/back polarity</a:t>
            </a:r>
            <a:br/>
            <a:r>
              <a:t>source별 burst 1회 추가 흡수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852160" y="2377440"/>
            <a:ext cx="758952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6675120" y="1234440"/>
            <a:ext cx="1874519" cy="96012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75120" y="1234440"/>
            <a:ext cx="64008" cy="96012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1362456"/>
            <a:ext cx="16001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1700784"/>
            <a:ext cx="1600199" cy="40233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row 1 / row 2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675120" y="2578608"/>
            <a:ext cx="1874519" cy="96012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75120" y="2578608"/>
            <a:ext cx="64008" cy="960120"/>
          </a:xfrm>
          <a:prstGeom prst="rect">
            <a:avLst/>
          </a:prstGeom>
          <a:solidFill>
            <a:srgbClr val="439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30568" y="2706624"/>
            <a:ext cx="1600199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PERIPHERAL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30568" y="3044952"/>
            <a:ext cx="1600199" cy="40233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row 0 / row 3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595360" y="1719072"/>
            <a:ext cx="713232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8595360" y="3063240"/>
            <a:ext cx="713232" cy="0"/>
          </a:xfrm>
          <a:prstGeom prst="line">
            <a:avLst/>
          </a:prstGeom>
          <a:ln w="27940">
            <a:solidFill>
              <a:srgbClr val="43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9372600" y="1170432"/>
            <a:ext cx="205740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372600" y="1170432"/>
            <a:ext cx="64008" cy="1097280"/>
          </a:xfrm>
          <a:prstGeom prst="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28048" y="1298448"/>
            <a:ext cx="17830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RETIRE LANE 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28048" y="1636776"/>
            <a:ext cx="1783080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row + 4b col_mask + 4b pol_mask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372600" y="2514600"/>
            <a:ext cx="2057400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9372600" y="2514600"/>
            <a:ext cx="64008" cy="1097280"/>
          </a:xfrm>
          <a:prstGeom prst="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528048" y="2642616"/>
            <a:ext cx="17830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RETIRE LANE 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28048" y="2980944"/>
            <a:ext cx="1783080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row + 4b col_mask + 4b pol_mask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85800" y="4251960"/>
            <a:ext cx="10744200" cy="1161288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86968" y="4453128"/>
            <a:ext cx="1115568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100" b="1">
                <a:solidFill>
                  <a:srgbClr val="A9BED3"/>
                </a:solidFill>
                <a:latin typeface="Malgun Gothic"/>
              </a:defRPr>
            </a:pPr>
            <a:r>
              <a:t>표현 능력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11680" y="4370832"/>
            <a:ext cx="8942832" cy="40233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1 lane × 4 columns  →  2 lanes × 4 columns  =  최대 8 events/cycle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840" y="4892040"/>
            <a:ext cx="86410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col_mask가 1인 위치의 pol_mask만 유효 event polarity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02  핵심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각 병목에 대응하는 다섯 가지 RTL 아이디어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polarity RTL lines 33–153 · arbiter2/arbiter4_tree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078992"/>
            <a:ext cx="1993392" cy="71323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289304"/>
            <a:ext cx="1810512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4391FF"/>
                </a:solidFill>
                <a:latin typeface="Malgun Gothic"/>
              </a:defRPr>
            </a:pPr>
            <a:r>
              <a:t>DEPTH-2 / SOURCE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706624" y="1435607"/>
            <a:ext cx="539496" cy="0"/>
          </a:xfrm>
          <a:prstGeom prst="line">
            <a:avLst/>
          </a:prstGeom>
          <a:ln w="27940">
            <a:solidFill>
              <a:srgbClr val="43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37560" y="1078992"/>
            <a:ext cx="4617720" cy="7132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2152" y="1243584"/>
            <a:ext cx="4279392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동일 source의 두 번째 event까지 저장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010144" y="1435607"/>
            <a:ext cx="530352" cy="0"/>
          </a:xfrm>
          <a:prstGeom prst="line">
            <a:avLst/>
          </a:prstGeom>
          <a:ln w="27940">
            <a:solidFill>
              <a:srgbClr val="4391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641080" y="1078992"/>
            <a:ext cx="2834640" cy="713232"/>
          </a:xfrm>
          <a:prstGeom prst="roundRect">
            <a:avLst/>
          </a:prstGeom>
          <a:solidFill>
            <a:srgbClr val="112A44"/>
          </a:solidFill>
          <a:ln w="15240">
            <a:solidFill>
              <a:srgbClr val="4391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0" y="1261872"/>
            <a:ext cx="2542032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300" b="1">
                <a:solidFill>
                  <a:srgbClr val="4391FF"/>
                </a:solidFill>
                <a:latin typeface="Malgun Gothic"/>
              </a:defRPr>
            </a:pPr>
            <a:r>
              <a:t>국소 포화 완화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2048256"/>
            <a:ext cx="1993392" cy="71323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258568"/>
            <a:ext cx="1810512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29D2CA"/>
                </a:solidFill>
                <a:latin typeface="Malgun Gothic"/>
              </a:defRPr>
            </a:pPr>
            <a:r>
              <a:t>ROW BITMAP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06624" y="2404872"/>
            <a:ext cx="539496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3337560" y="2048256"/>
            <a:ext cx="4617720" cy="7132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02152" y="2212848"/>
            <a:ext cx="4279392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선택된 row의 최대 4 columns를 동시에 pop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10144" y="2404872"/>
            <a:ext cx="530352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641080" y="2048256"/>
            <a:ext cx="2834640" cy="713232"/>
          </a:xfrm>
          <a:prstGeom prst="roundRect">
            <a:avLst/>
          </a:prstGeom>
          <a:solidFill>
            <a:srgbClr val="112A44"/>
          </a:solidFill>
          <a:ln w="15240">
            <a:solidFill>
              <a:srgbClr val="29D2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0" y="2231136"/>
            <a:ext cx="2542032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300" b="1">
                <a:solidFill>
                  <a:srgbClr val="29D2CA"/>
                </a:solidFill>
                <a:latin typeface="Malgun Gothic"/>
              </a:defRPr>
            </a:pPr>
            <a:r>
              <a:t>scalar 직렬화 완화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17520"/>
            <a:ext cx="1993392" cy="71323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227832"/>
            <a:ext cx="1810512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3ACA86"/>
                </a:solidFill>
                <a:latin typeface="Malgun Gothic"/>
              </a:defRPr>
            </a:pPr>
            <a:r>
              <a:t>2 CLASS LANES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706624" y="3374136"/>
            <a:ext cx="539496" cy="0"/>
          </a:xfrm>
          <a:prstGeom prst="line">
            <a:avLst/>
          </a:prstGeom>
          <a:ln w="27940">
            <a:solidFill>
              <a:srgbClr val="3AC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337560" y="3017520"/>
            <a:ext cx="4617720" cy="7132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02152" y="3182112"/>
            <a:ext cx="4279392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center와 peripheral을 독립 arbitration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10144" y="3374136"/>
            <a:ext cx="530352" cy="0"/>
          </a:xfrm>
          <a:prstGeom prst="line">
            <a:avLst/>
          </a:prstGeom>
          <a:ln w="27940">
            <a:solidFill>
              <a:srgbClr val="3ACA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641080" y="3017520"/>
            <a:ext cx="2834640" cy="713232"/>
          </a:xfrm>
          <a:prstGeom prst="roundRect">
            <a:avLst/>
          </a:prstGeom>
          <a:solidFill>
            <a:srgbClr val="112A44"/>
          </a:solidFill>
          <a:ln w="15240">
            <a:solidFill>
              <a:srgbClr val="3ACA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3200400"/>
            <a:ext cx="2542032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300" b="1">
                <a:solidFill>
                  <a:srgbClr val="3ACA86"/>
                </a:solidFill>
                <a:latin typeface="Malgun Gothic"/>
              </a:defRPr>
            </a:pPr>
            <a:r>
              <a:t>경쟁 지점 분산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3986784"/>
            <a:ext cx="1993392" cy="71323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197096"/>
            <a:ext cx="1810512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AE7CFF"/>
                </a:solidFill>
                <a:latin typeface="Malgun Gothic"/>
              </a:defRPr>
            </a:pPr>
            <a:r>
              <a:t>CONDITIONAL STEAL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06624" y="4343400"/>
            <a:ext cx="539496" cy="0"/>
          </a:xfrm>
          <a:prstGeom prst="line">
            <a:avLst/>
          </a:prstGeom>
          <a:ln w="27940">
            <a:solidFill>
              <a:srgbClr val="AE7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3337560" y="3986784"/>
            <a:ext cx="4617720" cy="7132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02152" y="4151376"/>
            <a:ext cx="4279392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반대 class가 idle일 때 두 row를 양 lane에 배치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010144" y="4343400"/>
            <a:ext cx="530352" cy="0"/>
          </a:xfrm>
          <a:prstGeom prst="line">
            <a:avLst/>
          </a:prstGeom>
          <a:ln w="27940">
            <a:solidFill>
              <a:srgbClr val="AE7C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8641080" y="3986784"/>
            <a:ext cx="2834640" cy="713232"/>
          </a:xfrm>
          <a:prstGeom prst="roundRect">
            <a:avLst/>
          </a:prstGeom>
          <a:solidFill>
            <a:srgbClr val="112A44"/>
          </a:solidFill>
          <a:ln w="15240">
            <a:solidFill>
              <a:srgbClr val="AE7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78240" y="4169664"/>
            <a:ext cx="2542032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300" b="1">
                <a:solidFill>
                  <a:srgbClr val="AE7CFF"/>
                </a:solidFill>
                <a:latin typeface="Malgun Gothic"/>
              </a:defRPr>
            </a:pPr>
            <a:r>
              <a:t>클래스 불균형 완화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4956048"/>
            <a:ext cx="1993392" cy="71323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8" y="5166360"/>
            <a:ext cx="1810512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POLARITY LOCKSTEP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2706624" y="5312664"/>
            <a:ext cx="539496" cy="0"/>
          </a:xfrm>
          <a:prstGeom prst="line">
            <a:avLst/>
          </a:prstGeom>
          <a:ln w="27940">
            <a:solidFill>
              <a:srgbClr val="FF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3337560" y="4956048"/>
            <a:ext cx="4617720" cy="7132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02152" y="5120640"/>
            <a:ext cx="4279392" cy="34747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occupancy push/pop과 polarity FIFO를 동일 제어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010144" y="5312664"/>
            <a:ext cx="530352" cy="0"/>
          </a:xfrm>
          <a:prstGeom prst="line">
            <a:avLst/>
          </a:prstGeom>
          <a:ln w="27940">
            <a:solidFill>
              <a:srgbClr val="FFB7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641080" y="4956048"/>
            <a:ext cx="2834640" cy="713232"/>
          </a:xfrm>
          <a:prstGeom prst="roundRect">
            <a:avLst/>
          </a:prstGeom>
          <a:solidFill>
            <a:srgbClr val="112A44"/>
          </a:solidFill>
          <a:ln w="15240">
            <a:solidFill>
              <a:srgbClr val="FFB7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78240" y="5138928"/>
            <a:ext cx="2542032" cy="3108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300" b="1">
                <a:solidFill>
                  <a:srgbClr val="FFB749"/>
                </a:solidFill>
                <a:latin typeface="Malgun Gothic"/>
              </a:defRPr>
            </a:pPr>
            <a:r>
              <a:t>주소–polarity 정렬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61888"/>
            <a:ext cx="105156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000" b="1">
                <a:solidFill>
                  <a:srgbClr val="FFB749"/>
                </a:solidFill>
                <a:latin typeface="Malgun Gothic"/>
              </a:defRPr>
            </a:pPr>
            <a:r>
              <a:t>제약: shared elastic buffer 아님 · downstream ready 없음 · full source의 same-cycle pop+arrival도 overrun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03  수치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동일 회수 workload에서 구조 병목이 실제로 줄었다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recovered actual Xcelium full50 diagnostics; scalar Fovea vs original Cluster2 architecture family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60704"/>
            <a:ext cx="27432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Accepted events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17904"/>
            <a:ext cx="18288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F5F8FC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1536192"/>
            <a:ext cx="6217920" cy="23774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60320" y="1536192"/>
            <a:ext cx="4570944" cy="237744"/>
          </a:xfrm>
          <a:prstGeom prst="roundRect">
            <a:avLst/>
          </a:prstGeom>
          <a:solidFill>
            <a:srgbClr val="FF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1508760"/>
            <a:ext cx="13258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78,229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1801368"/>
            <a:ext cx="8778240" cy="182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73.51% of generated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76272"/>
            <a:ext cx="18288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F5F8FC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60320" y="2194560"/>
            <a:ext cx="6217920" cy="23774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560320" y="2194560"/>
            <a:ext cx="5501622" cy="237744"/>
          </a:xfrm>
          <a:prstGeom prst="round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167128"/>
            <a:ext cx="13258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100" b="1">
                <a:solidFill>
                  <a:srgbClr val="3ACA86"/>
                </a:solidFill>
                <a:latin typeface="Malgun Gothic"/>
              </a:defRPr>
            </a:pPr>
            <a:r>
              <a:t>94,157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459736"/>
            <a:ext cx="8778240" cy="182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88.48% of generated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53728" y="1389888"/>
            <a:ext cx="214884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1490472"/>
            <a:ext cx="185623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ACCEPTED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1746504"/>
            <a:ext cx="185623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0032" y="2231136"/>
            <a:ext cx="185623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+15,928 events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2944368"/>
            <a:ext cx="27432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600" b="1">
                <a:solidFill>
                  <a:srgbClr val="F5F8FC"/>
                </a:solidFill>
                <a:latin typeface="Malgun Gothic"/>
              </a:defRPr>
            </a:pPr>
            <a:r>
              <a:t>Source overrun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401568"/>
            <a:ext cx="18288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F5F8FC"/>
                </a:solidFill>
                <a:latin typeface="Malgun Gothic"/>
              </a:defRPr>
            </a:pPr>
            <a:r>
              <a:t>Scalar Fovea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3419856"/>
            <a:ext cx="6217920" cy="23774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560320" y="3419856"/>
            <a:ext cx="6217920" cy="237744"/>
          </a:xfrm>
          <a:prstGeom prst="roundRect">
            <a:avLst/>
          </a:prstGeom>
          <a:solidFill>
            <a:srgbClr val="FF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0" y="3392424"/>
            <a:ext cx="13258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100" b="1">
                <a:solidFill>
                  <a:srgbClr val="FF6676"/>
                </a:solidFill>
                <a:latin typeface="Malgun Gothic"/>
              </a:defRPr>
            </a:pPr>
            <a:r>
              <a:t>28,187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059936"/>
            <a:ext cx="182880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F5F8FC"/>
                </a:solidFill>
                <a:latin typeface="Malgun Gothic"/>
              </a:defRPr>
            </a:pPr>
            <a:r>
              <a:t>Cluster2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60320" y="4078224"/>
            <a:ext cx="6217920" cy="23774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560320" y="4078224"/>
            <a:ext cx="2704277" cy="237744"/>
          </a:xfrm>
          <a:prstGeom prst="round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69680" y="4050792"/>
            <a:ext cx="13258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100" b="1">
                <a:solidFill>
                  <a:srgbClr val="29D2CA"/>
                </a:solidFill>
                <a:latin typeface="Malgun Gothic"/>
              </a:defRPr>
            </a:pPr>
            <a:r>
              <a:t>12,259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53728" y="3310128"/>
            <a:ext cx="214884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0032" y="3410712"/>
            <a:ext cx="185623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00032" y="3666744"/>
            <a:ext cx="185623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−56.5%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00032" y="4151376"/>
            <a:ext cx="185623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15,928 fewer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5102352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" y="5202936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FOVEA EPC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" y="5458968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B749"/>
                </a:solidFill>
                <a:latin typeface="Malgun Gothic"/>
              </a:defRPr>
            </a:pPr>
            <a:r>
              <a:t>0.673901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" y="5943600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fixed window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169663" y="5102352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15968" y="5202936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CLUSTER2 EPC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15968" y="5458968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29D2CA"/>
                </a:solidFill>
                <a:latin typeface="Malgun Gothic"/>
              </a:defRPr>
            </a:pPr>
            <a:r>
              <a:t>0.811620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15968" y="5943600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fixed window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653527" y="5102352"/>
            <a:ext cx="32461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799831" y="5202936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THROUGHPUT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99831" y="5458968"/>
            <a:ext cx="29535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+20.4%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99831" y="5943600"/>
            <a:ext cx="29535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same recovered campaign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6384" y="6291072"/>
            <a:ext cx="10515600" cy="1828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800" b="1">
                <a:solidFill>
                  <a:srgbClr val="FFB749"/>
                </a:solidFill>
                <a:latin typeface="Malgun Gothic"/>
              </a:defRPr>
            </a:pPr>
            <a:r>
              <a:t>범위: 원본 구조군 비교 수치. 최종 steal-buffer polarity-v1의 exact head-to-head 개선율로 재해석하지 않음.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03  수치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최종 polarity-v1 RTL은 8,503 events를 끝까지 보존했다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polarity_v1_release_receipt.json · Xcelium 23.09-s013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170432"/>
            <a:ext cx="2084831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271016"/>
            <a:ext cx="1792223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GENERATED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1527048"/>
            <a:ext cx="1792223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4391FF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1170432"/>
            <a:ext cx="2084831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1271016"/>
            <a:ext cx="1792223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1527048"/>
            <a:ext cx="1792223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8,503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170432"/>
            <a:ext cx="2084831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0368" y="1271016"/>
            <a:ext cx="1792223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OVERRUN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1527048"/>
            <a:ext cx="1792223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06056" y="1170432"/>
            <a:ext cx="2084831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1271016"/>
            <a:ext cx="1792223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PHANTOM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1527048"/>
            <a:ext cx="1792223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28048" y="1170432"/>
            <a:ext cx="2084831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74352" y="1271016"/>
            <a:ext cx="1792223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DUPLICATE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527048"/>
            <a:ext cx="1792223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2788920"/>
            <a:ext cx="10808208" cy="107899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3072384"/>
            <a:ext cx="1143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200" b="1">
                <a:solidFill>
                  <a:srgbClr val="A9BED3"/>
                </a:solidFill>
                <a:latin typeface="Malgun Gothic"/>
              </a:defRPr>
            </a:pPr>
            <a:r>
              <a:t>보존 법칙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2944368"/>
            <a:ext cx="882396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2500" b="1">
                <a:solidFill>
                  <a:srgbClr val="3ACA86"/>
                </a:solidFill>
                <a:latin typeface="Malgun Gothic"/>
              </a:defRPr>
            </a:pPr>
            <a:r>
              <a:t>generated  =  delivered + overrun  =  8,503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8" y="4370832"/>
            <a:ext cx="2880360" cy="1033271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1248" y="4370832"/>
            <a:ext cx="64008" cy="1033271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" y="4498848"/>
            <a:ext cx="260604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독립 ledger 재검증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6" y="4837176"/>
            <a:ext cx="2606040" cy="475487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TB 외 Python 경로 · order_violations=0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45152" y="4370832"/>
            <a:ext cx="2880360" cy="1033271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45152" y="4370832"/>
            <a:ext cx="64008" cy="1033271"/>
          </a:xfrm>
          <a:prstGeom prst="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0600" y="4498848"/>
            <a:ext cx="260604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drain 후 empty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00600" y="4837176"/>
            <a:ext cx="2606040" cy="475487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모든 source FIFO 비움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49056" y="4370832"/>
            <a:ext cx="2880360" cy="1033271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9056" y="4370832"/>
            <a:ext cx="64008" cy="1033271"/>
          </a:xfrm>
          <a:prstGeom prst="rect">
            <a:avLst/>
          </a:prstGeom>
          <a:solidFill>
            <a:srgbClr val="AE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04504" y="4498848"/>
            <a:ext cx="260604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polarity 보존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04504" y="4837176"/>
            <a:ext cx="2606040" cy="475487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선택된 col_mask 위치와 일치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" y="5806440"/>
            <a:ext cx="1046988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한계: 동일 source·동일 polarity event의 독립 event-ID 순서 식별은 주장하지 않음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04  시각적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P&amp;R sweep으로 285.714 MHz clean point를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Innovus slow 0.9 V 125 °C setup/hold reports · upstream 9b0d951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2648" y="1188720"/>
          <a:ext cx="78638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2057400"/>
                <a:gridCol w="1554480"/>
                <a:gridCol w="1554480"/>
                <a:gridCol w="1280160"/>
              </a:tblGrid>
              <a:tr h="67665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Period</a:t>
                      </a:r>
                    </a:p>
                  </a:txBody>
                  <a:tcPr marL="54864" marR="54864">
                    <a:solidFill>
                      <a:srgbClr val="183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Frequency</a:t>
                      </a:r>
                    </a:p>
                  </a:txBody>
                  <a:tcPr marL="54864" marR="54864">
                    <a:solidFill>
                      <a:srgbClr val="183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Setup</a:t>
                      </a:r>
                    </a:p>
                  </a:txBody>
                  <a:tcPr marL="54864" marR="54864">
                    <a:solidFill>
                      <a:srgbClr val="183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Hold</a:t>
                      </a:r>
                    </a:p>
                  </a:txBody>
                  <a:tcPr marL="54864" marR="54864">
                    <a:solidFill>
                      <a:srgbClr val="183A5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판정</a:t>
                      </a:r>
                    </a:p>
                  </a:txBody>
                  <a:tcPr marL="54864" marR="54864">
                    <a:solidFill>
                      <a:srgbClr val="183A5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4.5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222.222 MHz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+1.349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+0.166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4.0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250.000 MHz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+0.849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+0.166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3.5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285.714 MHz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+0.454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+0.167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PASS</a:t>
                      </a:r>
                    </a:p>
                  </a:txBody>
                  <a:tcPr marL="54864" marR="54864">
                    <a:solidFill>
                      <a:srgbClr val="175B42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3.0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333.333 MHz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−0.004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+0.169 ns</a:t>
                      </a:r>
                    </a:p>
                  </a:txBody>
                  <a:tcPr marL="54864" marR="54864">
                    <a:solidFill>
                      <a:srgbClr val="112A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5F8FC"/>
                          </a:solidFill>
                          <a:latin typeface="Malgun Gothic"/>
                        </a:defRPr>
                      </a:pPr>
                      <a:r>
                        <a:t>FAIL</a:t>
                      </a:r>
                    </a:p>
                  </a:txBody>
                  <a:tcPr marL="54864" marR="54864">
                    <a:solidFill>
                      <a:srgbClr val="78243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759952" y="1170432"/>
            <a:ext cx="25603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06256" y="1271016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CLEAN 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06256" y="1527048"/>
            <a:ext cx="22677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285.714 MHz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06256" y="2011680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setup +0.454 · hold +0.167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59952" y="2587752"/>
            <a:ext cx="25603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06256" y="2688336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AREA RAW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06256" y="2944368"/>
            <a:ext cx="22677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29D2CA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06256" y="3429000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596 instances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759952" y="4005072"/>
            <a:ext cx="256032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06256" y="4105656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VECTORLESS POWER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06256" y="4361688"/>
            <a:ext cx="226771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B749"/>
                </a:solidFill>
                <a:latin typeface="Malgun Gothic"/>
              </a:defRPr>
            </a:pPr>
            <a:r>
              <a:t>0.107389 mW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4846320"/>
            <a:ext cx="226771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default activity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956048"/>
            <a:ext cx="7726679" cy="118872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51560" y="4837176"/>
            <a:ext cx="256032" cy="256032"/>
          </a:xfrm>
          <a:prstGeom prst="round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19" y="5230368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3ACA86"/>
                </a:solidFill>
                <a:latin typeface="Malgun Gothic"/>
              </a:defRPr>
            </a:pPr>
            <a:r>
              <a:t>222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837176"/>
            <a:ext cx="256032" cy="256032"/>
          </a:xfrm>
          <a:prstGeom prst="round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06040" y="5230368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3ACA86"/>
                </a:solidFill>
                <a:latin typeface="Malgun Gothic"/>
              </a:defRPr>
            </a:pPr>
            <a:r>
              <a:t>250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56048" y="4837176"/>
            <a:ext cx="256032" cy="256032"/>
          </a:xfrm>
          <a:prstGeom prst="round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230368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3ACA86"/>
                </a:solidFill>
                <a:latin typeface="Malgun Gothic"/>
              </a:defRPr>
            </a:pPr>
            <a:r>
              <a:t>285.7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80" y="4837176"/>
            <a:ext cx="256032" cy="256032"/>
          </a:xfrm>
          <a:prstGeom prst="roundRect">
            <a:avLst/>
          </a:prstGeom>
          <a:solidFill>
            <a:srgbClr val="FF6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5230368"/>
            <a:ext cx="9144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FF6676"/>
                </a:solidFill>
                <a:latin typeface="Malgun Gothic"/>
              </a:defRPr>
            </a:pPr>
            <a:r>
              <a:t>333.3 MHz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06440"/>
            <a:ext cx="75895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285.714 MHz PASS / 다음 측정점 333.333 MHz FAIL · 중간 주파수 미측정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04  시각적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구조가 실제 표준셀 배치까지 이어지는지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3.5 ns layout image · area/power/internal physical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09</a:t>
            </a:r>
          </a:p>
        </p:txBody>
      </p:sp>
      <p:pic>
        <p:nvPicPr>
          <p:cNvPr id="9" name="Picture 8" descr="layout_3.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143000"/>
            <a:ext cx="5806440" cy="4983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812280" y="1188720"/>
            <a:ext cx="43434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58584" y="1289304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POST-ROUTE AREA RAW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8584" y="1545336"/>
            <a:ext cx="4050791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29D2CA"/>
                </a:solidFill>
                <a:latin typeface="Malgun Gothic"/>
              </a:defRPr>
            </a:pPr>
            <a:r>
              <a:t>1254.114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58584" y="2029968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596 instances · report unit not stated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2596896"/>
            <a:ext cx="43434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58584" y="2697479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POWER BREAKDOWN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8584" y="2953512"/>
            <a:ext cx="4050791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4391FF"/>
                </a:solidFill>
                <a:latin typeface="Malgun Gothic"/>
              </a:defRPr>
            </a:pPr>
            <a:r>
              <a:t>71.2% internal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58584" y="3438144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28.8% switching · 0.025% leakage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4005072"/>
            <a:ext cx="43434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8584" y="4105656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INTERNAL CHECKS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4361688"/>
            <a:ext cx="4050791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DRC 0 · antenna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8584" y="4846320"/>
            <a:ext cx="4050791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internal reports; foundry signoff 아님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3136" y="5641848"/>
            <a:ext cx="4389120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Non-OCV · SI off · No SPEF/RCDB · ideal-clock/no-drive warnings 공개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05  CAV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별도 address-only track에서 CAV software 확장 경로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Source: official_uzh_cluster2_cav_result.json · sealed legacy address-only bridge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1938528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64008" cy="1097280"/>
          </a:xfrm>
          <a:prstGeom prst="rect">
            <a:avLst/>
          </a:prstGeom>
          <a:solidFill>
            <a:srgbClr val="439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71016"/>
            <a:ext cx="1664208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UZH events + 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609344"/>
            <a:ext cx="1664208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official shapes_rotation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88920" y="1143000"/>
            <a:ext cx="1938528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88920" y="1143000"/>
            <a:ext cx="64008" cy="109728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4368" y="1271016"/>
            <a:ext cx="1664208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Cluster2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1609344"/>
            <a:ext cx="1664208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8,503 exact identity join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1143000"/>
            <a:ext cx="1938528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74920" y="1143000"/>
            <a:ext cx="64008" cy="1097280"/>
          </a:xfrm>
          <a:prstGeom prst="rect">
            <a:avLst/>
          </a:prstGeom>
          <a:solidFill>
            <a:srgbClr val="AE7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0368" y="1271016"/>
            <a:ext cx="1664208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causal-CAV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1609344"/>
            <a:ext cx="1664208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occurrence time geometry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1143000"/>
            <a:ext cx="1938528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60920" y="1143000"/>
            <a:ext cx="64008" cy="1097280"/>
          </a:xfrm>
          <a:prstGeom prst="rect">
            <a:avLst/>
          </a:prstGeom>
          <a:solidFill>
            <a:srgbClr val="3AC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368" y="1271016"/>
            <a:ext cx="1664208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WORLD rays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1609344"/>
            <a:ext cx="1664208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8,420 disposition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46920" y="1143000"/>
            <a:ext cx="1938528" cy="109728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46920" y="1143000"/>
            <a:ext cx="64008" cy="1097280"/>
          </a:xfrm>
          <a:prstGeom prst="rect">
            <a:avLst/>
          </a:prstGeom>
          <a:solidFill>
            <a:srgbClr val="FFB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02368" y="1271016"/>
            <a:ext cx="1664208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512 × 256 grid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02368" y="1609344"/>
            <a:ext cx="1664208" cy="53949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0">
                <a:solidFill>
                  <a:srgbClr val="A9BED3"/>
                </a:solidFill>
                <a:latin typeface="Malgun Gothic"/>
              </a:defRPr>
            </a:pPr>
            <a:r>
              <a:t>821 unique cells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468880" y="1691640"/>
            <a:ext cx="274320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754880" y="1691640"/>
            <a:ext cx="274320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040880" y="1691640"/>
            <a:ext cx="274320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326880" y="1691640"/>
            <a:ext cx="274320" cy="0"/>
          </a:xfrm>
          <a:prstGeom prst="line">
            <a:avLst/>
          </a:prstGeom>
          <a:ln w="27940">
            <a:solidFill>
              <a:srgbClr val="29D2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40080" y="2788920"/>
            <a:ext cx="25146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6384" y="2889503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JOIN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3145536"/>
            <a:ext cx="222199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8,503 / 8,503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" y="3630168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event identity exact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29000" y="2788920"/>
            <a:ext cx="25146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75304" y="2889503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WORLD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5304" y="3145536"/>
            <a:ext cx="222199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29D2CA"/>
                </a:solidFill>
                <a:latin typeface="Malgun Gothic"/>
              </a:defRPr>
            </a:pPr>
            <a:r>
              <a:t>8,420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75304" y="3630168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disposition 99.02% · success율 아님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0" y="2788920"/>
            <a:ext cx="25146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64224" y="2889503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SENSOR_FIXED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64224" y="3145536"/>
            <a:ext cx="222199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B749"/>
                </a:solidFill>
                <a:latin typeface="Malgun Gothic"/>
              </a:defRPr>
            </a:pPr>
            <a:r>
              <a:t>83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64224" y="3630168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0.98% explicit bypass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06840" y="2788920"/>
            <a:ext cx="251460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53144" y="2889503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GRID CELLS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53144" y="3145536"/>
            <a:ext cx="222199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AE7CFF"/>
                </a:solidFill>
                <a:latin typeface="Malgun Gothic"/>
              </a:defRPr>
            </a:pPr>
            <a:r>
              <a:t>821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53144" y="3630168"/>
            <a:ext cx="222199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occupied x 238–298 · y 93–165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13232" y="4434840"/>
            <a:ext cx="10744200" cy="960120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4681728"/>
            <a:ext cx="1417320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100" b="1">
                <a:solidFill>
                  <a:srgbClr val="A9BED3"/>
                </a:solidFill>
                <a:latin typeface="Malgun Gothic"/>
              </a:defRPr>
            </a:pPr>
            <a:r>
              <a:t>시간 의미 분리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240280" y="4608576"/>
            <a:ext cx="8732520" cy="38404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800" b="1">
                <a:solidFill>
                  <a:srgbClr val="F5F8FC"/>
                </a:solidFill>
                <a:latin typeface="Malgun Gothic"/>
              </a:defRPr>
            </a:pPr>
            <a:r>
              <a:t>occurrence timestamp → geometry     |     retire cycle → transport latency sidecar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" y="5833872"/>
            <a:ext cx="1060704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B749"/>
                </a:solidFill>
                <a:latin typeface="Malgun Gothic"/>
              </a:defRPr>
            </a:pPr>
            <a:r>
              <a:t>최종 polarity-v1과 독립된 legacy 결과 · full-population polarity→CAV, wire-complete RTL 및 PPA는 HOLD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46888"/>
            <a:ext cx="1353312" cy="310896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6072" y="283464"/>
            <a:ext cx="1207008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900" b="1">
                <a:solidFill>
                  <a:srgbClr val="29D2CA"/>
                </a:solidFill>
                <a:latin typeface="Malgun Gothic"/>
              </a:defRPr>
            </a:pPr>
            <a: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93392" y="228600"/>
            <a:ext cx="9144000" cy="43891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500" b="1">
                <a:solidFill>
                  <a:srgbClr val="F5F8FC"/>
                </a:solidFill>
                <a:latin typeface="Malgun Gothic"/>
              </a:defRPr>
            </a:pPr>
            <a:r>
              <a:t>결론: 병목–구조–수치–물리–확장 근거를 한 흐름으로 닫았다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804672"/>
            <a:ext cx="11155680" cy="18288"/>
          </a:xfrm>
          <a:prstGeom prst="rect">
            <a:avLst/>
          </a:prstGeom>
          <a:solidFill>
            <a:srgbClr val="29D2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6492240"/>
            <a:ext cx="10515600" cy="16459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700" b="0">
                <a:solidFill>
                  <a:srgbClr val="A9BED3"/>
                </a:solidFill>
                <a:latin typeface="Malgun Gothic"/>
              </a:defRPr>
            </a:pPr>
            <a:r>
              <a:t>Source bundle: receipts · raw reports · SHA256SUMS · PROVENANCE.json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0292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>
              <a:defRPr sz="1000" b="1">
                <a:solidFill>
                  <a:srgbClr val="29D2CA"/>
                </a:solidFill>
                <a:latin typeface="Malgun Gothic"/>
              </a:defRPr>
            </a:pPr>
            <a: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1078992"/>
            <a:ext cx="1417320" cy="60350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261872"/>
            <a:ext cx="1234440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FF6676"/>
                </a:solidFill>
                <a:latin typeface="Malgun Gothic"/>
              </a:defRPr>
            </a:pPr>
            <a:r>
              <a:t>01 병목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67712" y="1078992"/>
            <a:ext cx="5989320" cy="603504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32304" y="1225295"/>
            <a:ext cx="5650992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scalar 직렬화와 source overrun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" y="1920240"/>
            <a:ext cx="1417320" cy="60350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103120"/>
            <a:ext cx="1234440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29D2CA"/>
                </a:solidFill>
                <a:latin typeface="Malgun Gothic"/>
              </a:defRPr>
            </a:pPr>
            <a:r>
              <a:t>02 구조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67712" y="1920240"/>
            <a:ext cx="5989320" cy="603504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32304" y="2066544"/>
            <a:ext cx="5650992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depth-2/source + bitmap 2 lanes + steal + polarity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" y="2761488"/>
            <a:ext cx="1417320" cy="60350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944368"/>
            <a:ext cx="1234440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3ACA86"/>
                </a:solidFill>
                <a:latin typeface="Malgun Gothic"/>
              </a:defRPr>
            </a:pPr>
            <a:r>
              <a:t>03 수치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7712" y="2761488"/>
            <a:ext cx="5989320" cy="603504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32304" y="2907792"/>
            <a:ext cx="5650992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구조군 EPC +20.4% · overrun −56.5%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6656" y="3602736"/>
            <a:ext cx="1417320" cy="60350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785616"/>
            <a:ext cx="1234440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4391FF"/>
                </a:solidFill>
                <a:latin typeface="Malgun Gothic"/>
              </a:defRPr>
            </a:pPr>
            <a:r>
              <a:t>04 물리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67712" y="3602736"/>
            <a:ext cx="5989320" cy="603504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32304" y="3749040"/>
            <a:ext cx="5650992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8,503/8,503 보존 · 285.714 MHz clean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6656" y="4443984"/>
            <a:ext cx="1417320" cy="603504"/>
          </a:xfrm>
          <a:prstGeom prst="roundRect">
            <a:avLst/>
          </a:prstGeom>
          <a:solidFill>
            <a:srgbClr val="183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626864"/>
            <a:ext cx="1234440" cy="219456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100" b="1">
                <a:solidFill>
                  <a:srgbClr val="AE7CFF"/>
                </a:solidFill>
                <a:latin typeface="Malgun Gothic"/>
              </a:defRPr>
            </a:pPr>
            <a:r>
              <a:t>05 확장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67712" y="4443984"/>
            <a:ext cx="5989320" cy="603504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32304" y="4590288"/>
            <a:ext cx="5650992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1400" b="1">
                <a:solidFill>
                  <a:srgbClr val="F5F8FC"/>
                </a:solidFill>
                <a:latin typeface="Malgun Gothic"/>
              </a:defRPr>
            </a:pPr>
            <a:r>
              <a:t>legacy addr-only: 8,503 join → 8,420 WORLD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22792" y="1078992"/>
            <a:ext cx="269748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9096" y="1179576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096" y="1435607"/>
            <a:ext cx="240487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3ACA86"/>
                </a:solidFill>
                <a:latin typeface="Malgun Gothic"/>
              </a:defRPr>
            </a:pPr>
            <a:r>
              <a:t>native AER RTL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096" y="1920240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functional + conditional PPA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22792" y="2542032"/>
            <a:ext cx="269748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69096" y="2642615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GO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69096" y="2898648"/>
            <a:ext cx="240487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29D2CA"/>
                </a:solidFill>
                <a:latin typeface="Malgun Gothic"/>
              </a:defRPr>
            </a:pPr>
            <a:r>
              <a:t>software CAV path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9096" y="3383279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pinned functional feasibility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22792" y="4005072"/>
            <a:ext cx="2697480" cy="1170432"/>
          </a:xfrm>
          <a:prstGeom prst="roundRect">
            <a:avLst/>
          </a:prstGeom>
          <a:solidFill>
            <a:srgbClr val="11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69096" y="4105656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900" b="1">
                <a:solidFill>
                  <a:srgbClr val="A9BED3"/>
                </a:solidFill>
                <a:latin typeface="Malgun Gothic"/>
              </a:defRPr>
            </a:pPr>
            <a:r>
              <a:t>NEXT / HOLD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9096" y="4361688"/>
            <a:ext cx="2404872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2200" b="1">
                <a:solidFill>
                  <a:srgbClr val="FFB749"/>
                </a:solidFill>
                <a:latin typeface="Malgun Gothic"/>
              </a:defRPr>
            </a:pPr>
            <a:r>
              <a:t>CAV RTL + signoff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9096" y="4846320"/>
            <a:ext cx="2404872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defRPr sz="800" b="0">
                <a:solidFill>
                  <a:srgbClr val="A9BED3"/>
                </a:solidFill>
                <a:latin typeface="Malgun Gothic"/>
              </a:defRPr>
            </a:pPr>
            <a:r>
              <a:t>exact Fmax · activity power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8" y="5806440"/>
            <a:ext cx="10561320" cy="30175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>
              <a:defRPr sz="1400" b="1">
                <a:solidFill>
                  <a:srgbClr val="3ACA86"/>
                </a:solidFill>
                <a:latin typeface="Malgun Gothic"/>
              </a:defRPr>
            </a:pPr>
            <a:r>
              <a:t>1차 제출: RTL · TB · synthesis · timing · area · power · frequency · raw evidence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AER 병목을 구조로 풀다 — Cluster2 Polarity AER</dc:title>
  <dc:subject>AER bottlenecks, architecture, quantified improvement, physical evidence, CAV extensibility</dc:subject>
  <dc:creator>AI-semi team</dc:creator>
  <cp:keywords>Cluster2, AER, polarity, bottleneck, Genus, Innovus, CAV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