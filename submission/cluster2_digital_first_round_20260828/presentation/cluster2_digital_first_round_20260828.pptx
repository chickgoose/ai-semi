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621792"/>
            <a:ext cx="10789920" cy="6949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800" b="1">
                <a:solidFill>
                  <a:srgbClr val="F6F9FC"/>
                </a:solidFill>
                <a:latin typeface="Malgun Gothic"/>
              </a:defRPr>
            </a:pPr>
            <a:r>
              <a:t>병목을 줄이고 의미를 보존하는 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417320"/>
            <a:ext cx="987552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100" b="1">
                <a:solidFill>
                  <a:srgbClr val="2AD3CD"/>
                </a:solidFill>
                <a:latin typeface="Malgun Gothic"/>
              </a:defRPr>
            </a:pPr>
            <a:r>
              <a:t>Cluster2 Steal-Buffer Polarity AER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2880360" cy="1874519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242316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FF6376"/>
                </a:solidFill>
                <a:latin typeface="Malgun Gothic"/>
              </a:defRPr>
            </a:pPr>
            <a:r>
              <a:t>AER 병목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07792"/>
            <a:ext cx="242316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200" b="1">
                <a:solidFill>
                  <a:srgbClr val="F6F9FC"/>
                </a:solidFill>
                <a:latin typeface="Malgun Gothic"/>
              </a:defRPr>
            </a:pPr>
            <a:r>
              <a:t>직렬 출력</a:t>
            </a:r>
            <a:br/>
            <a:r>
              <a:t>재발생·불균형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2926080"/>
            <a:ext cx="3657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3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50791" y="2240280"/>
            <a:ext cx="2880360" cy="1874519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392" y="2487168"/>
            <a:ext cx="242316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제안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9392" y="2907792"/>
            <a:ext cx="242316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200" b="1">
                <a:solidFill>
                  <a:srgbClr val="F6F9FC"/>
                </a:solidFill>
                <a:latin typeface="Malgun Gothic"/>
              </a:defRPr>
            </a:pPr>
            <a:r>
              <a:t>bitmap · FIFO</a:t>
            </a:r>
            <a:br/>
            <a:r>
              <a:t>steal · polarity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926080"/>
            <a:ext cx="3657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3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53527" y="2240280"/>
            <a:ext cx="2880360" cy="1874519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2487168"/>
            <a:ext cx="242316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검증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2907792"/>
            <a:ext cx="242316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200" b="1">
                <a:solidFill>
                  <a:srgbClr val="F6F9FC"/>
                </a:solidFill>
                <a:latin typeface="Malgun Gothic"/>
              </a:defRPr>
            </a:pPr>
            <a:r>
              <a:t>full50 loss 0.47%</a:t>
            </a:r>
            <a:br/>
            <a:r>
              <a:t>UZH 8,503 / 8,503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36592"/>
            <a:ext cx="9710928" cy="475488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855464"/>
            <a:ext cx="930859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ACC2D6"/>
                </a:solidFill>
                <a:latin typeface="Malgun Gothic"/>
              </a:defRPr>
            </a:pPr>
            <a:r>
              <a:t>문제 정의  →  구조 설계  →  정량 개선  →  RTL/PPA  →  CAV 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6272784"/>
            <a:ext cx="1005840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2026-08-28  |  Xcelium · Genus · Innovus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Ryu의 문제 흐름을 여섯 설계 요구사항으로 분해했다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team decomposition of Ryu et al., CVPRW 2019 · direct = scoped mitigation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15568"/>
            <a:ext cx="5230368" cy="106070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280160"/>
            <a:ext cx="685800" cy="274320"/>
          </a:xfrm>
          <a:prstGeom prst="roundRect">
            <a:avLst/>
          </a:prstGeom>
          <a:solidFill>
            <a:srgbClr val="FFB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1307592"/>
            <a:ext cx="59436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부분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1280160"/>
            <a:ext cx="19659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FFB746"/>
                </a:solidFill>
                <a:latin typeface="Malgun Gothic"/>
              </a:defRPr>
            </a:pPr>
            <a:r>
              <a:t>① 주소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1618488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bitmap 집약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1600200"/>
            <a:ext cx="2029968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repeat-flag 후속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15568"/>
            <a:ext cx="5230368" cy="106070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685800" cy="27432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307592"/>
            <a:ext cx="59436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직접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1280160"/>
            <a:ext cx="19659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② bandwidth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618488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2 row-bitmap lanes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1600200"/>
            <a:ext cx="2029968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최대 8 events/cycle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2468880"/>
            <a:ext cx="5230368" cy="106070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" y="2633472"/>
            <a:ext cx="685800" cy="27432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2660904"/>
            <a:ext cx="59436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직접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2633472"/>
            <a:ext cx="19659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③ arbitration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19072" y="2971800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병렬 retire + depth-2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2953512"/>
            <a:ext cx="2029968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대기·재발생 완화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468880"/>
            <a:ext cx="5230368" cy="106070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0" y="2633472"/>
            <a:ext cx="685800" cy="274320"/>
          </a:xfrm>
          <a:prstGeom prst="roundRect">
            <a:avLst/>
          </a:prstGeom>
          <a:solidFill>
            <a:srgbClr val="B27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2660904"/>
            <a:ext cx="59436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구조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633472"/>
            <a:ext cx="19659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B27EFF"/>
                </a:solidFill>
                <a:latin typeface="Malgun Gothic"/>
              </a:defRPr>
            </a:pPr>
            <a:r>
              <a:t>④ unfair arbitration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2971800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rotating RR + steal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5712" y="2953512"/>
            <a:ext cx="2029968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fairness 수치는 미측정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822191"/>
            <a:ext cx="5230368" cy="106070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96112" y="3986783"/>
            <a:ext cx="685800" cy="274320"/>
          </a:xfrm>
          <a:prstGeom prst="roundRect">
            <a:avLst/>
          </a:prstGeom>
          <a:solidFill>
            <a:srgbClr val="FF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4014215"/>
            <a:ext cx="59436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19072" y="3986783"/>
            <a:ext cx="19659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FF6376"/>
                </a:solidFill>
                <a:latin typeface="Malgun Gothic"/>
              </a:defRPr>
            </a:pPr>
            <a:r>
              <a:t>⑤ timestamp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9072" y="4325112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time sidecar only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21024" y="4306824"/>
            <a:ext cx="2029968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DUT payload 통합은 후속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22191"/>
            <a:ext cx="5230368" cy="1060704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0" y="3986783"/>
            <a:ext cx="685800" cy="274320"/>
          </a:xfrm>
          <a:prstGeom prst="roundRect">
            <a:avLst/>
          </a:prstGeom>
          <a:solidFill>
            <a:srgbClr val="FF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4014215"/>
            <a:ext cx="59436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3986783"/>
            <a:ext cx="19659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FF6376"/>
                </a:solidFill>
                <a:latin typeface="Malgun Gothic"/>
              </a:defRPr>
            </a:pPr>
            <a:r>
              <a:t>⑥ motion artifact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4325112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sensor/system 대응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5712" y="4306824"/>
            <a:ext cx="2029968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이번 RTL에서는 미검증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B746"/>
                </a:solidFill>
                <a:latin typeface="Malgun Gothic"/>
              </a:defRPr>
            </a:pPr>
            <a:r>
              <a:t>②③은 직접 완화 · ①④는 부분/구조 대응 · ⑤⑥은 이번 RTL의 HOLD 범위다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Ryu의 문제 흐름을 여섯 설계 요구사항으로 분해했다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scalar 출력은 동시 입력을 source-local loss로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recovered scalar Fovea Xcelium full50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133856"/>
            <a:ext cx="192024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4793FF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" y="1536192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536192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00784" y="1536192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121408" y="1536192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9536" y="1956816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80160" y="1956816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00784" y="1956816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21408" y="1956816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9536" y="2377440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2377440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00784" y="2377440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21408" y="2377440"/>
            <a:ext cx="301752" cy="3017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1984248"/>
            <a:ext cx="64008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3400" b="1">
                <a:solidFill>
                  <a:srgbClr val="FFB746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84448" y="1280160"/>
            <a:ext cx="2962656" cy="19202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1600200"/>
            <a:ext cx="2450592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공유 arbitration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8496" y="2103120"/>
            <a:ext cx="2212848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0">
                <a:solidFill>
                  <a:srgbClr val="ACC2D6"/>
                </a:solidFill>
                <a:latin typeface="Malgun Gothic"/>
              </a:defRPr>
            </a:pPr>
            <a:r>
              <a:t>여러 event가 하나의</a:t>
            </a:r>
            <a:br/>
            <a:r>
              <a:t>출력 순서를 기다림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1984248"/>
            <a:ext cx="64008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3400" b="1">
                <a:solidFill>
                  <a:srgbClr val="FF6376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34656" y="1280160"/>
            <a:ext cx="3703320" cy="192024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7264" y="1664208"/>
            <a:ext cx="3127248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300" b="1">
                <a:solidFill>
                  <a:srgbClr val="FF6376"/>
                </a:solidFill>
                <a:latin typeface="Malgun Gothic"/>
              </a:defRPr>
            </a:pPr>
            <a:r>
              <a:t>1 EVENT / 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4112" y="2350008"/>
            <a:ext cx="3255264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F6F9FC"/>
                </a:solidFill>
                <a:latin typeface="Malgun Gothic"/>
              </a:defRPr>
            </a:pPr>
            <a:r>
              <a:t>대기 누적  →  local full  →  overrun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3767328"/>
            <a:ext cx="3246120" cy="10515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3877056"/>
            <a:ext cx="2916936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ACCEPTED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133088"/>
            <a:ext cx="2916936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FFB746"/>
                </a:solidFill>
                <a:latin typeface="Malgun Gothic"/>
              </a:defRPr>
            </a:pPr>
            <a:r>
              <a:t>78,229 / 106,416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53712"/>
            <a:ext cx="2916936" cy="17373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73.51%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767328"/>
            <a:ext cx="2788920" cy="10515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3877056"/>
            <a:ext cx="2459736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133088"/>
            <a:ext cx="2459736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FF63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553712"/>
            <a:ext cx="2459736" cy="17373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full50 baseline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62672" y="3767328"/>
            <a:ext cx="3566160" cy="10515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27264" y="3877056"/>
            <a:ext cx="3236976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THROUGHPUT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7264" y="4133088"/>
            <a:ext cx="3236976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FF6376"/>
                </a:solidFill>
                <a:latin typeface="Malgun Gothic"/>
              </a:defRPr>
            </a:pPr>
            <a:r>
              <a:t>0.673901 EPC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27264" y="4553712"/>
            <a:ext cx="3236976" cy="17373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fixed-window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B746"/>
                </a:solidFill>
                <a:latin typeface="Malgun Gothic"/>
              </a:defRPr>
            </a:pPr>
            <a:r>
              <a:t>따라서 출력 폭, 재발생 흡수, traffic 균형을 동시에 풀어야 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scalar 출력은 동시 입력을 source-local loss로 바꾼다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네 메커니즘이 하나의 retire 경로에서 함께 동작한다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final polarity RTL SHA-256 20d601a9…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17320"/>
            <a:ext cx="1874519" cy="2286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73352"/>
            <a:ext cx="154533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4793FF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21992"/>
            <a:ext cx="150876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event + polarity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417320"/>
            <a:ext cx="2194560" cy="2286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1673352"/>
            <a:ext cx="186537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FFB746"/>
                </a:solidFill>
                <a:latin typeface="Malgun Gothic"/>
              </a:defRPr>
            </a:pPr>
            <a:r>
              <a:t>16 × DEPTH-2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221992"/>
            <a:ext cx="182880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pending count</a:t>
            </a:r>
            <a:br/>
            <a:r>
              <a:t>+ 2 polarity slots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051560"/>
            <a:ext cx="2331720" cy="141732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05272" y="1307592"/>
            <a:ext cx="200253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2AD3CD"/>
                </a:solidFill>
                <a:latin typeface="Malgun Gothic"/>
              </a:defRPr>
            </a:pPr>
            <a:r>
              <a:t>CENTER 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1856231"/>
            <a:ext cx="196596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row bitmap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40680" y="2788920"/>
            <a:ext cx="2331720" cy="141732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05272" y="3044952"/>
            <a:ext cx="200253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B27EFF"/>
                </a:solidFill>
                <a:latin typeface="Malgun Gothic"/>
              </a:defRPr>
            </a:pPr>
            <a:r>
              <a:t>PERIPH. LANE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3593591"/>
            <a:ext cx="196596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row bitmap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417320"/>
            <a:ext cx="2880360" cy="2286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673352"/>
            <a:ext cx="255117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37CD85"/>
                </a:solidFill>
                <a:latin typeface="Malgun Gothic"/>
              </a:defRPr>
            </a:pPr>
            <a:r>
              <a:t>RETIRE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21992"/>
            <a:ext cx="251460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row + col_mask</a:t>
            </a:r>
            <a:br/>
            <a:r>
              <a:t>+ pol_mask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9736" y="2304288"/>
            <a:ext cx="34747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304288"/>
            <a:ext cx="34747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5" y="2304288"/>
            <a:ext cx="34747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800" b="1">
                <a:solidFill>
                  <a:srgbClr val="37CD85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4462272"/>
            <a:ext cx="2697480" cy="420624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13248" y="4553712"/>
            <a:ext cx="239572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B27EFF"/>
                </a:solidFill>
                <a:latin typeface="Malgun Gothic"/>
              </a:defRPr>
            </a:pPr>
            <a:r>
              <a:t>traffic 쏠림 시 lane steal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40496" y="4462272"/>
            <a:ext cx="2240280" cy="420624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4553712"/>
            <a:ext cx="199339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071627"/>
                </a:solidFill>
                <a:latin typeface="Malgun Gothic"/>
              </a:defRPr>
            </a:pPr>
            <a:r>
              <a:t>최대 8 events/cycle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Cluster2의 병렬 row 전송 위에 depth-2·steal·polarity lockstep을 통합했다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네 메커니즘이 하나의 retire 경로에서 함께 동작한다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bitmap은 출력 폭, depth-2는 source 재발생을 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final RTL contract · full50 bottleneck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43000"/>
            <a:ext cx="5230368" cy="416052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426464"/>
            <a:ext cx="46817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2AD3CD"/>
                </a:solidFill>
                <a:latin typeface="Malgun Gothic"/>
              </a:defRPr>
            </a:pPr>
            <a:r>
              <a:t>IDEA 1  ROW BITMAP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029968"/>
            <a:ext cx="475488" cy="47548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74519" y="2029968"/>
            <a:ext cx="475488" cy="47548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06040" y="2029968"/>
            <a:ext cx="475488" cy="47548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37560" y="2029968"/>
            <a:ext cx="475488" cy="47548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706624"/>
            <a:ext cx="45262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같은 row의 4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054096"/>
            <a:ext cx="502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3312" y="3584448"/>
            <a:ext cx="3931920" cy="80467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3803904"/>
            <a:ext cx="338328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col_mask = 4'b1111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718304"/>
            <a:ext cx="4297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1개 주소가 최대 4 events 표현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143000"/>
            <a:ext cx="5230368" cy="416052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1426464"/>
            <a:ext cx="46817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IDEA 2  DEPTH-2 / SOURCE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832" y="1920240"/>
            <a:ext cx="329184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1865376"/>
            <a:ext cx="960120" cy="5303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9752" y="2002536"/>
            <a:ext cx="813816" cy="2103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F6F9FC"/>
                </a:solidFill>
                <a:latin typeface="Malgun Gothic"/>
              </a:defRPr>
            </a:pPr>
            <a:r>
              <a:t>event 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1865376"/>
            <a:ext cx="960120" cy="5303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9912" y="2002536"/>
            <a:ext cx="813816" cy="2103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F6F9FC"/>
                </a:solidFill>
                <a:latin typeface="Malgun Gothic"/>
              </a:defRPr>
            </a:pPr>
            <a:r>
              <a:t>event 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1865376"/>
            <a:ext cx="960120" cy="530352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2002536"/>
            <a:ext cx="813816" cy="2103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F6F9FC"/>
                </a:solidFill>
                <a:latin typeface="Malgun Gothic"/>
              </a:defRPr>
            </a:pPr>
            <a:r>
              <a:t>grant 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88352" y="2880360"/>
            <a:ext cx="2999232" cy="105156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0" y="3218688"/>
            <a:ext cx="259689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slot 0: A  |  slot 1: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4343400"/>
            <a:ext cx="449884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두 번째 event를 overrun 대신 저장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병렬 표현과 local buffering을 분리했기 때문에 두 병목을 동시에 완화한다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bitmap은 출력 폭, depth-2는 source 재발생을 푼다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lane steal은 불균형을, lockstep은 event 의미를 지킨다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final polarity RTL · native observational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43000"/>
            <a:ext cx="5230368" cy="416052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426464"/>
            <a:ext cx="46817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IDEA 3  CONDITIONAL STEAL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993392"/>
            <a:ext cx="1664208" cy="137160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2231136"/>
            <a:ext cx="1207008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2AD3CD"/>
                </a:solidFill>
                <a:latin typeface="Malgun Gothic"/>
              </a:defRPr>
            </a:pPr>
            <a:r>
              <a:t>CENTER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79192"/>
            <a:ext cx="1207008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900" b="1">
                <a:solidFill>
                  <a:srgbClr val="F6F9FC"/>
                </a:solidFill>
                <a:latin typeface="Malgun Gothic"/>
              </a:defRPr>
            </a:pPr>
            <a:r>
              <a:t>busy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1993392"/>
            <a:ext cx="1664208" cy="137160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ACC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2231136"/>
            <a:ext cx="1207008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PERIPH.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207008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900" b="1">
                <a:solidFill>
                  <a:srgbClr val="ACC2D6"/>
                </a:solidFill>
                <a:latin typeface="Malgun Gothic"/>
              </a:defRPr>
            </a:pPr>
            <a:r>
              <a:t>idle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2432304"/>
            <a:ext cx="1060704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B27EFF"/>
                </a:solidFill>
                <a:latin typeface="Malgun Gothic"/>
              </a:defRPr>
            </a:pPr>
            <a:r>
              <a:t>← steal</a:t>
            </a:r>
            <a:br/>
            <a:r>
              <a:t>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50791"/>
            <a:ext cx="4480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B27EFF"/>
                </a:solidFill>
                <a:latin typeface="Malgun Gothic"/>
              </a:defRPr>
            </a:pPr>
            <a:r>
              <a:t>idle class의 처리력을 재사용</a:t>
            </a:r>
            <a:br/>
            <a:r>
              <a:t>(global fairness 수치는 별도)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143000"/>
            <a:ext cx="5230368" cy="416052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426464"/>
            <a:ext cx="46817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IDEA 4  POLARITY LOCKSTEP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1975104"/>
            <a:ext cx="4078224" cy="74980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2176272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176272"/>
            <a:ext cx="157276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F6F9FC"/>
                </a:solidFill>
                <a:latin typeface="Malgun Gothic"/>
              </a:defRPr>
            </a:pPr>
            <a:r>
              <a:t>row2 col1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63456" y="2176272"/>
            <a:ext cx="123444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300" b="1">
                <a:solidFill>
                  <a:srgbClr val="4793FF"/>
                </a:solidFill>
                <a:latin typeface="Malgun Gothic"/>
              </a:defRPr>
            </a:pPr>
            <a:r>
              <a:t>pol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3026664"/>
            <a:ext cx="4078224" cy="74980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3227832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227832"/>
            <a:ext cx="1572768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F6F9FC"/>
                </a:solidFill>
                <a:latin typeface="Malgun Gothic"/>
              </a:defRPr>
            </a:pPr>
            <a:r>
              <a:t>row2 col2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63456" y="3227832"/>
            <a:ext cx="123444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300" b="1">
                <a:solidFill>
                  <a:srgbClr val="4793FF"/>
                </a:solidFill>
                <a:latin typeface="Malgun Gothic"/>
              </a:defRPr>
            </a:pPr>
            <a:r>
              <a:t>pol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4297680"/>
            <a:ext cx="4553712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주소·polarity를 같은 slot에서 push/pop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steal_buf는 처리력 낭비와 재발생 손실을 잡고, polarity FIFO는 의미를 보존한다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lane steal은 불균형을, lockstep은 event 의미를 지킨다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주소 부호화: repeat-flag 통합은 아직 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row-trim/repeat-flag studies · address-only integration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234440"/>
            <a:ext cx="3291840" cy="404164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17904"/>
            <a:ext cx="2889504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2AD3CD"/>
                </a:solidFill>
                <a:latin typeface="Malgun Gothic"/>
              </a:defRPr>
            </a:pPr>
            <a:r>
              <a:t>FINAL POLARITY RTL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93392"/>
            <a:ext cx="2889504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200" b="1">
                <a:solidFill>
                  <a:srgbClr val="F6F9FC"/>
                </a:solidFill>
                <a:latin typeface="Malgun Gothic"/>
              </a:defRPr>
            </a:pPr>
            <a:r>
              <a:t>ROW +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15184"/>
            <a:ext cx="2889504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800" b="1">
                <a:solidFill>
                  <a:srgbClr val="2AD3CD"/>
                </a:solidFill>
                <a:latin typeface="Malgun Gothic"/>
              </a:defRPr>
            </a:pPr>
            <a:r>
              <a:t>row · col_mask · pol_mask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767328"/>
            <a:ext cx="283464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ACC2D6"/>
                </a:solidFill>
                <a:latin typeface="Malgun Gothic"/>
              </a:defRPr>
            </a:pPr>
            <a:r>
              <a:t>제출된 polarity RTL의 현재 encoding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1234440"/>
            <a:ext cx="3182112" cy="404164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ACC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517904"/>
            <a:ext cx="277977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ACC2D6"/>
                </a:solidFill>
                <a:latin typeface="Malgun Gothic"/>
              </a:defRPr>
            </a:pPr>
            <a:r>
              <a:t>ADDRESS-ONLY STUDY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93392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200" b="1">
                <a:solidFill>
                  <a:srgbClr val="F6F9FC"/>
                </a:solidFill>
                <a:latin typeface="Malgun Gothic"/>
              </a:defRPr>
            </a:pPr>
            <a:r>
              <a:t>ROW-TRIM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15184"/>
            <a:ext cx="2779776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3400" b="1">
                <a:solidFill>
                  <a:srgbClr val="ACC2D6"/>
                </a:solidFill>
                <a:latin typeface="Malgun Gothic"/>
              </a:defRPr>
            </a:pPr>
            <a:r>
              <a:t>−14.29%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3767328"/>
            <a:ext cx="2724912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F6376"/>
                </a:solidFill>
                <a:latin typeface="Malgun Gothic"/>
              </a:defRPr>
            </a:pPr>
            <a:r>
              <a:t>기본 Cluster2 전용</a:t>
            </a:r>
            <a:br/>
            <a:r>
              <a:t>steal_buf row에는 적용 불가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18704" y="1234440"/>
            <a:ext cx="3547872" cy="404164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2" y="1517904"/>
            <a:ext cx="3145536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ADDRESS-ONLY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1993392"/>
            <a:ext cx="314553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200" b="1">
                <a:solidFill>
                  <a:srgbClr val="F6F9FC"/>
                </a:solidFill>
                <a:latin typeface="Malgun Gothic"/>
              </a:defRPr>
            </a:pPr>
            <a:r>
              <a:t>REPEAT-FLAG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615184"/>
            <a:ext cx="3145536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3400" b="1">
                <a:solidFill>
                  <a:srgbClr val="FFB746"/>
                </a:solidFill>
                <a:latin typeface="Malgun Gothic"/>
              </a:defRPr>
            </a:pPr>
            <a:r>
              <a:t>−15.61%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7304" y="3767328"/>
            <a:ext cx="3090672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steal_buf address 실험</a:t>
            </a:r>
            <a:br/>
            <a:r>
              <a:t>polarity grammar 재검증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B746"/>
                </a:solidFill>
                <a:latin typeface="Malgun Gothic"/>
              </a:defRPr>
            </a:pPr>
            <a:r>
              <a:t>최종 제출: ROW + MASK  |  repeat-flag: final-polarity 재검증 전까지 2차 후보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주소 부호화: repeat-flag 통합은 아직 HOLD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full50 source-overrun: 12,259 → 502 (−95.9%)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recovered scalar/base + upstream steal_buf full50 · same 106,416-event denominator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950976"/>
            <a:ext cx="10771632" cy="438912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60704"/>
            <a:ext cx="1033272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1">
                <a:solidFill>
                  <a:srgbClr val="2AD3CD"/>
                </a:solidFill>
                <a:latin typeface="Malgun Gothic"/>
              </a:defRPr>
            </a:pPr>
            <a:r>
              <a:t>동일 full50 50 traces · 106,416 generated events /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1856232"/>
            <a:ext cx="1353312" cy="2514600"/>
          </a:xfrm>
          <a:prstGeom prst="rect">
            <a:avLst/>
          </a:prstGeom>
          <a:solidFill>
            <a:srgbClr val="FF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490472"/>
            <a:ext cx="2084831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FF637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572000"/>
            <a:ext cx="230428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F6F9FC"/>
                </a:solidFill>
                <a:latin typeface="Malgun Gothic"/>
              </a:defRPr>
            </a:pPr>
            <a:r>
              <a:t>SCALAR FOVEA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937760"/>
            <a:ext cx="230428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loss 28,187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96512" y="3277280"/>
            <a:ext cx="1353312" cy="1093551"/>
          </a:xfrm>
          <a:prstGeom prst="rect">
            <a:avLst/>
          </a:prstGeom>
          <a:solidFill>
            <a:srgbClr val="FFB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911520"/>
            <a:ext cx="2084831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FFB746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4572000"/>
            <a:ext cx="230428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F6F9FC"/>
                </a:solidFill>
                <a:latin typeface="Malgun Gothic"/>
              </a:defRPr>
            </a:pPr>
            <a:r>
              <a:t>BASE CLUSTER2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4937760"/>
            <a:ext cx="230428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loss 12,259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21423" y="4279392"/>
            <a:ext cx="1353312" cy="91440"/>
          </a:xfrm>
          <a:prstGeom prst="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572768"/>
            <a:ext cx="2084831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37CD85"/>
                </a:solidFill>
                <a:latin typeface="Malgun Gothic"/>
              </a:defRPr>
            </a:pPr>
            <a:r>
              <a:t>0.47%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4572000"/>
            <a:ext cx="230428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F6F9FC"/>
                </a:solidFill>
                <a:latin typeface="Malgun Gothic"/>
              </a:defRPr>
            </a:pPr>
            <a:r>
              <a:t>STEAL_BUF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4937760"/>
            <a:ext cx="230428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loss 502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42832" y="1417320"/>
            <a:ext cx="2331720" cy="137160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664208"/>
            <a:ext cx="1929384" cy="42062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700" b="1">
                <a:solidFill>
                  <a:srgbClr val="071627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2194560"/>
            <a:ext cx="2084831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200" b="1">
                <a:solidFill>
                  <a:srgbClr val="071627"/>
                </a:solidFill>
                <a:latin typeface="Malgun Gothic"/>
              </a:defRPr>
            </a:pPr>
            <a:r>
              <a:t>남은 loss = 1/24.42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59952" y="3108960"/>
            <a:ext cx="269748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3319272"/>
            <a:ext cx="228600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48 / 50 traces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6256" y="3694176"/>
            <a:ext cx="239572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overrun 0 · worst 5.39%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B746"/>
                </a:solidFill>
                <a:latin typeface="Malgun Gothic"/>
              </a:defRPr>
            </a:pPr>
            <a:r>
              <a:t>architecture-family full50 결과이며, 다음 UZH polarity-v1 검증과는 별도 population이다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full50 source-overrun: 12,259 → 502 (−95.9%)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실제 TB: 입력부터 cycle ledger까지 독립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Xcelium 23.09-s013 · polarity-v1 native observational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225296"/>
            <a:ext cx="2212848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417320"/>
            <a:ext cx="1883664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4793FF"/>
                </a:solidFill>
                <a:latin typeface="Malgun Gothic"/>
              </a:defRPr>
            </a:pPr>
            <a:r>
              <a:t>UZH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709928"/>
            <a:ext cx="1956816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6F9FC"/>
                </a:solidFill>
                <a:latin typeface="Malgun Gothic"/>
              </a:defRPr>
            </a:pPr>
            <a:r>
              <a:t>8,503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600200"/>
            <a:ext cx="329184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82112" y="1225296"/>
            <a:ext cx="2212848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6704" y="1417320"/>
            <a:ext cx="1883664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RTL + TB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709928"/>
            <a:ext cx="1956816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6F9FC"/>
                </a:solidFill>
                <a:latin typeface="Malgun Gothic"/>
              </a:defRPr>
            </a:pPr>
            <a:r>
              <a:t>Xcelium</a:t>
            </a:r>
            <a:br/>
            <a:r>
              <a:t>23.09-s013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1600200"/>
            <a:ext cx="329184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1225296"/>
            <a:ext cx="2212848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1344" y="1417320"/>
            <a:ext cx="1883664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B27EFF"/>
                </a:solidFill>
                <a:latin typeface="Malgun Gothic"/>
              </a:defRPr>
            </a:pPr>
            <a:r>
              <a:t>CYCLE LEDGER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1709928"/>
            <a:ext cx="1956816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6F9FC"/>
                </a:solidFill>
                <a:latin typeface="Malgun Gothic"/>
              </a:defRPr>
            </a:pPr>
            <a:r>
              <a:t>independent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1600200"/>
            <a:ext cx="329184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1225296"/>
            <a:ext cx="2212848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417320"/>
            <a:ext cx="1883664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5984" y="1709928"/>
            <a:ext cx="1956816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6F9FC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441448"/>
            <a:ext cx="996696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TB · redred_cluster2_polarity_v1_native_observational_tb.sv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2761488"/>
            <a:ext cx="10561320" cy="1225296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2990088"/>
            <a:ext cx="24688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200" b="1">
                <a:solidFill>
                  <a:srgbClr val="2AD3CD"/>
                </a:solidFill>
                <a:latin typeface="Malgun Gothic"/>
              </a:defRPr>
            </a:pPr>
            <a:r>
              <a:t>REAL RETIRE · CYCLE 4162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2953512"/>
            <a:ext cx="312724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6F9FC"/>
                </a:solidFill>
                <a:latin typeface="Malgun Gothic"/>
              </a:defRPr>
            </a:pPr>
            <a:r>
              <a:t>lane0  row2  col=0x6  pol=0x0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9752" y="2953512"/>
            <a:ext cx="312724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6F9FC"/>
                </a:solidFill>
                <a:latin typeface="Malgun Gothic"/>
              </a:defRPr>
            </a:pPr>
            <a:r>
              <a:t>lane1  row0  col=0x1  pol=0x1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3493008"/>
            <a:ext cx="66751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col_mask popcount 2 + 1  →  두 lane에서 3 events 동시 retire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2" y="4361688"/>
            <a:ext cx="2249424" cy="74980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17136"/>
            <a:ext cx="1426464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96312" y="4489704"/>
            <a:ext cx="5029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900" b="1">
                <a:solidFill>
                  <a:srgbClr val="37CD85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4361688"/>
            <a:ext cx="2249424" cy="74980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4176" y="4517136"/>
            <a:ext cx="1426464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phantom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93208" y="4489704"/>
            <a:ext cx="5029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900" b="1">
                <a:solidFill>
                  <a:srgbClr val="37CD85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1344" y="4361688"/>
            <a:ext cx="2249424" cy="74980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4517136"/>
            <a:ext cx="1426464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duplicate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0104" y="4489704"/>
            <a:ext cx="5029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900" b="1">
                <a:solidFill>
                  <a:srgbClr val="37CD85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78240" y="4361688"/>
            <a:ext cx="2249424" cy="74980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87967" y="4517136"/>
            <a:ext cx="1426464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pol mismatch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4489704"/>
            <a:ext cx="5029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900" b="1">
                <a:solidFill>
                  <a:srgbClr val="37CD85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UZH shapes_rotation 4×4 patch · 1 ms bins · selected-event polarity sequence · drain empty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실제 TB: 입력부터 cycle ledger까지 독립 검증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04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최종 polarity-v1 RTL: 3.5 ns post-route setup·hold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Genus/Innovus · GPDK045 slow 0.9 V/125 °C · discrete per-target 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097280"/>
            <a:ext cx="3749039" cy="126187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243584"/>
            <a:ext cx="24688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POST-ROUTE TIMING TARGET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216152"/>
            <a:ext cx="713232" cy="27432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1271016"/>
            <a:ext cx="603504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1536192"/>
            <a:ext cx="336499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1">
                <a:solidFill>
                  <a:srgbClr val="37CD85"/>
                </a:solidFill>
                <a:latin typeface="Malgun Gothic"/>
              </a:defRPr>
            </a:pPr>
            <a:r>
              <a:t>3.5 ns · 285.714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011680"/>
            <a:ext cx="336499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setup WNS +0.454 ns · hold WNS +0.167 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36592" y="1097280"/>
            <a:ext cx="3090672" cy="126187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1243584"/>
            <a:ext cx="2724912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AREA · RAW REPORT UNIT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1572768"/>
            <a:ext cx="987552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SYNTHESIS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25312" y="1527048"/>
            <a:ext cx="1536192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900" b="1">
                <a:solidFill>
                  <a:srgbClr val="2AD3CD"/>
                </a:solidFill>
                <a:latin typeface="Malgun Gothic"/>
              </a:defRPr>
            </a:pPr>
            <a:r>
              <a:t>1156.644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9472" y="1847088"/>
            <a:ext cx="2542032" cy="9144"/>
          </a:xfrm>
          <a:prstGeom prst="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9472" y="1956816"/>
            <a:ext cx="987552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5312" y="1911095"/>
            <a:ext cx="1536192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900" b="1">
                <a:solidFill>
                  <a:srgbClr val="F6F9FC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097280"/>
            <a:ext cx="3163824" cy="126187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1243584"/>
            <a:ext cx="2798064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POST-ROUTE POWER · VECTORLESS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1536192"/>
            <a:ext cx="2798064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FFB746"/>
                </a:solidFill>
                <a:latin typeface="Malgun Gothic"/>
              </a:defRPr>
            </a:pPr>
            <a:r>
              <a:t>0.107389 mW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2011680"/>
            <a:ext cx="279806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default activity 0.2 · not workload power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542032"/>
            <a:ext cx="45720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DISCRETE POST-ROUTE SETUP WNS SWEEP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7904" y="2999232"/>
            <a:ext cx="5449824" cy="73152"/>
          </a:xfrm>
          <a:prstGeom prst="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67728" y="2999232"/>
            <a:ext cx="2724912" cy="73152"/>
          </a:xfrm>
          <a:prstGeom prst="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07592" y="2788920"/>
            <a:ext cx="420624" cy="420624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401568"/>
            <a:ext cx="129844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222.222 MHz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" y="3749039"/>
            <a:ext cx="140817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WNS +1.349 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32503" y="2788920"/>
            <a:ext cx="420624" cy="420624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93591" y="3401568"/>
            <a:ext cx="129844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250.000 MHz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8727" y="3749039"/>
            <a:ext cx="140817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WNS +0.849 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57416" y="2788920"/>
            <a:ext cx="420624" cy="420624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3401568"/>
            <a:ext cx="129844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749039"/>
            <a:ext cx="140817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WNS +0.454 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82328" y="2788920"/>
            <a:ext cx="420624" cy="420624"/>
          </a:xfrm>
          <a:prstGeom prst="roundRect">
            <a:avLst/>
          </a:prstGeom>
          <a:solidFill>
            <a:srgbClr val="FF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43416" y="3401568"/>
            <a:ext cx="129844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FF6376"/>
                </a:solidFill>
                <a:latin typeface="Malgun Gothic"/>
              </a:defRPr>
            </a:pPr>
            <a:r>
              <a:t>333.333 MHz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552" y="3749039"/>
            <a:ext cx="140817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WNS −0.004 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6112" y="4224528"/>
            <a:ext cx="6547104" cy="71323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4343400"/>
            <a:ext cx="19202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PER-TARGET FLOW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614476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300" b="1">
                <a:solidFill>
                  <a:srgbClr val="F6F9FC"/>
                </a:solidFill>
                <a:latin typeface="Malgun Gothic"/>
              </a:defRPr>
            </a:pPr>
            <a:r>
              <a:t>Genus: generic → map → opt  |  Innovus: place → CTS → route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54112" y="4224528"/>
            <a:ext cx="3310128" cy="71323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4343400"/>
            <a:ext cx="2944368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INTERNAL TOOL CHECKS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6992" y="4590288"/>
            <a:ext cx="2944368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1">
                <a:solidFill>
                  <a:srgbClr val="37CD85"/>
                </a:solidFill>
                <a:latin typeface="Malgun Gothic"/>
              </a:defRPr>
            </a:pPr>
            <a:r>
              <a:t>DRC 0 · antenna 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6112" y="5047488"/>
            <a:ext cx="10168128" cy="4389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0704" y="5166360"/>
            <a:ext cx="67665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FFB746"/>
                </a:solidFill>
                <a:latin typeface="Malgun Gothic"/>
              </a:defRPr>
            </a:pPr>
            <a:r>
              <a:t>LIMITS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10512" y="5157216"/>
            <a:ext cx="905256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F6F9FC"/>
                </a:solidFill>
                <a:latin typeface="Malgun Gothic"/>
              </a:defRPr>
            </a:pPr>
            <a:r>
              <a:t>single slow view · Non-OCV · SI off · no SPEF/RCDB · vectorless power · internal checks only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B746"/>
                </a:solidFill>
                <a:latin typeface="Malgun Gothic"/>
              </a:defRPr>
            </a:pPr>
            <a:r>
              <a:t>GO: 3.5 ns reported setup·hold PASS  |  HOLD: exact Fmax·activity power·signoff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04 구현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최종 polarity-v1 RTL: 3.5 ns post-route setup·hold PASS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05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별도 software path에서 CAV 좌표계 전수 분기를 검증했다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Source: sealed legacy address-only official UZH→CAV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042415"/>
            <a:ext cx="10771632" cy="475488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161288"/>
            <a:ext cx="1033272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SEPARATE SOFTWARE TRACK · legacy address-only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773936"/>
            <a:ext cx="2139696" cy="144475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1993392"/>
            <a:ext cx="1828800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EVENTS + 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432304"/>
            <a:ext cx="192024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8,503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267712"/>
            <a:ext cx="3657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1773936"/>
            <a:ext cx="2139696" cy="144475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0712" y="1993392"/>
            <a:ext cx="1828800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37CD85"/>
                </a:solidFill>
                <a:latin typeface="Malgun Gothic"/>
              </a:defRPr>
            </a:pPr>
            <a:r>
              <a:t>TB-SIDE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2432304"/>
            <a:ext cx="192024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9824" y="2267712"/>
            <a:ext cx="3657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61888" y="1773936"/>
            <a:ext cx="2139696" cy="144475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17336" y="1993392"/>
            <a:ext cx="1828800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TIME SEMANTICS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1616" y="2432304"/>
            <a:ext cx="192024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OCCURRENCE 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9872" y="2487168"/>
            <a:ext cx="438912" cy="36576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22208" y="2048256"/>
            <a:ext cx="36576" cy="9326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22208" y="2048256"/>
            <a:ext cx="310896" cy="36576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22208" y="2944368"/>
            <a:ext cx="310896" cy="36576"/>
          </a:xfrm>
          <a:prstGeom prst="rect">
            <a:avLst/>
          </a:prstGeom>
          <a:solidFill>
            <a:srgbClr val="FFB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33104" y="1609344"/>
            <a:ext cx="2331720" cy="102412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34272" y="1819656"/>
            <a:ext cx="193852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2AD3CD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157984"/>
            <a:ext cx="1938528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F6F9FC"/>
                </a:solidFill>
                <a:latin typeface="Malgun Gothic"/>
              </a:defRPr>
            </a:pPr>
            <a:r>
              <a:t>8,420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2761488"/>
            <a:ext cx="2331720" cy="102412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97696" y="297180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3310128"/>
            <a:ext cx="1938528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400" b="1">
                <a:solidFill>
                  <a:srgbClr val="F6F9FC"/>
                </a:solidFill>
                <a:latin typeface="Malgun Gothic"/>
              </a:defRPr>
            </a:pPr>
            <a:r>
              <a:t>83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" y="4133087"/>
            <a:ext cx="5120640" cy="74980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361688"/>
            <a:ext cx="4718304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B27EFF"/>
                </a:solidFill>
                <a:latin typeface="Malgun Gothic"/>
              </a:defRPr>
            </a:pPr>
            <a:r>
              <a:t>WORLD → 821 cells · ID는 RTL payload 아님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3056" y="4133087"/>
            <a:ext cx="4992624" cy="74980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2512" y="4361688"/>
            <a:ext cx="4553712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NEXT · polarity replay → CAV RTL/PPA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B746"/>
                </a:solidFill>
                <a:latin typeface="Malgun Gothic"/>
              </a:defRPr>
            </a:pPr>
            <a:r>
              <a:t>확장성은 software 기능 경로로 입증했고, polarity→CAV RTL/PPA는 2차 과제다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05 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별도 software path에서 CAV 좌표계 전수 분기를 검증했다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결론: RTL/PPA와 CAV software 경로를 각각 검증했다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3327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850" b="0">
                <a:solidFill>
                  <a:srgbClr val="ACC2D6"/>
                </a:solidFill>
                <a:latin typeface="Malgun Gothic"/>
              </a:defRPr>
            </a:pPr>
            <a:r>
              <a:t>Source bundle: receipts · raw reports · SHA256SUMS · PROVENANCE.json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73952"/>
            <a:ext cx="5486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261872"/>
            <a:ext cx="3218688" cy="20299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499616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1">
                <a:solidFill>
                  <a:srgbClr val="2AD3CD"/>
                </a:solidFill>
                <a:latin typeface="Malgun Gothic"/>
              </a:defRPr>
            </a:pPr>
            <a: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38528"/>
            <a:ext cx="2816352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bitmap · FIFO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468880"/>
            <a:ext cx="2852928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2AD3CD"/>
                </a:solidFill>
                <a:latin typeface="Malgun Gothic"/>
              </a:defRPr>
            </a:pPr>
            <a:r>
              <a:t>steal · polarity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261872"/>
            <a:ext cx="3218688" cy="20299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499616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1">
                <a:solidFill>
                  <a:srgbClr val="37CD85"/>
                </a:solidFill>
                <a:latin typeface="Malgun Gothic"/>
              </a:defRPr>
            </a:pPr>
            <a:r>
              <a:t>DIRECTIONAL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938528"/>
            <a:ext cx="2816352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11.52% → 0.47%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468880"/>
            <a:ext cx="2852928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95.9% lower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18704" y="1261872"/>
            <a:ext cx="3218688" cy="2029968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499616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1">
                <a:solidFill>
                  <a:srgbClr val="4793FF"/>
                </a:solidFill>
                <a:latin typeface="Malgun Gothic"/>
              </a:defRPr>
            </a:pPr>
            <a:r>
              <a:t>PROVED FINAL RTL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9872" y="1938528"/>
            <a:ext cx="2816352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1583" y="2468880"/>
            <a:ext cx="2852928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4793FF"/>
                </a:solidFill>
                <a:latin typeface="Malgun Gothic"/>
              </a:defRPr>
            </a:pPr>
            <a:r>
              <a:t>285.714 MHz</a:t>
            </a:r>
            <a:br/>
            <a:r>
              <a:t>tested PASS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703320"/>
            <a:ext cx="10424160" cy="132588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" y="3886200"/>
            <a:ext cx="2889504" cy="93268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50791"/>
            <a:ext cx="658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2AD3CD"/>
                </a:solidFill>
                <a:latin typeface="Malgun Gothic"/>
              </a:defRPr>
            </a:pPr>
            <a:r>
              <a:t>LINK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5648" y="3995928"/>
            <a:ext cx="1847088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repeat-flag 통합</a:t>
            </a:r>
            <a:br/>
            <a:r>
              <a:t>link-bit 재측정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3886200"/>
            <a:ext cx="2889504" cy="93268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050791"/>
            <a:ext cx="658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CAV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6" y="3995928"/>
            <a:ext cx="1847088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polarity full replay</a:t>
            </a:r>
            <a:br/>
            <a:r>
              <a:t>→ CAV RTL/PPA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4927" y="3886200"/>
            <a:ext cx="2889504" cy="932688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07807" y="4050791"/>
            <a:ext cx="658368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400" b="1">
                <a:solidFill>
                  <a:srgbClr val="FFB746"/>
                </a:solidFill>
                <a:latin typeface="Malgun Gothic"/>
              </a:defRPr>
            </a:pPr>
            <a:r>
              <a:t>PPA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3" y="3995928"/>
            <a:ext cx="1847088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activity power</a:t>
            </a:r>
            <a:br/>
            <a:r>
              <a:t>exact Fmax 탐색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779008"/>
            <a:ext cx="1033272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SUBMIT: polarity RTL·TB·tested PPA  |  SEPARATE: CAV software 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128016"/>
            <a:ext cx="1124712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237744"/>
            <a:ext cx="128016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74320"/>
            <a:ext cx="118872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1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93392" y="164592"/>
            <a:ext cx="95554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결론: RTL/PPA와 CAV software 경로를 각각 검증했다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Steal-Buffer Polarity AER</dc:title>
  <dc:subject>AER bottleneck, architecture, quantitative improvement, RTL simulation, physical implementation, CAV extension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