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7CF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800" b="1">
                <a:solidFill>
                  <a:srgbClr val="F5F8FC"/>
                </a:solidFill>
                <a:latin typeface="Malgun Gothic"/>
              </a:defRPr>
            </a:pPr>
            <a:r>
              <a:t>Cluster2 Polarity AER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029968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500" b="1">
                <a:solidFill>
                  <a:srgbClr val="27CFCA"/>
                </a:solidFill>
                <a:latin typeface="Malgun Gothic"/>
              </a:defRPr>
            </a:pPr>
            <a:r>
              <a:t>디지털 1차 설계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788920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0">
                <a:solidFill>
                  <a:srgbClr val="AEC0D3"/>
                </a:solidFill>
                <a:latin typeface="Malgun Gothic"/>
              </a:defRPr>
            </a:pPr>
            <a:r>
              <a:t>RTL · Synthesis · Timing · Area · Power · Operating Frequency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3703320"/>
            <a:ext cx="10561320" cy="1143000"/>
          </a:xfrm>
          <a:prstGeom prst="round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931920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3BC986"/>
                </a:solidFill>
                <a:latin typeface="Malgun Gothic"/>
              </a:defRPr>
            </a:pPr>
            <a:r>
              <a:t>285.714 MHz post-route clean 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6172200"/>
            <a:ext cx="10424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EC0D3"/>
                </a:solidFill>
                <a:latin typeface="Malgun Gothic"/>
              </a:defRPr>
            </a:pPr>
            <a:r>
              <a:t>2026-08-28 · Xcelium / Genus / Innovus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7CF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5F8FC"/>
                </a:solidFill>
                <a:latin typeface="Malgun Gothic"/>
              </a:defRPr>
            </a:pPr>
            <a:r>
              <a:t>제출 범위와 결론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59536"/>
            <a:ext cx="11155680" cy="18288"/>
          </a:xfrm>
          <a:prstGeom prst="rect">
            <a:avLst/>
          </a:prstGeom>
          <a:solidFill>
            <a:srgbClr val="27CF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6473952"/>
            <a:ext cx="104241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AEC0D3"/>
                </a:solidFill>
                <a:latin typeface="Malgun Gothic"/>
              </a:defRPr>
            </a:pPr>
            <a:r>
              <a:t>Source: final integration fbb053f · PPA source 9b0d951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82512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1">
                <a:solidFill>
                  <a:srgbClr val="27CFCA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234440"/>
            <a:ext cx="2560320" cy="1234440"/>
          </a:xfrm>
          <a:prstGeom prst="round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353312"/>
            <a:ext cx="223113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AEC0D3"/>
                </a:solidFill>
                <a:latin typeface="Malgun Gothic"/>
              </a:defRPr>
            </a:pPr>
            <a:r>
              <a:t>FUNCTIONAL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627632"/>
            <a:ext cx="223113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3BC986"/>
                </a:solidFill>
                <a:latin typeface="Malgun Gothic"/>
              </a:defRPr>
            </a:pPr>
            <a:r>
              <a:t>8,503 / 8,503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121408"/>
            <a:ext cx="223113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AEC0D3"/>
                </a:solidFill>
                <a:latin typeface="Malgun Gothic"/>
              </a:defRPr>
            </a:pPr>
            <a:r>
              <a:t>generated / delivered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234440"/>
            <a:ext cx="2560320" cy="1234440"/>
          </a:xfrm>
          <a:prstGeom prst="round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353312"/>
            <a:ext cx="223113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AEC0D3"/>
                </a:solidFill>
                <a:latin typeface="Malgun Gothic"/>
              </a:defRPr>
            </a:pPr>
            <a:r>
              <a:t>OPERATING 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1627632"/>
            <a:ext cx="223113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3BC986"/>
                </a:solidFill>
                <a:latin typeface="Malgun Gothic"/>
              </a:defRPr>
            </a:pPr>
            <a:r>
              <a:t>285.714 MHz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2121408"/>
            <a:ext cx="223113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AEC0D3"/>
                </a:solidFill>
                <a:latin typeface="Malgun Gothic"/>
              </a:defRPr>
            </a:pPr>
            <a:r>
              <a:t>3.5 ns setup/hold PASS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234440"/>
            <a:ext cx="2560320" cy="1234440"/>
          </a:xfrm>
          <a:prstGeom prst="round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1353312"/>
            <a:ext cx="223113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AEC0D3"/>
                </a:solidFill>
                <a:latin typeface="Malgun Gothic"/>
              </a:defRPr>
            </a:pPr>
            <a:r>
              <a:t>P&amp;R AREA RAW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1627632"/>
            <a:ext cx="223113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27CFCA"/>
                </a:solidFill>
                <a:latin typeface="Malgun Gothic"/>
              </a:defRPr>
            </a:pPr>
            <a:r>
              <a:t>1254.114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121408"/>
            <a:ext cx="223113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AEC0D3"/>
                </a:solidFill>
                <a:latin typeface="Malgun Gothic"/>
              </a:defRPr>
            </a:pPr>
            <a:r>
              <a:t>596 instances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1234440"/>
            <a:ext cx="2560320" cy="1234440"/>
          </a:xfrm>
          <a:prstGeom prst="round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9992" y="1353312"/>
            <a:ext cx="223113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AEC0D3"/>
                </a:solidFill>
                <a:latin typeface="Malgun Gothic"/>
              </a:defRPr>
            </a:pPr>
            <a:r>
              <a:t>VECTORLESS POWER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1627632"/>
            <a:ext cx="223113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B547"/>
                </a:solidFill>
                <a:latin typeface="Malgun Gothic"/>
              </a:defRPr>
            </a:pPr>
            <a:r>
              <a:t>0.10738887 mW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2121408"/>
            <a:ext cx="223113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AEC0D3"/>
                </a:solidFill>
                <a:latin typeface="Malgun Gothic"/>
              </a:defRPr>
            </a:pPr>
            <a:r>
              <a:t>default activity 0.2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297180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2000">
                <a:solidFill>
                  <a:srgbClr val="F5F8FC"/>
                </a:solidFill>
                <a:latin typeface="Malgun Gothic"/>
              </a:defRPr>
            </a:pPr>
            <a:r>
              <a:t>• polarity를 포함한 최종 RTL과 합성/P&amp;R top을 동일하게 고정</a:t>
            </a:r>
          </a:p>
          <a:p>
            <a:pPr>
              <a:spcAft>
                <a:spcPts val="1300"/>
              </a:spcAft>
              <a:defRPr sz="2000">
                <a:solidFill>
                  <a:srgbClr val="F5F8FC"/>
                </a:solidFill>
                <a:latin typeface="Malgun Gothic"/>
              </a:defRPr>
            </a:pPr>
            <a:r>
              <a:t>• 4.5 → 4.0 → 3.5 → 3.0 ns sweep으로 timing 경계 확인</a:t>
            </a:r>
          </a:p>
          <a:p>
            <a:pPr>
              <a:spcAft>
                <a:spcPts val="1300"/>
              </a:spcAft>
              <a:defRPr sz="2000">
                <a:solidFill>
                  <a:srgbClr val="F5F8FC"/>
                </a:solidFill>
                <a:latin typeface="Malgun Gothic"/>
              </a:defRPr>
            </a:pPr>
            <a:r>
              <a:t>• exact Fmax와 workload-activity power는 후속 과제로 명시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7CF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5F8FC"/>
                </a:solidFill>
                <a:latin typeface="Malgun Gothic"/>
              </a:defRPr>
            </a:pPr>
            <a:r>
              <a:t>설계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59536"/>
            <a:ext cx="11155680" cy="18288"/>
          </a:xfrm>
          <a:prstGeom prst="rect">
            <a:avLst/>
          </a:prstGeom>
          <a:solidFill>
            <a:srgbClr val="27CF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6473952"/>
            <a:ext cx="104241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AEC0D3"/>
                </a:solidFill>
                <a:latin typeface="Malgun Gothic"/>
              </a:defRPr>
            </a:pPr>
            <a:r>
              <a:t>Source: final polarity RTL SHA-256 20d601a9…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82512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1">
                <a:solidFill>
                  <a:srgbClr val="27CFCA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2148840" cy="1325880"/>
          </a:xfrm>
          <a:prstGeom prst="round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73152" cy="1325880"/>
          </a:xfrm>
          <a:prstGeom prst="rect">
            <a:avLst/>
          </a:prstGeom>
          <a:solidFill>
            <a:srgbClr val="41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167128"/>
            <a:ext cx="18105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5F8FC"/>
                </a:solidFill>
                <a:latin typeface="Malgun Gothic"/>
              </a:defRPr>
            </a:pPr>
            <a:r>
              <a:t>16 event sources</a:t>
            </a:r>
            <a:br/>
            <a:r>
              <a:t>arrival + polarity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6352" y="2340864"/>
            <a:ext cx="38404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AEC0D3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965960"/>
            <a:ext cx="2148840" cy="1325880"/>
          </a:xfrm>
          <a:prstGeom prst="round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6120" y="1965960"/>
            <a:ext cx="73152" cy="1325880"/>
          </a:xfrm>
          <a:prstGeom prst="rect">
            <a:avLst/>
          </a:prstGeom>
          <a:solidFill>
            <a:srgbClr val="27CF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0712" y="2167128"/>
            <a:ext cx="18105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5F8FC"/>
                </a:solidFill>
                <a:latin typeface="Malgun Gothic"/>
              </a:defRPr>
            </a:pPr>
            <a:r>
              <a:t>source별 depth-2</a:t>
            </a:r>
            <a:br/>
            <a:r>
              <a:t>event/polarity FIFO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22392" y="2340864"/>
            <a:ext cx="38404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AEC0D3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1965960"/>
            <a:ext cx="2148840" cy="1325880"/>
          </a:xfrm>
          <a:prstGeom prst="round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52160" y="1965960"/>
            <a:ext cx="73152" cy="1325880"/>
          </a:xfrm>
          <a:prstGeom prst="rect">
            <a:avLst/>
          </a:prstGeom>
          <a:solidFill>
            <a:srgbClr val="FF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16752" y="2167128"/>
            <a:ext cx="18105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5F8FC"/>
                </a:solidFill>
                <a:latin typeface="Malgun Gothic"/>
              </a:defRPr>
            </a:pPr>
            <a:r>
              <a:t>row arbitration</a:t>
            </a:r>
            <a:br/>
            <a:r>
              <a:t>center / peripheral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8432" y="2340864"/>
            <a:ext cx="38404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AEC0D3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1965960"/>
            <a:ext cx="2148840" cy="1325880"/>
          </a:xfrm>
          <a:prstGeom prst="round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58200" y="1965960"/>
            <a:ext cx="73152" cy="1325880"/>
          </a:xfrm>
          <a:prstGeom prst="rect">
            <a:avLst/>
          </a:prstGeom>
          <a:solidFill>
            <a:srgbClr val="3BC9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22792" y="2167128"/>
            <a:ext cx="18105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5F8FC"/>
                </a:solidFill>
                <a:latin typeface="Malgun Gothic"/>
              </a:defRPr>
            </a:pPr>
            <a:r>
              <a:t>2 retire lanes</a:t>
            </a:r>
            <a:br/>
            <a:r>
              <a:t>row + col/pol mask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977639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1800">
                <a:solidFill>
                  <a:srgbClr val="F5F8FC"/>
                </a:solidFill>
                <a:latin typeface="Malgun Gothic"/>
              </a:defRPr>
            </a:pPr>
            <a:r>
              <a:t>• cycle당 최대 8 event를 두 row-bitmap lane으로 표현</a:t>
            </a:r>
          </a:p>
          <a:p>
            <a:pPr>
              <a:spcAft>
                <a:spcPts val="1300"/>
              </a:spcAft>
              <a:defRPr sz="1800">
                <a:solidFill>
                  <a:srgbClr val="F5F8FC"/>
                </a:solidFill>
                <a:latin typeface="Malgun Gothic"/>
              </a:defRPr>
            </a:pPr>
            <a:r>
              <a:t>• 선택된 col_mask bit만 같은 위치의 pol_mask polarity를 가짐</a:t>
            </a:r>
          </a:p>
          <a:p>
            <a:pPr>
              <a:spcAft>
                <a:spcPts val="1300"/>
              </a:spcAft>
              <a:defRPr sz="1800">
                <a:solidFill>
                  <a:srgbClr val="F5F8FC"/>
                </a:solidFill>
                <a:latin typeface="Malgun Gothic"/>
              </a:defRPr>
            </a:pPr>
            <a:r>
              <a:t>• event identity와 timestamp는 검증 sidecar이며 DUT 입력 선택에 사용되지 않음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7CF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5F8FC"/>
                </a:solidFill>
                <a:latin typeface="Malgun Gothic"/>
              </a:defRPr>
            </a:pPr>
            <a:r>
              <a:t>RTL 기능 검증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59536"/>
            <a:ext cx="11155680" cy="18288"/>
          </a:xfrm>
          <a:prstGeom prst="rect">
            <a:avLst/>
          </a:prstGeom>
          <a:solidFill>
            <a:srgbClr val="27CF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6473952"/>
            <a:ext cx="104241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AEC0D3"/>
                </a:solidFill>
                <a:latin typeface="Malgun Gothic"/>
              </a:defRPr>
            </a:pPr>
            <a:r>
              <a:t>Source: polarity_v1_release_receipt.json · Xcelium 23.09-s013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82512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1">
                <a:solidFill>
                  <a:srgbClr val="27CFCA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2560320" cy="1234440"/>
          </a:xfrm>
          <a:prstGeom prst="round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353312"/>
            <a:ext cx="223113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AEC0D3"/>
                </a:solidFill>
                <a:latin typeface="Malgun Gothic"/>
              </a:defRPr>
            </a:pPr>
            <a:r>
              <a:t>GENERATED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1627632"/>
            <a:ext cx="223113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3BC986"/>
                </a:solidFill>
                <a:latin typeface="Malgun Gothic"/>
              </a:defRPr>
            </a:pPr>
            <a:r>
              <a:t>8,503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234440"/>
            <a:ext cx="2560320" cy="1234440"/>
          </a:xfrm>
          <a:prstGeom prst="round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93592" y="1353312"/>
            <a:ext cx="223113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AEC0D3"/>
                </a:solidFill>
                <a:latin typeface="Malgun Gothic"/>
              </a:defRPr>
            </a:pPr>
            <a:r>
              <a:t>DELIVERED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1627632"/>
            <a:ext cx="223113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3BC986"/>
                </a:solidFill>
                <a:latin typeface="Malgun Gothic"/>
              </a:defRPr>
            </a:pPr>
            <a:r>
              <a:t>8,503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234440"/>
            <a:ext cx="2560320" cy="1234440"/>
          </a:xfrm>
          <a:prstGeom prst="round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1353312"/>
            <a:ext cx="223113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AEC0D3"/>
                </a:solidFill>
                <a:latin typeface="Malgun Gothic"/>
              </a:defRPr>
            </a:pPr>
            <a:r>
              <a:t>OVERRUN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1627632"/>
            <a:ext cx="223113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3BC986"/>
                </a:solidFill>
                <a:latin typeface="Malgun Gothic"/>
              </a:defRPr>
            </a:pPr>
            <a:r>
              <a:t>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1234440"/>
            <a:ext cx="2560320" cy="1234440"/>
          </a:xfrm>
          <a:prstGeom prst="round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88552" y="1353312"/>
            <a:ext cx="223113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AEC0D3"/>
                </a:solidFill>
                <a:latin typeface="Malgun Gothic"/>
              </a:defRPr>
            </a:pPr>
            <a:r>
              <a:t>PHANTOM / DUP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1627632"/>
            <a:ext cx="223113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3BC986"/>
                </a:solidFill>
                <a:latin typeface="Malgun Gothic"/>
              </a:defRPr>
            </a:pPr>
            <a:r>
              <a:t>0 / 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97180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1900">
                <a:solidFill>
                  <a:srgbClr val="F5F8FC"/>
                </a:solidFill>
                <a:latin typeface="Malgun Gothic"/>
              </a:defRPr>
            </a:pPr>
            <a:r>
              <a:t>• drain 후 empty=true</a:t>
            </a:r>
          </a:p>
          <a:p>
            <a:pPr>
              <a:spcAft>
                <a:spcPts val="1300"/>
              </a:spcAft>
              <a:defRPr sz="1900">
                <a:solidFill>
                  <a:srgbClr val="F5F8FC"/>
                </a:solidFill>
                <a:latin typeface="Malgun Gothic"/>
              </a:defRPr>
            </a:pPr>
            <a:r>
              <a:t>• raw trace와 cycle ledger를 독립 verifier로 보존성 재검증</a:t>
            </a:r>
          </a:p>
          <a:p>
            <a:pPr>
              <a:spcAft>
                <a:spcPts val="1300"/>
              </a:spcAft>
              <a:defRPr sz="1900">
                <a:solidFill>
                  <a:srgbClr val="F5F8FC"/>
                </a:solidFill>
                <a:latin typeface="Malgun Gothic"/>
              </a:defRPr>
            </a:pPr>
            <a:r>
              <a:t>• claim limit: identity-order independence는 주장하지 않음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7CF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5F8FC"/>
                </a:solidFill>
                <a:latin typeface="Malgun Gothic"/>
              </a:defRPr>
            </a:pPr>
            <a:r>
              <a:t>Synthesis 조건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59536"/>
            <a:ext cx="11155680" cy="18288"/>
          </a:xfrm>
          <a:prstGeom prst="rect">
            <a:avLst/>
          </a:prstGeom>
          <a:solidFill>
            <a:srgbClr val="27CF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6473952"/>
            <a:ext cx="104241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AEC0D3"/>
                </a:solidFill>
                <a:latin typeface="Malgun Gothic"/>
              </a:defRPr>
            </a:pPr>
            <a:r>
              <a:t>Source: genus_3.5.tcl · 3.5_area/gtiming/gpower reports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82512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1">
                <a:solidFill>
                  <a:srgbClr val="27CFCA"/>
                </a:solidFill>
                <a:latin typeface="Malgun Gothic"/>
              </a:defRPr>
            </a:pPr>
            <a:r>
              <a:t>05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234440"/>
          <a:ext cx="105156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772400"/>
              </a:tblGrid>
              <a:tr h="627017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항목</a:t>
                      </a:r>
                    </a:p>
                  </a:txBody>
                  <a:tcPr marL="73152" marR="73152">
                    <a:solidFill>
                      <a:srgbClr val="1C4A6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조건 / 결과</a:t>
                      </a:r>
                    </a:p>
                  </a:txBody>
                  <a:tcPr marL="73152" marR="73152">
                    <a:solidFill>
                      <a:srgbClr val="1C4A68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Tool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Genus 23.14-s090_1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Library / corner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GPDK045 slow · 0.9 V · 125 °C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Constraint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3.5 ns · uncertainty 0.100 ns · I/O delay 0.250 ns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Mapped area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1156.644 · 544 cells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Mapped setup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+1.125 ns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Vectorless power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0.0505898 mW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68680" y="580644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27CFCA"/>
                </a:solidFill>
                <a:latin typeface="Malgun Gothic"/>
              </a:defRPr>
            </a:pPr>
            <a:r>
              <a:t>합성 netlist와 output SDC를 Innovus 입력으로 사용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7CF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5F8FC"/>
                </a:solidFill>
                <a:latin typeface="Malgun Gothic"/>
              </a:defRPr>
            </a:pPr>
            <a:r>
              <a:t>Timing 최적화 sweep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59536"/>
            <a:ext cx="11155680" cy="18288"/>
          </a:xfrm>
          <a:prstGeom prst="rect">
            <a:avLst/>
          </a:prstGeom>
          <a:solidFill>
            <a:srgbClr val="27CF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6473952"/>
            <a:ext cx="104241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AEC0D3"/>
                </a:solidFill>
                <a:latin typeface="Malgun Gothic"/>
              </a:defRPr>
            </a:pPr>
            <a:r>
              <a:t>Source: Innovus setup/hold reports · slow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82512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1">
                <a:solidFill>
                  <a:srgbClr val="27CFCA"/>
                </a:solidFill>
                <a:latin typeface="Malgun Gothic"/>
              </a:defRPr>
            </a:pPr>
            <a:r>
              <a:t>06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325880"/>
          <a:ext cx="100584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377440"/>
                <a:gridCol w="2011680"/>
                <a:gridCol w="2011680"/>
                <a:gridCol w="1828800"/>
              </a:tblGrid>
              <a:tr h="676656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Period</a:t>
                      </a:r>
                    </a:p>
                  </a:txBody>
                  <a:tcPr marL="73152" marR="73152">
                    <a:solidFill>
                      <a:srgbClr val="1C4A6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Frequency</a:t>
                      </a:r>
                    </a:p>
                  </a:txBody>
                  <a:tcPr marL="73152" marR="73152">
                    <a:solidFill>
                      <a:srgbClr val="1C4A6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Setup</a:t>
                      </a:r>
                    </a:p>
                  </a:txBody>
                  <a:tcPr marL="73152" marR="73152">
                    <a:solidFill>
                      <a:srgbClr val="1C4A6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Hold</a:t>
                      </a:r>
                    </a:p>
                  </a:txBody>
                  <a:tcPr marL="73152" marR="73152">
                    <a:solidFill>
                      <a:srgbClr val="1C4A6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Result</a:t>
                      </a:r>
                    </a:p>
                  </a:txBody>
                  <a:tcPr marL="73152" marR="73152">
                    <a:solidFill>
                      <a:srgbClr val="1C4A68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4.5 ns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222.222 MHz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+1.349 ns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+0.166 ns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PASS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4.0 ns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250.000 MHz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+0.849 ns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+0.166 ns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PASS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3.5 ns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285.714 MHz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+0.454 ns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+0.167 ns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PASS</a:t>
                      </a:r>
                    </a:p>
                  </a:txBody>
                  <a:tcPr marL="73152" marR="73152">
                    <a:solidFill>
                      <a:srgbClr val="175B42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3.0 ns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333.333 MHz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−0.004 ns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+0.169 ns</a:t>
                      </a:r>
                    </a:p>
                  </a:txBody>
                  <a:tcPr marL="73152" marR="73152">
                    <a:solidFill>
                      <a:srgbClr val="122B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FAIL</a:t>
                      </a:r>
                    </a:p>
                  </a:txBody>
                  <a:tcPr marL="73152" marR="73152">
                    <a:solidFill>
                      <a:srgbClr val="782436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914400" y="5074920"/>
            <a:ext cx="4663440" cy="1234440"/>
          </a:xfrm>
          <a:prstGeom prst="round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5193792"/>
            <a:ext cx="43342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AEC0D3"/>
                </a:solidFill>
                <a:latin typeface="Malgun Gothic"/>
              </a:defRPr>
            </a:pPr>
            <a:r>
              <a:t>DEFENSIBLE CLAIM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5468112"/>
            <a:ext cx="4334255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3BC986"/>
                </a:solidFill>
                <a:latin typeface="Malgun Gothic"/>
              </a:defRPr>
            </a:pPr>
            <a:r>
              <a:t>285.714 MHz clean operating 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5074920"/>
            <a:ext cx="4663440" cy="1234440"/>
          </a:xfrm>
          <a:prstGeom prst="round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5193792"/>
            <a:ext cx="43342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AEC0D3"/>
                </a:solidFill>
                <a:latin typeface="Malgun Gothic"/>
              </a:defRPr>
            </a:pPr>
            <a:r>
              <a:t>CLAIM LIMIT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5468112"/>
            <a:ext cx="4334255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B547"/>
                </a:solidFill>
                <a:latin typeface="Malgun Gothic"/>
              </a:defRPr>
            </a:pPr>
            <a:r>
              <a:t>exact Fmax 미확정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5961888"/>
            <a:ext cx="43342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AEC0D3"/>
                </a:solidFill>
                <a:latin typeface="Malgun Gothic"/>
              </a:defRPr>
            </a:pPr>
            <a:r>
              <a:t>관측 bracket [285.714, 333.333) MHz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7CF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5F8FC"/>
                </a:solidFill>
                <a:latin typeface="Malgun Gothic"/>
              </a:defRPr>
            </a:pPr>
            <a:r>
              <a:t>Post-route area와 layout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59536"/>
            <a:ext cx="11155680" cy="18288"/>
          </a:xfrm>
          <a:prstGeom prst="rect">
            <a:avLst/>
          </a:prstGeom>
          <a:solidFill>
            <a:srgbClr val="27CF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6473952"/>
            <a:ext cx="104241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AEC0D3"/>
                </a:solidFill>
                <a:latin typeface="Malgun Gothic"/>
              </a:defRPr>
            </a:pPr>
            <a:r>
              <a:t>Source: 3.5_pnr_area.rpt · layout_3.5.png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82512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1">
                <a:solidFill>
                  <a:srgbClr val="27CFCA"/>
                </a:solidFill>
                <a:latin typeface="Malgun Gothic"/>
              </a:defRPr>
            </a:pPr>
            <a:r>
              <a:t>07</a:t>
            </a:r>
          </a:p>
        </p:txBody>
      </p:sp>
      <p:pic>
        <p:nvPicPr>
          <p:cNvPr id="7" name="Picture 6" descr="layout_3.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5669280" cy="48463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720840" y="1417320"/>
            <a:ext cx="4480560" cy="1234440"/>
          </a:xfrm>
          <a:prstGeom prst="round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85431" y="1536192"/>
            <a:ext cx="415137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AEC0D3"/>
                </a:solidFill>
                <a:latin typeface="Malgun Gothic"/>
              </a:defRPr>
            </a:pPr>
            <a:r>
              <a:t>3.5 ns AREA 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85431" y="1810512"/>
            <a:ext cx="415137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27CFCA"/>
                </a:solidFill>
                <a:latin typeface="Malgun Gothic"/>
              </a:defRPr>
            </a:pPr>
            <a:r>
              <a:t>1254.114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85431" y="2304288"/>
            <a:ext cx="415137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AEC0D3"/>
                </a:solidFill>
                <a:latin typeface="Malgun Gothic"/>
              </a:defRPr>
            </a:pPr>
            <a:r>
              <a:t>596 instances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2926080"/>
            <a:ext cx="4480560" cy="1234440"/>
          </a:xfrm>
          <a:prstGeom prst="round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85431" y="3044952"/>
            <a:ext cx="415137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AEC0D3"/>
                </a:solidFill>
                <a:latin typeface="Malgun Gothic"/>
              </a:defRPr>
            </a:pPr>
            <a:r>
              <a:t>PHYSICAL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5431" y="3319272"/>
            <a:ext cx="415137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3BC986"/>
                </a:solidFill>
                <a:latin typeface="Malgun Gothic"/>
              </a:defRPr>
            </a:pPr>
            <a:r>
              <a:t>DRC 0 · antenna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5431" y="3813048"/>
            <a:ext cx="415137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AEC0D3"/>
                </a:solidFill>
                <a:latin typeface="Malgun Gothic"/>
              </a:defRPr>
            </a:pPr>
            <a:r>
              <a:t>internal reports; signoff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20840" y="4434840"/>
            <a:ext cx="4480560" cy="1234440"/>
          </a:xfrm>
          <a:prstGeom prst="round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4553712"/>
            <a:ext cx="415137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AEC0D3"/>
                </a:solidFill>
                <a:latin typeface="Malgun Gothic"/>
              </a:defRPr>
            </a:pPr>
            <a:r>
              <a:t>FLOORPLAN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5431" y="4828031"/>
            <a:ext cx="415137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418DFF"/>
                </a:solidFill>
                <a:latin typeface="Malgun Gothic"/>
              </a:defRPr>
            </a:pPr>
            <a:r>
              <a:t>AR 1.0 · util 0.5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85431" y="5321807"/>
            <a:ext cx="415137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AEC0D3"/>
                </a:solidFill>
                <a:latin typeface="Malgun Gothic"/>
              </a:defRPr>
            </a:pPr>
            <a:r>
              <a:t>core margin 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5897880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FFB547"/>
                </a:solidFill>
                <a:latin typeface="Malgun Gothic"/>
              </a:defRPr>
            </a:pPr>
            <a:r>
              <a:t>report에 면적 단위가 명시되지 않아 area raw로 표기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7CF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5F8FC"/>
                </a:solidFill>
                <a:latin typeface="Malgun Gothic"/>
              </a:defRPr>
            </a:pPr>
            <a:r>
              <a:t>Power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59536"/>
            <a:ext cx="11155680" cy="18288"/>
          </a:xfrm>
          <a:prstGeom prst="rect">
            <a:avLst/>
          </a:prstGeom>
          <a:solidFill>
            <a:srgbClr val="27CF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6473952"/>
            <a:ext cx="104241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AEC0D3"/>
                </a:solidFill>
                <a:latin typeface="Malgun Gothic"/>
              </a:defRPr>
            </a:pPr>
            <a:r>
              <a:t>Source: 3.5_pnr_power.rpt · Power Units = 1mW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82512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1">
                <a:solidFill>
                  <a:srgbClr val="27CFCA"/>
                </a:solidFill>
                <a:latin typeface="Malgun Gothic"/>
              </a:defRPr>
            </a:pPr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3337560" cy="1234440"/>
          </a:xfrm>
          <a:prstGeom prst="round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399031"/>
            <a:ext cx="300837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AEC0D3"/>
                </a:solidFill>
                <a:latin typeface="Malgun Gothic"/>
              </a:defRPr>
            </a:pPr>
            <a:r>
              <a:t>INTERNAL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1673351"/>
            <a:ext cx="300837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27CFCA"/>
                </a:solidFill>
                <a:latin typeface="Malgun Gothic"/>
              </a:defRPr>
            </a:pPr>
            <a:r>
              <a:t>0.07647953 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167128"/>
            <a:ext cx="300837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AEC0D3"/>
                </a:solidFill>
                <a:latin typeface="Malgun Gothic"/>
              </a:defRPr>
            </a:pPr>
            <a:r>
              <a:t>71.2174%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280160"/>
            <a:ext cx="3337560" cy="1234440"/>
          </a:xfrm>
          <a:prstGeom prst="round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1" y="1399031"/>
            <a:ext cx="300837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AEC0D3"/>
                </a:solidFill>
                <a:latin typeface="Malgun Gothic"/>
              </a:defRPr>
            </a:pPr>
            <a:r>
              <a:t>SWITCHING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1" y="1673351"/>
            <a:ext cx="300837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418DFF"/>
                </a:solidFill>
                <a:latin typeface="Malgun Gothic"/>
              </a:defRPr>
            </a:pPr>
            <a:r>
              <a:t>0.03088277 mW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2167128"/>
            <a:ext cx="300837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AEC0D3"/>
                </a:solidFill>
                <a:latin typeface="Malgun Gothic"/>
              </a:defRPr>
            </a:pPr>
            <a:r>
              <a:t>28.7579%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280160"/>
            <a:ext cx="3337560" cy="1234440"/>
          </a:xfrm>
          <a:prstGeom prst="round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1399031"/>
            <a:ext cx="300837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AEC0D3"/>
                </a:solidFill>
                <a:latin typeface="Malgun Gothic"/>
              </a:defRPr>
            </a:pPr>
            <a:r>
              <a:t>LEAKAGE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1673351"/>
            <a:ext cx="300837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B547"/>
                </a:solidFill>
                <a:latin typeface="Malgun Gothic"/>
              </a:defRPr>
            </a:pPr>
            <a:r>
              <a:t>0.00002657 mW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2167128"/>
            <a:ext cx="300837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AEC0D3"/>
                </a:solidFill>
                <a:latin typeface="Malgun Gothic"/>
              </a:defRPr>
            </a:pPr>
            <a:r>
              <a:t>0.0247%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17320" y="3063240"/>
            <a:ext cx="9326880" cy="1143000"/>
          </a:xfrm>
          <a:prstGeom prst="round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45920" y="3364992"/>
            <a:ext cx="88696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900" b="1">
                <a:solidFill>
                  <a:srgbClr val="3BC986"/>
                </a:solidFill>
                <a:latin typeface="Malgun Gothic"/>
              </a:defRPr>
            </a:pPr>
            <a:r>
              <a:t>TOTAL  0.10738887 mW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617720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FFB547"/>
                </a:solidFill>
                <a:latin typeface="Malgun Gothic"/>
              </a:defRPr>
            </a:pPr>
            <a:r>
              <a:t>Vectorless estimate · sequential/primary-input activity 0.2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20640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AEC0D3"/>
                </a:solidFill>
                <a:latin typeface="Malgun Gothic"/>
              </a:defRPr>
            </a:pPr>
            <a:r>
              <a:t>VCD/SAIF workload power 또는 energy/event로 해석하지 않음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7CF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5F8FC"/>
                </a:solidFill>
                <a:latin typeface="Malgun Gothic"/>
              </a:defRPr>
            </a:pPr>
            <a:r>
              <a:t>결론과 근거 경계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59536"/>
            <a:ext cx="11155680" cy="18288"/>
          </a:xfrm>
          <a:prstGeom prst="rect">
            <a:avLst/>
          </a:prstGeom>
          <a:solidFill>
            <a:srgbClr val="27CF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6473952"/>
            <a:ext cx="104241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AEC0D3"/>
                </a:solidFill>
                <a:latin typeface="Malgun Gothic"/>
              </a:defRPr>
            </a:pPr>
            <a:r>
              <a:t>Source bundle: SHA256SUMS · PROVENANCE.json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82512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1">
                <a:solidFill>
                  <a:srgbClr val="27CFCA"/>
                </a:solidFill>
                <a:latin typeface="Malgun Gothic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3383280" cy="1234440"/>
          </a:xfrm>
          <a:prstGeom prst="round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353312"/>
            <a:ext cx="305409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AEC0D3"/>
                </a:solidFill>
                <a:latin typeface="Malgun Gothic"/>
              </a:defRPr>
            </a:pPr>
            <a:r>
              <a:t>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1627632"/>
            <a:ext cx="305409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3BC986"/>
                </a:solidFill>
                <a:latin typeface="Malgun Gothic"/>
              </a:defRPr>
            </a:pPr>
            <a:r>
              <a:t>RTL + functional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121408"/>
            <a:ext cx="305409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AEC0D3"/>
                </a:solidFill>
                <a:latin typeface="Malgun Gothic"/>
              </a:defRPr>
            </a:pPr>
            <a:r>
              <a:t>polarity-v1 release gate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234440"/>
            <a:ext cx="3383280" cy="1234440"/>
          </a:xfrm>
          <a:prstGeom prst="round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353312"/>
            <a:ext cx="305409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AEC0D3"/>
                </a:solidFill>
                <a:latin typeface="Malgun Gothic"/>
              </a:defRPr>
            </a:pPr>
            <a:r>
              <a:t>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627632"/>
            <a:ext cx="305409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3BC986"/>
                </a:solidFill>
                <a:latin typeface="Malgun Gothic"/>
              </a:defRPr>
            </a:pPr>
            <a:r>
              <a:t>285.714 MHz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21408"/>
            <a:ext cx="305409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AEC0D3"/>
                </a:solidFill>
                <a:latin typeface="Malgun Gothic"/>
              </a:defRPr>
            </a:pPr>
            <a:r>
              <a:t>post-route clean point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234440"/>
            <a:ext cx="3383280" cy="1234440"/>
          </a:xfrm>
          <a:prstGeom prst="round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1353312"/>
            <a:ext cx="305409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AEC0D3"/>
                </a:solidFill>
                <a:latin typeface="Malgun Gothic"/>
              </a:defRPr>
            </a:pPr>
            <a:r>
              <a:t>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1627632"/>
            <a:ext cx="3054096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B547"/>
                </a:solidFill>
                <a:latin typeface="Malgun Gothic"/>
              </a:defRPr>
            </a:pPr>
            <a:r>
              <a:t>signoff / exact Fmax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121408"/>
            <a:ext cx="305409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AEC0D3"/>
                </a:solidFill>
                <a:latin typeface="Malgun Gothic"/>
              </a:defRPr>
            </a:pPr>
            <a:r>
              <a:t>activity-based power 포함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06324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1800">
                <a:solidFill>
                  <a:srgbClr val="F5F8FC"/>
                </a:solidFill>
                <a:latin typeface="Malgun Gothic"/>
              </a:defRPr>
            </a:pPr>
            <a:r>
              <a:t>• 제출 폴더에 RTL, TB, netlist, SDC/TCL, raw reports, receipts, checksums 포함</a:t>
            </a:r>
          </a:p>
          <a:p>
            <a:pPr>
              <a:spcAft>
                <a:spcPts val="1300"/>
              </a:spcAft>
              <a:defRPr sz="1800">
                <a:solidFill>
                  <a:srgbClr val="F5F8FC"/>
                </a:solidFill>
                <a:latin typeface="Malgun Gothic"/>
              </a:defRPr>
            </a:pPr>
            <a:r>
              <a:t>• check_timing의 ideal-clock 1 / no-drive 34 경고와 write_db 오류를 숨기지 않음</a:t>
            </a:r>
          </a:p>
          <a:p>
            <a:pPr>
              <a:spcAft>
                <a:spcPts val="1300"/>
              </a:spcAft>
              <a:defRPr sz="1800">
                <a:solidFill>
                  <a:srgbClr val="F5F8FC"/>
                </a:solidFill>
                <a:latin typeface="Malgun Gothic"/>
              </a:defRPr>
            </a:pPr>
            <a:r>
              <a:t>• No SPEF/RCDB, Non-OCV, SI off이므로 silicon/foundry signoff 주장 금지</a:t>
            </a:r>
          </a:p>
          <a:p>
            <a:pPr>
              <a:spcAft>
                <a:spcPts val="1300"/>
              </a:spcAft>
              <a:defRPr sz="1800">
                <a:solidFill>
                  <a:srgbClr val="F5F8FC"/>
                </a:solidFill>
                <a:latin typeface="Malgun Gothic"/>
              </a:defRPr>
            </a:pPr>
            <a:r>
              <a:t>• 1차 결과물로는 검증된 operating point와 조건부 PPA를 제출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Cluster2 Polarity AER 디지털 1차 설계 결과</dc:title>
  <dc:subject>RTL, synthesis, timing, area, power, operating frequency</dc:subject>
  <dc:creator>AI-semi team</dc:creator>
  <cp:keywords>Cluster2, AER, polarity, Genus, Innovus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