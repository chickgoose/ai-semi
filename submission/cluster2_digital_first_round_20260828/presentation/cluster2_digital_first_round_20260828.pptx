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713232"/>
            <a:ext cx="1078992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3600" b="1">
                <a:solidFill>
                  <a:srgbClr val="F6F9FC"/>
                </a:solidFill>
                <a:latin typeface="Malgun Gothic"/>
              </a:defRPr>
            </a:pPr>
            <a:r>
              <a:t>AER의 네 병목을 네 구조로 완화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490472"/>
            <a:ext cx="100584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900" b="1">
                <a:solidFill>
                  <a:srgbClr val="2AD3CD"/>
                </a:solidFill>
                <a:latin typeface="Malgun Gothic"/>
              </a:defRPr>
            </a:pPr>
            <a:r>
              <a:t>Cluster2 Steal-Buffer Polarity AER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331720"/>
            <a:ext cx="2834640" cy="141732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2560320"/>
            <a:ext cx="64008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2889504"/>
            <a:ext cx="2331720" cy="42062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700" b="1">
                <a:solidFill>
                  <a:srgbClr val="FF6376"/>
                </a:solidFill>
                <a:latin typeface="Malgun Gothic"/>
              </a:defRPr>
            </a:pPr>
            <a:r>
              <a:t>4 bottlenecks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3087" y="2788920"/>
            <a:ext cx="7315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8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360" y="2148840"/>
            <a:ext cx="3246120" cy="17830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40680" y="2441448"/>
            <a:ext cx="26974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4 RTL IDEAS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3248" y="2770632"/>
            <a:ext cx="2761488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FIFO · bitmap</a:t>
            </a:r>
            <a:br/>
            <a:r>
              <a:t>steal · polarity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8512" y="2788920"/>
            <a:ext cx="7315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8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6920" y="2331720"/>
            <a:ext cx="1600200" cy="1417320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8944" y="2560320"/>
            <a:ext cx="120700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071627"/>
                </a:solidFill>
                <a:latin typeface="Malgun Gothic"/>
              </a:defRPr>
            </a:pPr>
            <a:r>
              <a:t>최종 RTL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02368" y="2852928"/>
            <a:ext cx="128016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700" b="1">
                <a:solidFill>
                  <a:srgbClr val="071627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38944" y="3364992"/>
            <a:ext cx="1207008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071627"/>
                </a:solidFill>
                <a:latin typeface="Malgun Gothic"/>
              </a:defRPr>
            </a:pPr>
            <a:r>
              <a:t>무손실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09160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ACC2D6"/>
                </a:solidFill>
                <a:latin typeface="Malgun Gothic"/>
              </a:defRPr>
            </a:pPr>
            <a:r>
              <a:t>병목 정의  ·  구조 아이디어  ·  개선 수치  ·  물리 구현  ·  CAV 확장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63640"/>
            <a:ext cx="102412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2026-08-28  |  Xcelium · Genus · Innovus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01  병목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Ryu의 6문제에서 우리가 구체화한 네 RTL 병목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Ryu CVPRW 2019 · final polarity RTL contract · bottleneck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905256"/>
            <a:ext cx="105156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Ryu: ① 주소 overhead  ② bandwidth  ③ arbitration latency  ④ unfairness  ⑤ timestamp  ⑥ motion artifact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170432"/>
            <a:ext cx="5230368" cy="157276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353312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6376"/>
                </a:solidFill>
                <a:latin typeface="Malgun Gothic"/>
              </a:defRPr>
            </a:pPr>
            <a:r>
              <a:t>① 출력 직렬화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1773936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여러 source가 동시에 발생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267712"/>
            <a:ext cx="4736592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한 cycle에 1 event만 retire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1170432"/>
            <a:ext cx="5230368" cy="157276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353312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② SOURCE 재발생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773936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grant 전에 같은 source 재발생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267712"/>
            <a:ext cx="4736592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local full → overrun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310128"/>
            <a:ext cx="5230368" cy="157276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493008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B27EFF"/>
                </a:solidFill>
                <a:latin typeface="Malgun Gothic"/>
              </a:defRPr>
            </a:pPr>
            <a:r>
              <a:t>③ TRAFFIC 불균형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3913632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center 또는 peripheral에 집중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07408"/>
            <a:ext cx="4736592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고정 lane이 놀며 처리력 낭비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310128"/>
            <a:ext cx="5230368" cy="157276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493008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4793FF"/>
                </a:solidFill>
                <a:latin typeface="Malgun Gothic"/>
              </a:defRPr>
            </a:pPr>
            <a:r>
              <a:t>④ POLARITY 정렬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913632"/>
            <a:ext cx="473659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주소와 polarity의 저장·pop 분리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407408"/>
            <a:ext cx="4736592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event 의미 mismatch 위험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직접 개선 ②③④ · 부분 대응 ①⑥ · HOLD ⑤ — 이를 네 RTL 병목으로 구체화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01  병목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Ryu의 6문제에서 우리가 구체화한 네 RTL 병목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01  병목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① 출력 직렬화가 ② source-local overrun으로 이어진다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recovered scalar Fovea Xcelium full50 diagnostics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20116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동시 입력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1581912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80160" y="1581912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719072" y="1581912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157984" y="1581912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" y="2020824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80160" y="2020824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719072" y="2020824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57984" y="2020824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1248" y="2459736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80160" y="2459736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19072" y="2459736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57984" y="2459736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1993392"/>
            <a:ext cx="640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FFB746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75887" y="1325880"/>
            <a:ext cx="2834640" cy="1874519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1627632"/>
            <a:ext cx="233172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공유 arbitration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9080" y="2103120"/>
            <a:ext cx="205740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0">
                <a:solidFill>
                  <a:srgbClr val="ACC2D6"/>
                </a:solidFill>
                <a:latin typeface="Malgun Gothic"/>
              </a:defRPr>
            </a:pPr>
            <a:r>
              <a:t>여러 event가</a:t>
            </a:r>
            <a:br/>
            <a:r>
              <a:t>하나의 출력 순서를 기다림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1993392"/>
            <a:ext cx="640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FF6376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71231" y="1325880"/>
            <a:ext cx="3611880" cy="1874519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82127" y="1664208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FF6376"/>
                </a:solidFill>
                <a:latin typeface="Malgun Gothic"/>
              </a:defRPr>
            </a:pPr>
            <a:r>
              <a:t>1 EVENT / CYCLE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31720"/>
            <a:ext cx="310896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대기 누적  →  source-local overrun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3730752"/>
            <a:ext cx="3218688" cy="123444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858768"/>
            <a:ext cx="2889504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ACCEPTED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169664"/>
            <a:ext cx="2889504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400" b="1">
                <a:solidFill>
                  <a:srgbClr val="FFB746"/>
                </a:solidFill>
                <a:latin typeface="Malgun Gothic"/>
              </a:defRPr>
            </a:pPr>
            <a:r>
              <a:t>78,229 / 106,416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645152"/>
            <a:ext cx="28895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73.51%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53128" y="3730752"/>
            <a:ext cx="2743200" cy="123444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3858768"/>
            <a:ext cx="241401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169664"/>
            <a:ext cx="241401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800" b="1">
                <a:solidFill>
                  <a:srgbClr val="FF6376"/>
                </a:solidFill>
                <a:latin typeface="Malgun Gothic"/>
              </a:defRPr>
            </a:pPr>
            <a:r>
              <a:t>28,187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4645152"/>
            <a:ext cx="241401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full50 baseline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80960" y="3730752"/>
            <a:ext cx="3493008" cy="123444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45552" y="3858768"/>
            <a:ext cx="3163824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THROUGHPUT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45552" y="4169664"/>
            <a:ext cx="3163824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700" b="1">
                <a:solidFill>
                  <a:srgbClr val="FF6376"/>
                </a:solidFill>
                <a:latin typeface="Malgun Gothic"/>
              </a:defRPr>
            </a:pPr>
            <a:r>
              <a:t>0.673901 EPC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45552" y="4645152"/>
            <a:ext cx="316382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fixed-window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발생률이 서비스율을 넘는 순간, scalar 출력이 손실의 원인이 된다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01  병목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① 출력 직렬화가 ② source-local overrun으로 이어진다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두 row-bitmap lane이 최대 8 events를 동시에 retire한다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final polarity RTL SHA-256 20d601a9…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115568"/>
            <a:ext cx="196596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ACC2D6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70432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9344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48256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70432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9344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48256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70432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09344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48256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70432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09344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48256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97480" y="2057400"/>
            <a:ext cx="603504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93008" y="1325880"/>
            <a:ext cx="2423160" cy="214884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0752" y="1664208"/>
            <a:ext cx="1956816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SOURCE-LOCAL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30752" y="2057400"/>
            <a:ext cx="195681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F6F9FC"/>
                </a:solidFill>
                <a:latin typeface="Malgun Gothic"/>
              </a:defRPr>
            </a:pPr>
            <a:r>
              <a:t>16 × depth-2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2596896"/>
            <a:ext cx="20116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0">
                <a:solidFill>
                  <a:srgbClr val="ACC2D6"/>
                </a:solidFill>
                <a:latin typeface="Malgun Gothic"/>
              </a:defRPr>
            </a:pPr>
            <a:r>
              <a:t>event + polarity FIFO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2057400"/>
            <a:ext cx="603504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1097280"/>
            <a:ext cx="1920240" cy="1143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9752" y="1353312"/>
            <a:ext cx="1499616" cy="2468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2AD3CD"/>
                </a:solidFill>
                <a:latin typeface="Malgun Gothic"/>
              </a:defRPr>
            </a:pPr>
            <a:r>
              <a:t>CENTER ROW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87184" y="1728216"/>
            <a:ext cx="144475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4-bit bitmap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49440" y="2606040"/>
            <a:ext cx="1920240" cy="1143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59752" y="2862072"/>
            <a:ext cx="1499616" cy="2468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PERIPH. ROW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87184" y="3236976"/>
            <a:ext cx="144475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4-bit bitmap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2057400"/>
            <a:ext cx="603504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37CD85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29800" y="1325880"/>
            <a:ext cx="1554480" cy="2148840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0" y="1645920"/>
            <a:ext cx="10972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071627"/>
                </a:solidFill>
                <a:latin typeface="Malgun Gothic"/>
              </a:defRPr>
            </a:pPr>
            <a:r>
              <a:t>최대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0112" y="1965960"/>
            <a:ext cx="1133856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200" b="1">
                <a:solidFill>
                  <a:srgbClr val="071627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76104" y="2816352"/>
            <a:ext cx="1261872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071627"/>
                </a:solidFill>
                <a:latin typeface="Malgun Gothic"/>
              </a:defRPr>
            </a:pPr>
            <a:r>
              <a:t>events/cycle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34440" y="4315968"/>
            <a:ext cx="9738360" cy="74980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17904" y="4498848"/>
            <a:ext cx="9171432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000" b="1">
                <a:solidFill>
                  <a:srgbClr val="F6F9FC"/>
                </a:solidFill>
                <a:latin typeface="Malgun Gothic"/>
              </a:defRPr>
            </a:pPr>
            <a:r>
              <a:t>출력  =  row  +  col_mask[3:0]  +  pol_mask[3:0]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핵심 변화: event를 하나씩 고르지 않고, 선택된 row를 bitmap으로 묶어 보낸다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두 row-bitmap lane이 최대 8 events를 동시에 retire한다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각 병목에 대응하는 RTL 해법이 다르다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polarity RTL lines 33–153 · arbiter2/arbiter4_tree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033271"/>
            <a:ext cx="260604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병목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2191" y="1033271"/>
            <a:ext cx="3822191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RTL 해법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1033271"/>
            <a:ext cx="290779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직접 효과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1389888"/>
            <a:ext cx="269748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572768"/>
            <a:ext cx="23317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F6376"/>
                </a:solidFill>
                <a:latin typeface="Malgun Gothic"/>
              </a:defRPr>
            </a:pPr>
            <a:r>
              <a:t>① 1-event/cycle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1536192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5072" y="1389888"/>
            <a:ext cx="3675887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87952" y="1572768"/>
            <a:ext cx="331012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ROW BITMAP × 2 LANES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536192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4" y="1389888"/>
            <a:ext cx="301752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6" y="1572768"/>
            <a:ext cx="268833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F6376"/>
                </a:solidFill>
                <a:latin typeface="Malgun Gothic"/>
              </a:defRPr>
            </a:pPr>
            <a:r>
              <a:t>최대 8 events/cycle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414016"/>
            <a:ext cx="269748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2596896"/>
            <a:ext cx="23317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FB746"/>
                </a:solidFill>
                <a:latin typeface="Malgun Gothic"/>
              </a:defRPr>
            </a:pPr>
            <a:r>
              <a:t>② source 재발생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2560320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05072" y="2414016"/>
            <a:ext cx="3675887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87952" y="2596896"/>
            <a:ext cx="331012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DEPTH-2 / 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560320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84464" y="2414016"/>
            <a:ext cx="301752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596896"/>
            <a:ext cx="268833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FB746"/>
                </a:solidFill>
                <a:latin typeface="Malgun Gothic"/>
              </a:defRPr>
            </a:pPr>
            <a:r>
              <a:t>두 번째 event 흡수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438144"/>
            <a:ext cx="269748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3621024"/>
            <a:ext cx="23317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③ class 쏠림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008" y="3584448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05072" y="3438144"/>
            <a:ext cx="3675887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87952" y="3621024"/>
            <a:ext cx="331012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CONDITIONAL LANE STEAL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584448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84464" y="3438144"/>
            <a:ext cx="301752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49056" y="3621024"/>
            <a:ext cx="268833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idle 처리력 재사용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462272"/>
            <a:ext cx="269748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4645152"/>
            <a:ext cx="23317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④ addr–pol 분리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3008" y="4608576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05072" y="4462272"/>
            <a:ext cx="3675887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87952" y="4645152"/>
            <a:ext cx="331012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POLARITY LOCKSTEP FIFO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4608576"/>
            <a:ext cx="438912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84464" y="4462272"/>
            <a:ext cx="3017520" cy="69494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49056" y="4645152"/>
            <a:ext cx="268833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polarity mismatch 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" y="5285232"/>
            <a:ext cx="101498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00" b="1">
                <a:solidFill>
                  <a:srgbClr val="FFB746"/>
                </a:solidFill>
                <a:latin typeface="Malgun Gothic"/>
              </a:defRPr>
            </a:pPr>
            <a:r>
              <a:t>주소 overhead 후속: row-trim −14.29%(기본 Cluster2 전용)  |  repeat-flag −15.61%(steal_buf 적용 가능)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한 가지 큰 개선이 아니라, 네 병목을 네 메커니즘으로 각각 완화했다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각 병목에 대응하는 RTL 해법이 다르다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대역폭·overflow 병목은 수치로 개선됐다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recovered Xcelium full50 · scalar Fovea vs original Cluster2 architecture family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389888"/>
            <a:ext cx="135331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ACC2D6"/>
                </a:solidFill>
                <a:latin typeface="Malgun Gothic"/>
              </a:defRPr>
            </a:pPr>
            <a:r>
              <a:t>ACCEPTED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12848" y="1143000"/>
            <a:ext cx="2770632" cy="896112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1271016"/>
            <a:ext cx="71323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SCALAR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1527048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FFB746"/>
                </a:solidFill>
                <a:latin typeface="Malgun Gothic"/>
              </a:defRPr>
            </a:pPr>
            <a:r>
              <a:t>78,229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1362456"/>
            <a:ext cx="56692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0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34456" y="1143000"/>
            <a:ext cx="2770632" cy="89611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7336" y="1271016"/>
            <a:ext cx="98755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CLUSTER2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7336" y="1527048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37CD85"/>
                </a:solidFill>
                <a:latin typeface="Malgun Gothic"/>
              </a:defRPr>
            </a:pPr>
            <a:r>
              <a:t>94,157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0848" y="1143000"/>
            <a:ext cx="2194560" cy="89611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417320"/>
            <a:ext cx="1847088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071627"/>
                </a:solidFill>
                <a:latin typeface="Malgun Gothic"/>
              </a:defRPr>
            </a:pPr>
            <a:r>
              <a:t>+20.4%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788920"/>
            <a:ext cx="135331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ACC2D6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12848" y="2542032"/>
            <a:ext cx="2770632" cy="896112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95728" y="2670048"/>
            <a:ext cx="71323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SCALAR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95728" y="2926080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FF6376"/>
                </a:solidFill>
                <a:latin typeface="Malgun Gothic"/>
              </a:defRPr>
            </a:pPr>
            <a:r>
              <a:t>28,187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2761488"/>
            <a:ext cx="56692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0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34456" y="2542032"/>
            <a:ext cx="2770632" cy="89611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17336" y="2670048"/>
            <a:ext cx="98755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CLUSTER2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17336" y="2926080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37CD85"/>
                </a:solidFill>
                <a:latin typeface="Malgun Gothic"/>
              </a:defRPr>
            </a:pPr>
            <a:r>
              <a:t>12,259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2542032"/>
            <a:ext cx="2194560" cy="89611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816352"/>
            <a:ext cx="1847088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071627"/>
                </a:solidFill>
                <a:latin typeface="Malgun Gothic"/>
              </a:defRPr>
            </a:pPr>
            <a:r>
              <a:t>−56.5%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4187952"/>
            <a:ext cx="135331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ACC2D6"/>
                </a:solidFill>
                <a:latin typeface="Malgun Gothic"/>
              </a:defRPr>
            </a:pPr>
            <a:r>
              <a:t>EPC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12848" y="3941064"/>
            <a:ext cx="2770632" cy="896112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95728" y="4069080"/>
            <a:ext cx="71323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SCALAR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5728" y="4325112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FFB746"/>
                </a:solidFill>
                <a:latin typeface="Malgun Gothic"/>
              </a:defRPr>
            </a:pPr>
            <a:r>
              <a:t>0.6739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4648" y="4160520"/>
            <a:ext cx="56692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0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34456" y="3941064"/>
            <a:ext cx="2770632" cy="89611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17336" y="4069080"/>
            <a:ext cx="98755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CLUSTER2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7336" y="4325112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2AD3CD"/>
                </a:solidFill>
                <a:latin typeface="Malgun Gothic"/>
              </a:defRPr>
            </a:pPr>
            <a:r>
              <a:t>0.8116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0848" y="3941064"/>
            <a:ext cx="2194560" cy="896112"/>
          </a:xfrm>
          <a:prstGeom prst="round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35440" y="4215384"/>
            <a:ext cx="1847088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071627"/>
                </a:solidFill>
                <a:latin typeface="Malgun Gothic"/>
              </a:defRPr>
            </a:pPr>
            <a:r>
              <a:t>+20.4%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74519" y="4965192"/>
            <a:ext cx="8458200" cy="50292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84831" y="5102352"/>
            <a:ext cx="8037575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추가 핵심: 기본 Cluster2 11.52% → steal_buf 0.47%  ·  loss 12,259 → 502  ·  24.42배 감소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기본 구조의 대역폭 개선 위에 depth-2·steal이 재발화/불균형 손실을 더 줄였다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486400"/>
            <a:ext cx="1001268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1">
                <a:solidFill>
                  <a:srgbClr val="FFB746"/>
                </a:solidFill>
                <a:latin typeface="Malgun Gothic"/>
              </a:defRPr>
            </a:pPr>
            <a:r>
              <a:t>※ 최종 polarity-v1 trace의 exact head-to-head 개선율이 아니라 원본 구조군 비교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결과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대역폭·overflow 병목은 수치로 개선됐다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최종 trace에서 buffer·polarity 오류 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polarity_v1_release_receipt.json · Xcelium 23.09-s013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280160"/>
            <a:ext cx="292608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800" b="1">
                <a:solidFill>
                  <a:srgbClr val="4793FF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93852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GENERATED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444752"/>
            <a:ext cx="74980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2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4608" y="1280160"/>
            <a:ext cx="292608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800" b="1">
                <a:solidFill>
                  <a:srgbClr val="37CD85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993392"/>
            <a:ext cx="193852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1444752"/>
            <a:ext cx="566928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800" b="1">
                <a:solidFill>
                  <a:srgbClr val="ACC2D6"/>
                </a:solidFill>
                <a:latin typeface="Malgun Gothic"/>
              </a:defRPr>
            </a:pPr>
            <a:r>
              <a:t>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280160"/>
            <a:ext cx="23774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800" b="1">
                <a:solidFill>
                  <a:srgbClr val="37CD85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1993392"/>
            <a:ext cx="192024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" y="3063240"/>
            <a:ext cx="3182112" cy="12801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1" y="3337560"/>
            <a:ext cx="54864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2AD3CD"/>
                </a:solidFill>
                <a:latin typeface="Malgun Gothic"/>
              </a:defRPr>
            </a:pPr>
            <a: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7" y="326440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독립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7" y="3730752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ACC2D6"/>
                </a:solidFill>
                <a:latin typeface="Malgun Gothic"/>
              </a:defRPr>
            </a:pPr>
            <a:r>
              <a:t>order violations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3063240"/>
            <a:ext cx="3182112" cy="12801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9432" y="3337560"/>
            <a:ext cx="54864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37CD85"/>
                </a:solidFill>
                <a:latin typeface="Malgun Gothic"/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26440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drain 후 empty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730752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ACC2D6"/>
                </a:solidFill>
                <a:latin typeface="Malgun Gothic"/>
              </a:defRPr>
            </a:pPr>
            <a:r>
              <a:t>남은 event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36992" y="3063240"/>
            <a:ext cx="3182112" cy="12801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3337560"/>
            <a:ext cx="54864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B27EFF"/>
                </a:solidFill>
                <a:latin typeface="Malgun Gothic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96528" y="326440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polarity 보존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96528" y="3730752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ACC2D6"/>
                </a:solidFill>
                <a:latin typeface="Malgun Gothic"/>
              </a:defRPr>
            </a:pPr>
            <a:r>
              <a:t>mismatch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" y="4553712"/>
            <a:ext cx="10314432" cy="82296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4663440"/>
            <a:ext cx="9893808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Xcelium 23.09  |  TB: redred_cluster2_polarity_v1_native_observational_tb.sv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4965192"/>
            <a:ext cx="989380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CYCLE 4162  |  lane0 row2 col=0x6 pol=0x0  |  lane1 row0 col=0x1 pol=0x1  →  4 events retire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generated = delivered + overrun · phantom 0 · duplicate 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결과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최종 trace에서 buffer·polarity 오류 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04 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P&amp;R에서 285.714 MHz가 setup·hold를 모두 통과했다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Innovus slow 0.9 V 125 °C · discrete timing sweep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170432"/>
            <a:ext cx="3063240" cy="129844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298448"/>
            <a:ext cx="273405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09344"/>
            <a:ext cx="273405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3000" b="1">
                <a:solidFill>
                  <a:srgbClr val="37CD85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148840"/>
            <a:ext cx="273405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setup +0.454 ns · hold +0.167 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035808"/>
            <a:ext cx="6784848" cy="109728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78992" y="2852928"/>
            <a:ext cx="347472" cy="34747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37CD85"/>
                </a:solidFill>
                <a:latin typeface="Malgun Gothic"/>
              </a:defRPr>
            </a:pPr>
            <a:r>
              <a:t>222</a:t>
            </a:r>
            <a:br/>
            <a:r>
              <a:t>MHz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+1.349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8648" y="2852928"/>
            <a:ext cx="347472" cy="34747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42615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37CD85"/>
                </a:solidFill>
                <a:latin typeface="Malgun Gothic"/>
              </a:defRPr>
            </a:pPr>
            <a:r>
              <a:t>250</a:t>
            </a:r>
            <a:br/>
            <a:r>
              <a:t>MHz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5456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+0.849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2852928"/>
            <a:ext cx="347472" cy="34747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36007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37CD85"/>
                </a:solidFill>
                <a:latin typeface="Malgun Gothic"/>
              </a:defRPr>
            </a:pPr>
            <a:r>
              <a:t>285.7</a:t>
            </a:r>
            <a:br/>
            <a:r>
              <a:t>MHz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+0.454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86600" y="2852928"/>
            <a:ext cx="347472" cy="347472"/>
          </a:xfrm>
          <a:prstGeom prst="roundRect">
            <a:avLst/>
          </a:prstGeom>
          <a:solidFill>
            <a:srgbClr val="FF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0568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FF6376"/>
                </a:solidFill>
                <a:latin typeface="Malgun Gothic"/>
              </a:defRPr>
            </a:pPr>
            <a:r>
              <a:t>333.3</a:t>
            </a:r>
            <a:br/>
            <a:r>
              <a:t>MHz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−0.004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2615184"/>
            <a:ext cx="452628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37CD85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2615184"/>
            <a:ext cx="10058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1000" b="1">
                <a:solidFill>
                  <a:srgbClr val="FF6376"/>
                </a:solidFill>
                <a:latin typeface="Malgun Gothic"/>
              </a:defRPr>
            </a:pPr>
            <a:r>
              <a:t>FAIL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170432"/>
            <a:ext cx="3154680" cy="129844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7031" y="1298448"/>
            <a:ext cx="282549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POST-ROUTE AREA RAW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1609344"/>
            <a:ext cx="282549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900" b="1">
                <a:solidFill>
                  <a:srgbClr val="2AD3CD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1" y="2148840"/>
            <a:ext cx="282549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596 instances · unit unstated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2816352"/>
            <a:ext cx="3154680" cy="129844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1" y="2944368"/>
            <a:ext cx="282549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VECTORLESS POWER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1" y="3255264"/>
            <a:ext cx="282549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700" b="1">
                <a:solidFill>
                  <a:srgbClr val="FFB746"/>
                </a:solidFill>
                <a:latin typeface="Malgun Gothic"/>
              </a:defRPr>
            </a:pPr>
            <a:r>
              <a:t>0.107389 mW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031" y="3794760"/>
            <a:ext cx="282549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default activity 0.2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4462272"/>
            <a:ext cx="3154680" cy="80467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681728"/>
            <a:ext cx="27889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37CD85"/>
                </a:solidFill>
                <a:latin typeface="Malgun Gothic"/>
              </a:defRPr>
            </a:pPr>
            <a:r>
              <a:t>Internal DRC 0 · antenna 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285.714 MHz PASS · 다음 측정점 333.333 MHz FAIL · 중간 주파수는 미측정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04  구현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P&amp;R에서 285.714 MHz가 setup·hold를 모두 통과했다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05 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CAV software 경로: 8,503 events 전수 분기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sealed legacy address-only official UZH→CAV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078992"/>
            <a:ext cx="10744200" cy="40233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179576"/>
            <a:ext cx="1024128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B27EFF"/>
                </a:solidFill>
                <a:latin typeface="Malgun Gothic"/>
              </a:defRPr>
            </a:pPr>
            <a:r>
              <a:t>LEGACY ADDRESS-ONLY TRACK  ·  최종 polarity-v1과 독립된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847088"/>
            <a:ext cx="2148840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084831"/>
            <a:ext cx="1746504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UZH EVENTS + POSE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96312"/>
            <a:ext cx="1746504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700" b="1">
                <a:solidFill>
                  <a:srgbClr val="4793FF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286000"/>
            <a:ext cx="5029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847088"/>
            <a:ext cx="2148840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0752" y="2084831"/>
            <a:ext cx="178308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EXACT IDENTITY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2523744"/>
            <a:ext cx="1856231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000" b="1">
                <a:solidFill>
                  <a:srgbClr val="37CD85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8" y="2286000"/>
            <a:ext cx="5029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1847088"/>
            <a:ext cx="2148840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084831"/>
            <a:ext cx="1746504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B27EFF"/>
                </a:solidFill>
                <a:latin typeface="Malgun Gothic"/>
              </a:defRPr>
            </a:pPr>
            <a:r>
              <a:t>CAUSAL-CAV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532888"/>
            <a:ext cx="17830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occurrence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1691640"/>
            <a:ext cx="43891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500" b="1">
                <a:solidFill>
                  <a:srgbClr val="2AD3CD"/>
                </a:solidFill>
                <a:latin typeface="Malgun Gothic"/>
              </a:defRPr>
            </a:pPr>
            <a:r>
              <a:t>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0848" y="1417320"/>
            <a:ext cx="2194560" cy="107899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1627632"/>
            <a:ext cx="18288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1965960"/>
            <a:ext cx="1828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2AD3CD"/>
                </a:solidFill>
                <a:latin typeface="Malgun Gothic"/>
              </a:defRPr>
            </a:pPr>
            <a:r>
              <a:t>8,420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2788920"/>
            <a:ext cx="43891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500" b="1">
                <a:solidFill>
                  <a:srgbClr val="FFB746"/>
                </a:solidFill>
                <a:latin typeface="Malgun Gothic"/>
              </a:defRPr>
            </a:pPr>
            <a:r>
              <a:t>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2724912"/>
            <a:ext cx="2194560" cy="107899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53728" y="2907792"/>
            <a:ext cx="18288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SENSOR_FIXED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3728" y="3246120"/>
            <a:ext cx="1828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FFB746"/>
                </a:solidFill>
                <a:latin typeface="Malgun Gothic"/>
              </a:defRPr>
            </a:pPr>
            <a:r>
              <a:t>83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3886200"/>
            <a:ext cx="4846320" cy="91440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4114800"/>
            <a:ext cx="192024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000" b="1">
                <a:solidFill>
                  <a:srgbClr val="2AD3CD"/>
                </a:solidFill>
                <a:latin typeface="Malgun Gothic"/>
              </a:defRPr>
            </a:pPr>
            <a:r>
              <a:t>WORLD 8,420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4133087"/>
            <a:ext cx="24688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→ 512×256 grid · 821 cells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53328" y="3886200"/>
            <a:ext cx="4937760" cy="91440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4096512"/>
            <a:ext cx="43891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700" b="1">
                <a:solidFill>
                  <a:srgbClr val="37CD85"/>
                </a:solidFill>
                <a:latin typeface="Malgun Gothic"/>
              </a:defRPr>
            </a:pPr>
            <a:r>
              <a:t>geometry = occurrence 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453128"/>
            <a:ext cx="43891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retire cycle은 latency sidecar로만 보존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입증: software functional extension · HOLD: polarity→CAV full replay / CAV RTL / CAV PPA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05  확장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CAV software 경로: 8,503 events 전수 분기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결론: 네 병목을 구조적으로 분리해 완화했다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 bundle: receipts · raw reports · SHA256SUMS · PROVENANCE.json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298448"/>
            <a:ext cx="3218688" cy="20574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554480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네 병목 → 네 해법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277977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FIFO · bitmap · steal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60320"/>
            <a:ext cx="277977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2AD3CD"/>
                </a:solidFill>
                <a:latin typeface="Malgun Gothic"/>
              </a:defRPr>
            </a:pPr>
            <a:r>
              <a:t>polarity lockstep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298448"/>
            <a:ext cx="3218688" cy="20574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554480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최종 RTL 증명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011680"/>
            <a:ext cx="277977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8,503 / 8,503 보존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560320"/>
            <a:ext cx="277977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37CD85"/>
                </a:solidFill>
                <a:latin typeface="Malgun Gothic"/>
              </a:defRPr>
            </a:pPr>
            <a:r>
              <a:t>285.714 MHz PASS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18704" y="1298448"/>
            <a:ext cx="3218688" cy="20574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554480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B27EFF"/>
                </a:solidFill>
                <a:latin typeface="Malgun Gothic"/>
              </a:defRPr>
            </a:pPr>
            <a:r>
              <a:t>별도 확장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011680"/>
            <a:ext cx="277977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legacy 8,503 join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560320"/>
            <a:ext cx="277977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B27EFF"/>
                </a:solidFill>
                <a:latin typeface="Malgun Gothic"/>
              </a:defRPr>
            </a:pPr>
            <a:r>
              <a:t>8,420 WORLD + 83 bypass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13632"/>
            <a:ext cx="10424160" cy="100584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206240"/>
            <a:ext cx="96012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FFB746"/>
                </a:solidFill>
                <a:latin typeface="Malgun Gothic"/>
              </a:defRPr>
            </a:pPr>
            <a:r>
              <a:t>NEXT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114800"/>
            <a:ext cx="873252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repeat-flag  ·  polarity→CAV full replay/RTL  ·  activity power  ·  exact Fmax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553712"/>
            <a:ext cx="87325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00" b="1">
                <a:solidFill>
                  <a:srgbClr val="FFB746"/>
                </a:solidFill>
                <a:latin typeface="Malgun Gothic"/>
              </a:defRPr>
            </a:pPr>
            <a:r>
              <a:t>row-trim −14.29%는 기본 Cluster2 전용 · steal_buf에는 적용 불가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GO: polarity RTL·TB·PPA evidence 제출  |  HOLD: exact Fmax·CAV RTL·signoff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SUMMARY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결론: 네 병목을 구조적으로 분리해 완화했다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Cluster2 AER — 2-lane row-bitmap으로 병목 완화</dc:title>
  <dc:subject>AER bottleneck, architecture, improvement, physical implementation, CAV extension</dc:subject>
  <dc:creator>AI-semi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