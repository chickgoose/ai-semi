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6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AD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49808" y="713232"/>
            <a:ext cx="10789920" cy="65836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defRPr sz="3600" b="1">
                <a:solidFill>
                  <a:srgbClr val="F6F9FC"/>
                </a:solidFill>
                <a:latin typeface="Malgun Gothic"/>
              </a:defRPr>
            </a:pPr>
            <a:r>
              <a:t>AER 병목을 2-lane row-bitmap으로 완화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8096" y="1490472"/>
            <a:ext cx="10058400" cy="32918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defRPr sz="1900" b="1">
                <a:solidFill>
                  <a:srgbClr val="2AD3CD"/>
                </a:solidFill>
                <a:latin typeface="Malgun Gothic"/>
              </a:defRPr>
            </a:pPr>
            <a:r>
              <a:t>Cluster2 Steal-Buffer Polarity AER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05840" y="2331720"/>
            <a:ext cx="2834640" cy="1417320"/>
          </a:xfrm>
          <a:prstGeom prst="roundRect">
            <a:avLst/>
          </a:prstGeom>
          <a:solidFill>
            <a:srgbClr val="1230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25296" y="2560320"/>
            <a:ext cx="640080" cy="23774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defRPr sz="1200" b="1">
                <a:solidFill>
                  <a:srgbClr val="ACC2D6"/>
                </a:solidFill>
                <a:latin typeface="Malgun Gothic"/>
              </a:defRPr>
            </a:pPr>
            <a:r>
              <a:t>기존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25296" y="2889504"/>
            <a:ext cx="2331720" cy="42062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2800" b="1">
                <a:solidFill>
                  <a:srgbClr val="FF6376"/>
                </a:solidFill>
                <a:latin typeface="Malgun Gothic"/>
              </a:defRPr>
            </a:pPr>
            <a:r>
              <a:t>1 event/cycle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33087" y="2788920"/>
            <a:ext cx="731520" cy="4114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3800" b="1">
                <a:solidFill>
                  <a:srgbClr val="2AD3CD"/>
                </a:solidFill>
                <a:latin typeface="Malgun Gothic"/>
              </a:defRPr>
            </a:pPr>
            <a:r>
              <a:t>→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166360" y="2148840"/>
            <a:ext cx="3246120" cy="1783080"/>
          </a:xfrm>
          <a:prstGeom prst="roundRect">
            <a:avLst/>
          </a:prstGeom>
          <a:solidFill>
            <a:srgbClr val="12304C"/>
          </a:solidFill>
          <a:ln w="19050">
            <a:solidFill>
              <a:srgbClr val="2AD3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40680" y="2441448"/>
            <a:ext cx="2697480" cy="25603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1300" b="1">
                <a:solidFill>
                  <a:srgbClr val="2AD3CD"/>
                </a:solidFill>
                <a:latin typeface="Malgun Gothic"/>
              </a:defRPr>
            </a:pPr>
            <a:r>
              <a:t>CLUSTER2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13248" y="2862072"/>
            <a:ext cx="2761488" cy="4114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2500" b="1">
                <a:solidFill>
                  <a:srgbClr val="F6F9FC"/>
                </a:solidFill>
                <a:latin typeface="Malgun Gothic"/>
              </a:defRPr>
            </a:pPr>
            <a:r>
              <a:t>2 lanes × 4 columns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68512" y="2788920"/>
            <a:ext cx="731520" cy="4114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3800" b="1">
                <a:solidFill>
                  <a:srgbClr val="2AD3CD"/>
                </a:solidFill>
                <a:latin typeface="Malgun Gothic"/>
              </a:defRPr>
            </a:pPr>
            <a: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646920" y="2331720"/>
            <a:ext cx="1600200" cy="1417320"/>
          </a:xfrm>
          <a:prstGeom prst="roundRect">
            <a:avLst/>
          </a:prstGeom>
          <a:solidFill>
            <a:srgbClr val="37CD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893808" y="2560320"/>
            <a:ext cx="1097280" cy="21945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1200" b="1">
                <a:solidFill>
                  <a:srgbClr val="071627"/>
                </a:solidFill>
                <a:latin typeface="Malgun Gothic"/>
              </a:defRPr>
            </a:pPr>
            <a:r>
              <a:t>최대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893808" y="2788920"/>
            <a:ext cx="1097280" cy="5486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3800" b="1">
                <a:solidFill>
                  <a:srgbClr val="071627"/>
                </a:solidFill>
                <a:latin typeface="Malgun Gothic"/>
              </a:defRPr>
            </a:pPr>
            <a:r>
              <a:t>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838944" y="3364992"/>
            <a:ext cx="1207008" cy="1828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900" b="1">
                <a:solidFill>
                  <a:srgbClr val="071627"/>
                </a:solidFill>
                <a:latin typeface="Malgun Gothic"/>
              </a:defRPr>
            </a:pPr>
            <a:r>
              <a:t>events/cycle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4709160"/>
            <a:ext cx="10332720" cy="34747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1800" b="1">
                <a:solidFill>
                  <a:srgbClr val="ACC2D6"/>
                </a:solidFill>
                <a:latin typeface="Malgun Gothic"/>
              </a:defRPr>
            </a:pPr>
            <a:r>
              <a:t>병목 정의  ·  구조 아이디어  ·  개선 수치  ·  물리 구현  ·  CAV 확장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8096" y="6263640"/>
            <a:ext cx="10241280" cy="20116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defRPr sz="1000" b="0">
                <a:solidFill>
                  <a:srgbClr val="ACC2D6"/>
                </a:solidFill>
                <a:latin typeface="Malgun Gothic"/>
              </a:defRPr>
            </a:pPr>
            <a:r>
              <a:t>2026-08-28  |  Xcelium · Genus · Innovus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6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AD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237744"/>
            <a:ext cx="1417320" cy="310896"/>
          </a:xfrm>
          <a:prstGeom prst="roundRect">
            <a:avLst/>
          </a:prstGeom>
          <a:solidFill>
            <a:srgbClr val="193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283464"/>
            <a:ext cx="1289304" cy="1828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1000" b="1">
                <a:solidFill>
                  <a:srgbClr val="2AD3CD"/>
                </a:solidFill>
                <a:latin typeface="Malgun Gothic"/>
              </a:defRPr>
            </a:pPr>
            <a:r>
              <a:t>01  병목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03120" y="201168"/>
            <a:ext cx="9326880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defRPr sz="2700" b="1">
                <a:solidFill>
                  <a:srgbClr val="F6F9FC"/>
                </a:solidFill>
                <a:latin typeface="Malgun Gothic"/>
              </a:defRPr>
            </a:pPr>
            <a:r>
              <a:t>문제는 입력 burst가 아니라 1-event/cycle 출력이다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804672"/>
            <a:ext cx="11137392" cy="18288"/>
          </a:xfrm>
          <a:prstGeom prst="rect">
            <a:avLst/>
          </a:prstGeom>
          <a:solidFill>
            <a:srgbClr val="2AD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37960"/>
            <a:ext cx="10241280" cy="12801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defRPr sz="600" b="0">
                <a:solidFill>
                  <a:srgbClr val="ACC2D6"/>
                </a:solidFill>
                <a:latin typeface="Malgun Gothic"/>
              </a:defRPr>
            </a:pPr>
            <a:r>
              <a:t>Source: recovered scalar Fovea Xcelium full50 diagnostics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09960" y="6473952"/>
            <a:ext cx="438912" cy="16459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defRPr sz="900" b="1">
                <a:solidFill>
                  <a:srgbClr val="2AD3CD"/>
                </a:solidFill>
                <a:latin typeface="Malgun Gothic"/>
              </a:defRPr>
            </a:pPr>
            <a: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143000"/>
            <a:ext cx="2011680" cy="25603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1400" b="1">
                <a:solidFill>
                  <a:srgbClr val="4793FF"/>
                </a:solidFill>
                <a:latin typeface="Malgun Gothic"/>
              </a:defRPr>
            </a:pPr>
            <a:r>
              <a:t>동시 입력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41248" y="1581912"/>
            <a:ext cx="310896" cy="310896"/>
          </a:xfrm>
          <a:prstGeom prst="roundRect">
            <a:avLst/>
          </a:prstGeom>
          <a:solidFill>
            <a:srgbClr val="193E5C"/>
          </a:solidFill>
          <a:ln w="19050">
            <a:solidFill>
              <a:srgbClr val="479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280160" y="1581912"/>
            <a:ext cx="310896" cy="310896"/>
          </a:xfrm>
          <a:prstGeom prst="roundRect">
            <a:avLst/>
          </a:prstGeom>
          <a:solidFill>
            <a:srgbClr val="193E5C"/>
          </a:solidFill>
          <a:ln w="19050">
            <a:solidFill>
              <a:srgbClr val="479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719072" y="1581912"/>
            <a:ext cx="310896" cy="310896"/>
          </a:xfrm>
          <a:prstGeom prst="roundRect">
            <a:avLst/>
          </a:prstGeom>
          <a:solidFill>
            <a:srgbClr val="193E5C"/>
          </a:solidFill>
          <a:ln w="19050">
            <a:solidFill>
              <a:srgbClr val="479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2157984" y="1581912"/>
            <a:ext cx="310896" cy="310896"/>
          </a:xfrm>
          <a:prstGeom prst="roundRect">
            <a:avLst/>
          </a:prstGeom>
          <a:solidFill>
            <a:srgbClr val="193E5C"/>
          </a:solidFill>
          <a:ln w="19050">
            <a:solidFill>
              <a:srgbClr val="479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41248" y="2020824"/>
            <a:ext cx="310896" cy="310896"/>
          </a:xfrm>
          <a:prstGeom prst="roundRect">
            <a:avLst/>
          </a:prstGeom>
          <a:solidFill>
            <a:srgbClr val="193E5C"/>
          </a:solidFill>
          <a:ln w="19050">
            <a:solidFill>
              <a:srgbClr val="479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1280160" y="2020824"/>
            <a:ext cx="310896" cy="310896"/>
          </a:xfrm>
          <a:prstGeom prst="roundRect">
            <a:avLst/>
          </a:prstGeom>
          <a:solidFill>
            <a:srgbClr val="193E5C"/>
          </a:solidFill>
          <a:ln w="19050">
            <a:solidFill>
              <a:srgbClr val="479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719072" y="2020824"/>
            <a:ext cx="310896" cy="310896"/>
          </a:xfrm>
          <a:prstGeom prst="roundRect">
            <a:avLst/>
          </a:prstGeom>
          <a:solidFill>
            <a:srgbClr val="193E5C"/>
          </a:solidFill>
          <a:ln w="19050">
            <a:solidFill>
              <a:srgbClr val="479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2157984" y="2020824"/>
            <a:ext cx="310896" cy="310896"/>
          </a:xfrm>
          <a:prstGeom prst="roundRect">
            <a:avLst/>
          </a:prstGeom>
          <a:solidFill>
            <a:srgbClr val="193E5C"/>
          </a:solidFill>
          <a:ln w="19050">
            <a:solidFill>
              <a:srgbClr val="479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41248" y="2459736"/>
            <a:ext cx="310896" cy="310896"/>
          </a:xfrm>
          <a:prstGeom prst="roundRect">
            <a:avLst/>
          </a:prstGeom>
          <a:solidFill>
            <a:srgbClr val="193E5C"/>
          </a:solidFill>
          <a:ln w="19050">
            <a:solidFill>
              <a:srgbClr val="479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280160" y="2459736"/>
            <a:ext cx="310896" cy="310896"/>
          </a:xfrm>
          <a:prstGeom prst="roundRect">
            <a:avLst/>
          </a:prstGeom>
          <a:solidFill>
            <a:srgbClr val="193E5C"/>
          </a:solidFill>
          <a:ln w="19050">
            <a:solidFill>
              <a:srgbClr val="479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1719072" y="2459736"/>
            <a:ext cx="310896" cy="310896"/>
          </a:xfrm>
          <a:prstGeom prst="roundRect">
            <a:avLst/>
          </a:prstGeom>
          <a:solidFill>
            <a:srgbClr val="193E5C"/>
          </a:solidFill>
          <a:ln w="19050">
            <a:solidFill>
              <a:srgbClr val="479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2157984" y="2459736"/>
            <a:ext cx="310896" cy="310896"/>
          </a:xfrm>
          <a:prstGeom prst="roundRect">
            <a:avLst/>
          </a:prstGeom>
          <a:solidFill>
            <a:srgbClr val="193E5C"/>
          </a:solidFill>
          <a:ln w="19050">
            <a:solidFill>
              <a:srgbClr val="479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834640" y="1993392"/>
            <a:ext cx="640080" cy="4114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3400" b="1">
                <a:solidFill>
                  <a:srgbClr val="FFB746"/>
                </a:solidFill>
                <a:latin typeface="Malgun Gothic"/>
              </a:defRPr>
            </a:pPr>
            <a:r>
              <a:t>→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675887" y="1325880"/>
            <a:ext cx="2834640" cy="1874519"/>
          </a:xfrm>
          <a:prstGeom prst="roundRect">
            <a:avLst/>
          </a:prstGeom>
          <a:solidFill>
            <a:srgbClr val="1230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931920" y="1627632"/>
            <a:ext cx="2331720" cy="2926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1800" b="1">
                <a:solidFill>
                  <a:srgbClr val="F6F9FC"/>
                </a:solidFill>
                <a:latin typeface="Malgun Gothic"/>
              </a:defRPr>
            </a:pPr>
            <a:r>
              <a:t>공유 arbitration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069080" y="2103120"/>
            <a:ext cx="2057400" cy="65836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1500" b="0">
                <a:solidFill>
                  <a:srgbClr val="ACC2D6"/>
                </a:solidFill>
                <a:latin typeface="Malgun Gothic"/>
              </a:defRPr>
            </a:pPr>
            <a:r>
              <a:t>여러 event가</a:t>
            </a:r>
            <a:br/>
            <a:r>
              <a:t>하나의 출력 순서를 기다림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48272" y="1993392"/>
            <a:ext cx="640080" cy="4114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3400" b="1">
                <a:solidFill>
                  <a:srgbClr val="FF6376"/>
                </a:solidFill>
                <a:latin typeface="Malgun Gothic"/>
              </a:defRPr>
            </a:pPr>
            <a:r>
              <a:t>→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571231" y="1325880"/>
            <a:ext cx="3611880" cy="1874519"/>
          </a:xfrm>
          <a:prstGeom prst="roundRect">
            <a:avLst/>
          </a:prstGeom>
          <a:solidFill>
            <a:srgbClr val="12304C"/>
          </a:solidFill>
          <a:ln w="19050">
            <a:solidFill>
              <a:srgbClr val="FF63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882127" y="1664208"/>
            <a:ext cx="2971800" cy="38404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2400" b="1">
                <a:solidFill>
                  <a:srgbClr val="FF6376"/>
                </a:solidFill>
                <a:latin typeface="Malgun Gothic"/>
              </a:defRPr>
            </a:pPr>
            <a:r>
              <a:t>1 EVENT / CYCLE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818120" y="2331720"/>
            <a:ext cx="3108960" cy="34747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1500" b="1">
                <a:solidFill>
                  <a:srgbClr val="F6F9FC"/>
                </a:solidFill>
                <a:latin typeface="Malgun Gothic"/>
              </a:defRPr>
            </a:pPr>
            <a:r>
              <a:t>대기 누적  →  source-local overrun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49808" y="3730752"/>
            <a:ext cx="3218688" cy="1234440"/>
          </a:xfrm>
          <a:prstGeom prst="roundRect">
            <a:avLst/>
          </a:prstGeom>
          <a:solidFill>
            <a:srgbClr val="1230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14400" y="3858768"/>
            <a:ext cx="2889504" cy="20116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defRPr sz="1000" b="1">
                <a:solidFill>
                  <a:srgbClr val="ACC2D6"/>
                </a:solidFill>
                <a:latin typeface="Malgun Gothic"/>
              </a:defRPr>
            </a:pPr>
            <a:r>
              <a:t>ACCEPTED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4169664"/>
            <a:ext cx="2889504" cy="47548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defRPr sz="2400" b="1">
                <a:solidFill>
                  <a:srgbClr val="FFB746"/>
                </a:solidFill>
                <a:latin typeface="Malgun Gothic"/>
              </a:defRPr>
            </a:pPr>
            <a:r>
              <a:t>78,229 / 106,416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4400" y="4645152"/>
            <a:ext cx="2889504" cy="1828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defRPr sz="900" b="0">
                <a:solidFill>
                  <a:srgbClr val="ACC2D6"/>
                </a:solidFill>
                <a:latin typeface="Malgun Gothic"/>
              </a:defRPr>
            </a:pPr>
            <a:r>
              <a:t>73.51%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453128" y="3730752"/>
            <a:ext cx="2743200" cy="1234440"/>
          </a:xfrm>
          <a:prstGeom prst="roundRect">
            <a:avLst/>
          </a:prstGeom>
          <a:solidFill>
            <a:srgbClr val="1230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617720" y="3858768"/>
            <a:ext cx="2414016" cy="20116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defRPr sz="1000" b="1">
                <a:solidFill>
                  <a:srgbClr val="ACC2D6"/>
                </a:solidFill>
                <a:latin typeface="Malgun Gothic"/>
              </a:defRPr>
            </a:pPr>
            <a:r>
              <a:t>OVERRUN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617720" y="4169664"/>
            <a:ext cx="2414016" cy="47548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defRPr sz="2800" b="1">
                <a:solidFill>
                  <a:srgbClr val="FF6376"/>
                </a:solidFill>
                <a:latin typeface="Malgun Gothic"/>
              </a:defRPr>
            </a:pPr>
            <a:r>
              <a:t>28,187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617720" y="4645152"/>
            <a:ext cx="2414016" cy="1828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defRPr sz="900" b="0">
                <a:solidFill>
                  <a:srgbClr val="ACC2D6"/>
                </a:solidFill>
                <a:latin typeface="Malgun Gothic"/>
              </a:defRPr>
            </a:pPr>
            <a:r>
              <a:t>full50 baseline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680960" y="3730752"/>
            <a:ext cx="3493008" cy="1234440"/>
          </a:xfrm>
          <a:prstGeom prst="roundRect">
            <a:avLst/>
          </a:prstGeom>
          <a:solidFill>
            <a:srgbClr val="1230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845552" y="3858768"/>
            <a:ext cx="3163824" cy="20116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defRPr sz="1000" b="1">
                <a:solidFill>
                  <a:srgbClr val="ACC2D6"/>
                </a:solidFill>
                <a:latin typeface="Malgun Gothic"/>
              </a:defRPr>
            </a:pPr>
            <a:r>
              <a:t>THROUGHPUT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845552" y="4169664"/>
            <a:ext cx="3163824" cy="47548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defRPr sz="2700" b="1">
                <a:solidFill>
                  <a:srgbClr val="FF6376"/>
                </a:solidFill>
                <a:latin typeface="Malgun Gothic"/>
              </a:defRPr>
            </a:pPr>
            <a:r>
              <a:t>0.673901 EPC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845552" y="4645152"/>
            <a:ext cx="3163824" cy="1828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defRPr sz="900" b="0">
                <a:solidFill>
                  <a:srgbClr val="ACC2D6"/>
                </a:solidFill>
                <a:latin typeface="Malgun Gothic"/>
              </a:defRPr>
            </a:pPr>
            <a:r>
              <a:t>fixed-window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13232" y="5669280"/>
            <a:ext cx="10771632" cy="566928"/>
          </a:xfrm>
          <a:prstGeom prst="roundRect">
            <a:avLst/>
          </a:prstGeom>
          <a:solidFill>
            <a:srgbClr val="1230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32688" y="5806440"/>
            <a:ext cx="10332720" cy="25603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1600" b="1">
                <a:solidFill>
                  <a:srgbClr val="FFB746"/>
                </a:solidFill>
                <a:latin typeface="Malgun Gothic"/>
              </a:defRPr>
            </a:pPr>
            <a:r>
              <a:t>발생률이 서비스율을 넘는 순간, scalar 출력이 손실의 원인이 된다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11480" y="128016"/>
            <a:ext cx="11201400" cy="621792"/>
          </a:xfrm>
          <a:prstGeom prst="rect">
            <a:avLst/>
          </a:prstGeom>
          <a:solidFill>
            <a:srgbClr val="0716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502920" y="237744"/>
            <a:ext cx="1417320" cy="310896"/>
          </a:xfrm>
          <a:prstGeom prst="roundRect">
            <a:avLst/>
          </a:prstGeom>
          <a:solidFill>
            <a:srgbClr val="193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66928" y="283464"/>
            <a:ext cx="1289304" cy="1828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1000" b="1">
                <a:solidFill>
                  <a:srgbClr val="2AD3CD"/>
                </a:solidFill>
                <a:latin typeface="Malgun Gothic"/>
              </a:defRPr>
            </a:pPr>
            <a:r>
              <a:t>01  병목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103120" y="201168"/>
            <a:ext cx="9326880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defRPr sz="2700" b="1">
                <a:solidFill>
                  <a:srgbClr val="F6F9FC"/>
                </a:solidFill>
                <a:latin typeface="Malgun Gothic"/>
              </a:defRPr>
            </a:pPr>
            <a:r>
              <a:t>문제는 입력 burst가 아니라 1-event/cycle 출력이다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02920" y="804672"/>
            <a:ext cx="11137392" cy="22860"/>
          </a:xfrm>
          <a:prstGeom prst="rect">
            <a:avLst/>
          </a:prstGeom>
          <a:solidFill>
            <a:srgbClr val="2AD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6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AD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237744"/>
            <a:ext cx="1417320" cy="310896"/>
          </a:xfrm>
          <a:prstGeom prst="roundRect">
            <a:avLst/>
          </a:prstGeom>
          <a:solidFill>
            <a:srgbClr val="193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283464"/>
            <a:ext cx="1289304" cy="1828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1000" b="1">
                <a:solidFill>
                  <a:srgbClr val="2AD3CD"/>
                </a:solidFill>
                <a:latin typeface="Malgun Gothic"/>
              </a:defRPr>
            </a:pPr>
            <a:r>
              <a:t>02  구조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03120" y="201168"/>
            <a:ext cx="9326880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defRPr sz="2700" b="1">
                <a:solidFill>
                  <a:srgbClr val="F6F9FC"/>
                </a:solidFill>
                <a:latin typeface="Malgun Gothic"/>
              </a:defRPr>
            </a:pPr>
            <a:r>
              <a:t>두 row-bitmap lane이 최대 8 events를 동시에 retire한다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804672"/>
            <a:ext cx="11137392" cy="18288"/>
          </a:xfrm>
          <a:prstGeom prst="rect">
            <a:avLst/>
          </a:prstGeom>
          <a:solidFill>
            <a:srgbClr val="2AD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37960"/>
            <a:ext cx="10241280" cy="12801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defRPr sz="600" b="0">
                <a:solidFill>
                  <a:srgbClr val="ACC2D6"/>
                </a:solidFill>
                <a:latin typeface="Malgun Gothic"/>
              </a:defRPr>
            </a:pPr>
            <a:r>
              <a:t>Source: final polarity RTL SHA-256 20d601a9…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09960" y="6473952"/>
            <a:ext cx="438912" cy="16459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defRPr sz="900" b="1">
                <a:solidFill>
                  <a:srgbClr val="2AD3CD"/>
                </a:solidFill>
                <a:latin typeface="Malgun Gothic"/>
              </a:defRPr>
            </a:pPr>
            <a:r>
              <a:t>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" y="1115568"/>
            <a:ext cx="1965960" cy="23774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1300" b="1">
                <a:solidFill>
                  <a:srgbClr val="ACC2D6"/>
                </a:solidFill>
                <a:latin typeface="Malgun Gothic"/>
              </a:defRPr>
            </a:pPr>
            <a:r>
              <a:t>16 SOURCES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1508760"/>
            <a:ext cx="320040" cy="320040"/>
          </a:xfrm>
          <a:prstGeom prst="roundRect">
            <a:avLst/>
          </a:prstGeom>
          <a:solidFill>
            <a:srgbClr val="193E5C"/>
          </a:solidFill>
          <a:ln w="19050">
            <a:solidFill>
              <a:srgbClr val="479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170432" y="1508760"/>
            <a:ext cx="320040" cy="320040"/>
          </a:xfrm>
          <a:prstGeom prst="roundRect">
            <a:avLst/>
          </a:prstGeom>
          <a:solidFill>
            <a:srgbClr val="193E5C"/>
          </a:solidFill>
          <a:ln w="19050">
            <a:solidFill>
              <a:srgbClr val="479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609344" y="1508760"/>
            <a:ext cx="320040" cy="320040"/>
          </a:xfrm>
          <a:prstGeom prst="roundRect">
            <a:avLst/>
          </a:prstGeom>
          <a:solidFill>
            <a:srgbClr val="193E5C"/>
          </a:solidFill>
          <a:ln w="19050">
            <a:solidFill>
              <a:srgbClr val="479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2048256" y="1508760"/>
            <a:ext cx="320040" cy="320040"/>
          </a:xfrm>
          <a:prstGeom prst="roundRect">
            <a:avLst/>
          </a:prstGeom>
          <a:solidFill>
            <a:srgbClr val="193E5C"/>
          </a:solidFill>
          <a:ln w="19050">
            <a:solidFill>
              <a:srgbClr val="479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31520" y="1947672"/>
            <a:ext cx="320040" cy="320040"/>
          </a:xfrm>
          <a:prstGeom prst="roundRect">
            <a:avLst/>
          </a:prstGeom>
          <a:solidFill>
            <a:srgbClr val="193E5C"/>
          </a:solidFill>
          <a:ln w="19050">
            <a:solidFill>
              <a:srgbClr val="2AD3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1170432" y="1947672"/>
            <a:ext cx="320040" cy="320040"/>
          </a:xfrm>
          <a:prstGeom prst="roundRect">
            <a:avLst/>
          </a:prstGeom>
          <a:solidFill>
            <a:srgbClr val="193E5C"/>
          </a:solidFill>
          <a:ln w="19050">
            <a:solidFill>
              <a:srgbClr val="2AD3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609344" y="1947672"/>
            <a:ext cx="320040" cy="320040"/>
          </a:xfrm>
          <a:prstGeom prst="roundRect">
            <a:avLst/>
          </a:prstGeom>
          <a:solidFill>
            <a:srgbClr val="193E5C"/>
          </a:solidFill>
          <a:ln w="19050">
            <a:solidFill>
              <a:srgbClr val="2AD3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2048256" y="1947672"/>
            <a:ext cx="320040" cy="320040"/>
          </a:xfrm>
          <a:prstGeom prst="roundRect">
            <a:avLst/>
          </a:prstGeom>
          <a:solidFill>
            <a:srgbClr val="193E5C"/>
          </a:solidFill>
          <a:ln w="19050">
            <a:solidFill>
              <a:srgbClr val="2AD3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731520" y="2386584"/>
            <a:ext cx="320040" cy="320040"/>
          </a:xfrm>
          <a:prstGeom prst="roundRect">
            <a:avLst/>
          </a:prstGeom>
          <a:solidFill>
            <a:srgbClr val="193E5C"/>
          </a:solidFill>
          <a:ln w="19050">
            <a:solidFill>
              <a:srgbClr val="2AD3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170432" y="2386584"/>
            <a:ext cx="320040" cy="320040"/>
          </a:xfrm>
          <a:prstGeom prst="roundRect">
            <a:avLst/>
          </a:prstGeom>
          <a:solidFill>
            <a:srgbClr val="193E5C"/>
          </a:solidFill>
          <a:ln w="19050">
            <a:solidFill>
              <a:srgbClr val="2AD3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1609344" y="2386584"/>
            <a:ext cx="320040" cy="320040"/>
          </a:xfrm>
          <a:prstGeom prst="roundRect">
            <a:avLst/>
          </a:prstGeom>
          <a:solidFill>
            <a:srgbClr val="193E5C"/>
          </a:solidFill>
          <a:ln w="19050">
            <a:solidFill>
              <a:srgbClr val="2AD3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2048256" y="2386584"/>
            <a:ext cx="320040" cy="320040"/>
          </a:xfrm>
          <a:prstGeom prst="roundRect">
            <a:avLst/>
          </a:prstGeom>
          <a:solidFill>
            <a:srgbClr val="193E5C"/>
          </a:solidFill>
          <a:ln w="19050">
            <a:solidFill>
              <a:srgbClr val="2AD3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731520" y="2825496"/>
            <a:ext cx="320040" cy="320040"/>
          </a:xfrm>
          <a:prstGeom prst="roundRect">
            <a:avLst/>
          </a:prstGeom>
          <a:solidFill>
            <a:srgbClr val="193E5C"/>
          </a:solidFill>
          <a:ln w="19050">
            <a:solidFill>
              <a:srgbClr val="479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170432" y="2825496"/>
            <a:ext cx="320040" cy="320040"/>
          </a:xfrm>
          <a:prstGeom prst="roundRect">
            <a:avLst/>
          </a:prstGeom>
          <a:solidFill>
            <a:srgbClr val="193E5C"/>
          </a:solidFill>
          <a:ln w="19050">
            <a:solidFill>
              <a:srgbClr val="479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1609344" y="2825496"/>
            <a:ext cx="320040" cy="320040"/>
          </a:xfrm>
          <a:prstGeom prst="roundRect">
            <a:avLst/>
          </a:prstGeom>
          <a:solidFill>
            <a:srgbClr val="193E5C"/>
          </a:solidFill>
          <a:ln w="19050">
            <a:solidFill>
              <a:srgbClr val="479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2048256" y="2825496"/>
            <a:ext cx="320040" cy="320040"/>
          </a:xfrm>
          <a:prstGeom prst="roundRect">
            <a:avLst/>
          </a:prstGeom>
          <a:solidFill>
            <a:srgbClr val="193E5C"/>
          </a:solidFill>
          <a:ln w="19050">
            <a:solidFill>
              <a:srgbClr val="479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697480" y="2057400"/>
            <a:ext cx="603504" cy="4114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3400" b="1">
                <a:solidFill>
                  <a:srgbClr val="2AD3CD"/>
                </a:solidFill>
                <a:latin typeface="Malgun Gothic"/>
              </a:defRPr>
            </a:pPr>
            <a:r>
              <a:t>→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493008" y="1325880"/>
            <a:ext cx="2423160" cy="2148840"/>
          </a:xfrm>
          <a:prstGeom prst="roundRect">
            <a:avLst/>
          </a:prstGeom>
          <a:solidFill>
            <a:srgbClr val="12304C"/>
          </a:solidFill>
          <a:ln w="19050">
            <a:solidFill>
              <a:srgbClr val="2AD3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730752" y="1664208"/>
            <a:ext cx="1956816" cy="25603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1300" b="1">
                <a:solidFill>
                  <a:srgbClr val="2AD3CD"/>
                </a:solidFill>
                <a:latin typeface="Malgun Gothic"/>
              </a:defRPr>
            </a:pPr>
            <a:r>
              <a:t>SOURCE-LOCAL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730752" y="2057400"/>
            <a:ext cx="1956816" cy="34747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2300" b="1">
                <a:solidFill>
                  <a:srgbClr val="F6F9FC"/>
                </a:solidFill>
                <a:latin typeface="Malgun Gothic"/>
              </a:defRPr>
            </a:pPr>
            <a:r>
              <a:t>16 × depth-2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703320" y="2596896"/>
            <a:ext cx="2011680" cy="25603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1300" b="0">
                <a:solidFill>
                  <a:srgbClr val="ACC2D6"/>
                </a:solidFill>
                <a:latin typeface="Malgun Gothic"/>
              </a:defRPr>
            </a:pPr>
            <a:r>
              <a:t>event + polarity FIFO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144768" y="2057400"/>
            <a:ext cx="603504" cy="4114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3400" b="1">
                <a:solidFill>
                  <a:srgbClr val="2AD3CD"/>
                </a:solidFill>
                <a:latin typeface="Malgun Gothic"/>
              </a:defRPr>
            </a:pPr>
            <a:r>
              <a:t>→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949440" y="1097280"/>
            <a:ext cx="1920240" cy="1143000"/>
          </a:xfrm>
          <a:prstGeom prst="roundRect">
            <a:avLst/>
          </a:prstGeom>
          <a:solidFill>
            <a:srgbClr val="12304C"/>
          </a:solidFill>
          <a:ln w="19050">
            <a:solidFill>
              <a:srgbClr val="2AD3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159752" y="1353312"/>
            <a:ext cx="1499616" cy="24688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1400" b="1">
                <a:solidFill>
                  <a:srgbClr val="2AD3CD"/>
                </a:solidFill>
                <a:latin typeface="Malgun Gothic"/>
              </a:defRPr>
            </a:pPr>
            <a:r>
              <a:t>CENTER ROW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187184" y="1728216"/>
            <a:ext cx="1444752" cy="21945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1200" b="1">
                <a:solidFill>
                  <a:srgbClr val="F6F9FC"/>
                </a:solidFill>
                <a:latin typeface="Malgun Gothic"/>
              </a:defRPr>
            </a:pPr>
            <a:r>
              <a:t>4-bit bitmap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949440" y="2606040"/>
            <a:ext cx="1920240" cy="1143000"/>
          </a:xfrm>
          <a:prstGeom prst="roundRect">
            <a:avLst/>
          </a:prstGeom>
          <a:solidFill>
            <a:srgbClr val="12304C"/>
          </a:solidFill>
          <a:ln w="19050">
            <a:solidFill>
              <a:srgbClr val="479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159752" y="2862072"/>
            <a:ext cx="1499616" cy="24688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1400" b="1">
                <a:solidFill>
                  <a:srgbClr val="4793FF"/>
                </a:solidFill>
                <a:latin typeface="Malgun Gothic"/>
              </a:defRPr>
            </a:pPr>
            <a:r>
              <a:t>PERIPH. ROW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187184" y="3236976"/>
            <a:ext cx="1444752" cy="21945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1200" b="1">
                <a:solidFill>
                  <a:srgbClr val="F6F9FC"/>
                </a:solidFill>
                <a:latin typeface="Malgun Gothic"/>
              </a:defRPr>
            </a:pPr>
            <a:r>
              <a:t>4-bit bitmap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070848" y="2057400"/>
            <a:ext cx="603504" cy="4114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3400" b="1">
                <a:solidFill>
                  <a:srgbClr val="37CD85"/>
                </a:solidFill>
                <a:latin typeface="Malgun Gothic"/>
              </a:defRPr>
            </a:pPr>
            <a:r>
              <a:t>→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9829800" y="1325880"/>
            <a:ext cx="1554480" cy="2148840"/>
          </a:xfrm>
          <a:prstGeom prst="roundRect">
            <a:avLst/>
          </a:prstGeom>
          <a:solidFill>
            <a:srgbClr val="37CD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058400" y="1645920"/>
            <a:ext cx="1097280" cy="2286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1200" b="1">
                <a:solidFill>
                  <a:srgbClr val="071627"/>
                </a:solidFill>
                <a:latin typeface="Malgun Gothic"/>
              </a:defRPr>
            </a:pPr>
            <a:r>
              <a:t>최대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040112" y="1965960"/>
            <a:ext cx="1133856" cy="60350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4200" b="1">
                <a:solidFill>
                  <a:srgbClr val="071627"/>
                </a:solidFill>
                <a:latin typeface="Malgun Gothic"/>
              </a:defRPr>
            </a:pPr>
            <a:r>
              <a:t>8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976104" y="2816352"/>
            <a:ext cx="1261872" cy="2286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1000" b="1">
                <a:solidFill>
                  <a:srgbClr val="071627"/>
                </a:solidFill>
                <a:latin typeface="Malgun Gothic"/>
              </a:defRPr>
            </a:pPr>
            <a:r>
              <a:t>events/cycle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1234440" y="4315968"/>
            <a:ext cx="9738360" cy="749808"/>
          </a:xfrm>
          <a:prstGeom prst="roundRect">
            <a:avLst/>
          </a:prstGeom>
          <a:solidFill>
            <a:srgbClr val="1230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517904" y="4498848"/>
            <a:ext cx="9171432" cy="32918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2000" b="1">
                <a:solidFill>
                  <a:srgbClr val="F6F9FC"/>
                </a:solidFill>
                <a:latin typeface="Malgun Gothic"/>
              </a:defRPr>
            </a:pPr>
            <a:r>
              <a:t>출력  =  row  +  col_mask[3:0]  +  pol_mask[3:0]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713232" y="5669280"/>
            <a:ext cx="10771632" cy="566928"/>
          </a:xfrm>
          <a:prstGeom prst="roundRect">
            <a:avLst/>
          </a:prstGeom>
          <a:solidFill>
            <a:srgbClr val="1230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32688" y="5806440"/>
            <a:ext cx="10332720" cy="25603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1600" b="1">
                <a:solidFill>
                  <a:srgbClr val="37CD85"/>
                </a:solidFill>
                <a:latin typeface="Malgun Gothic"/>
              </a:defRPr>
            </a:pPr>
            <a:r>
              <a:t>핵심 변화: event를 하나씩 고르지 않고, 선택된 row를 bitmap으로 묶어 보낸다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11480" y="128016"/>
            <a:ext cx="11201400" cy="621792"/>
          </a:xfrm>
          <a:prstGeom prst="rect">
            <a:avLst/>
          </a:prstGeom>
          <a:solidFill>
            <a:srgbClr val="0716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502920" y="237744"/>
            <a:ext cx="1417320" cy="310896"/>
          </a:xfrm>
          <a:prstGeom prst="roundRect">
            <a:avLst/>
          </a:prstGeom>
          <a:solidFill>
            <a:srgbClr val="193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66928" y="283464"/>
            <a:ext cx="1289304" cy="1828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1000" b="1">
                <a:solidFill>
                  <a:srgbClr val="2AD3CD"/>
                </a:solidFill>
                <a:latin typeface="Malgun Gothic"/>
              </a:defRPr>
            </a:pPr>
            <a:r>
              <a:t>02  구조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103120" y="201168"/>
            <a:ext cx="9326880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defRPr sz="2700" b="1">
                <a:solidFill>
                  <a:srgbClr val="F6F9FC"/>
                </a:solidFill>
                <a:latin typeface="Malgun Gothic"/>
              </a:defRPr>
            </a:pPr>
            <a:r>
              <a:t>두 row-bitmap lane이 최대 8 events를 동시에 retire한다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02920" y="804672"/>
            <a:ext cx="11137392" cy="22860"/>
          </a:xfrm>
          <a:prstGeom prst="rect">
            <a:avLst/>
          </a:prstGeom>
          <a:solidFill>
            <a:srgbClr val="2AD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6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AD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237744"/>
            <a:ext cx="1417320" cy="310896"/>
          </a:xfrm>
          <a:prstGeom prst="roundRect">
            <a:avLst/>
          </a:prstGeom>
          <a:solidFill>
            <a:srgbClr val="193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283464"/>
            <a:ext cx="1289304" cy="1828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1000" b="1">
                <a:solidFill>
                  <a:srgbClr val="2AD3CD"/>
                </a:solidFill>
                <a:latin typeface="Malgun Gothic"/>
              </a:defRPr>
            </a:pPr>
            <a:r>
              <a:t>02  구조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03120" y="201168"/>
            <a:ext cx="9326880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defRPr sz="2700" b="1">
                <a:solidFill>
                  <a:srgbClr val="F6F9FC"/>
                </a:solidFill>
                <a:latin typeface="Malgun Gothic"/>
              </a:defRPr>
            </a:pPr>
            <a:r>
              <a:t>네 아이디어로 네 병목을 끊는다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804672"/>
            <a:ext cx="11137392" cy="18288"/>
          </a:xfrm>
          <a:prstGeom prst="rect">
            <a:avLst/>
          </a:prstGeom>
          <a:solidFill>
            <a:srgbClr val="2AD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37960"/>
            <a:ext cx="10241280" cy="12801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defRPr sz="600" b="0">
                <a:solidFill>
                  <a:srgbClr val="ACC2D6"/>
                </a:solidFill>
                <a:latin typeface="Malgun Gothic"/>
              </a:defRPr>
            </a:pPr>
            <a:r>
              <a:t>Source: polarity RTL lines 33–153 · arbiter2/arbiter4_tree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09960" y="6473952"/>
            <a:ext cx="438912" cy="16459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defRPr sz="900" b="1">
                <a:solidFill>
                  <a:srgbClr val="2AD3CD"/>
                </a:solidFill>
                <a:latin typeface="Malgun Gothic"/>
              </a:defRPr>
            </a:pPr>
            <a:r>
              <a:t>04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188720"/>
            <a:ext cx="5230368" cy="1554480"/>
          </a:xfrm>
          <a:prstGeom prst="roundRect">
            <a:avLst/>
          </a:prstGeom>
          <a:solidFill>
            <a:srgbClr val="12304C"/>
          </a:solidFill>
          <a:ln w="19050">
            <a:solidFill>
              <a:srgbClr val="479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9264" y="1389888"/>
            <a:ext cx="47091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defRPr sz="1500" b="1">
                <a:solidFill>
                  <a:srgbClr val="4793FF"/>
                </a:solidFill>
                <a:latin typeface="Malgun Gothic"/>
              </a:defRPr>
            </a:pPr>
            <a:r>
              <a:t>① DEPTH-2 / SOURCE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9264" y="1828800"/>
            <a:ext cx="4709160" cy="32918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defRPr sz="1800" b="1">
                <a:solidFill>
                  <a:srgbClr val="F6F9FC"/>
                </a:solidFill>
                <a:latin typeface="Malgun Gothic"/>
              </a:defRPr>
            </a:pPr>
            <a:r>
              <a:t>두 번째 event까지 저장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9264" y="2313432"/>
            <a:ext cx="4709160" cy="2286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defRPr sz="1200" b="0">
                <a:solidFill>
                  <a:srgbClr val="ACC2D6"/>
                </a:solidFill>
                <a:latin typeface="Malgun Gothic"/>
              </a:defRPr>
            </a:pPr>
            <a:r>
              <a:t>국소 포화 완화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36208" y="1188720"/>
            <a:ext cx="5230368" cy="1554480"/>
          </a:xfrm>
          <a:prstGeom prst="roundRect">
            <a:avLst/>
          </a:prstGeom>
          <a:solidFill>
            <a:srgbClr val="12304C"/>
          </a:solidFill>
          <a:ln w="19050">
            <a:solidFill>
              <a:srgbClr val="2AD3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0" y="1389888"/>
            <a:ext cx="47091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defRPr sz="1500" b="1">
                <a:solidFill>
                  <a:srgbClr val="2AD3CD"/>
                </a:solidFill>
                <a:latin typeface="Malgun Gothic"/>
              </a:defRPr>
            </a:pPr>
            <a:r>
              <a:t>② ROW BITMAP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0" y="1828800"/>
            <a:ext cx="4709160" cy="32918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defRPr sz="1800" b="1">
                <a:solidFill>
                  <a:srgbClr val="F6F9FC"/>
                </a:solidFill>
                <a:latin typeface="Malgun Gothic"/>
              </a:defRPr>
            </a:pPr>
            <a:r>
              <a:t>한 row의 4 columns 동시 pop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92240" y="2313432"/>
            <a:ext cx="4709160" cy="2286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defRPr sz="1200" b="0">
                <a:solidFill>
                  <a:srgbClr val="ACC2D6"/>
                </a:solidFill>
                <a:latin typeface="Malgun Gothic"/>
              </a:defRPr>
            </a:pPr>
            <a:r>
              <a:t>직렬화 완화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13232" y="3310128"/>
            <a:ext cx="5230368" cy="1554480"/>
          </a:xfrm>
          <a:prstGeom prst="roundRect">
            <a:avLst/>
          </a:prstGeom>
          <a:solidFill>
            <a:srgbClr val="12304C"/>
          </a:solidFill>
          <a:ln w="19050">
            <a:solidFill>
              <a:srgbClr val="B27E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9264" y="3511296"/>
            <a:ext cx="47091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defRPr sz="1500" b="1">
                <a:solidFill>
                  <a:srgbClr val="B27EFF"/>
                </a:solidFill>
                <a:latin typeface="Malgun Gothic"/>
              </a:defRPr>
            </a:pPr>
            <a:r>
              <a:t>③ LANE STEAL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9264" y="3950208"/>
            <a:ext cx="4709160" cy="32918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defRPr sz="1800" b="1">
                <a:solidFill>
                  <a:srgbClr val="F6F9FC"/>
                </a:solidFill>
                <a:latin typeface="Malgun Gothic"/>
              </a:defRPr>
            </a:pPr>
            <a:r>
              <a:t>idle lane을 반대 class에 재배치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9264" y="4434840"/>
            <a:ext cx="4709160" cy="2286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defRPr sz="1200" b="0">
                <a:solidFill>
                  <a:srgbClr val="ACC2D6"/>
                </a:solidFill>
                <a:latin typeface="Malgun Gothic"/>
              </a:defRPr>
            </a:pPr>
            <a:r>
              <a:t>불균형 완화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36208" y="3310128"/>
            <a:ext cx="5230368" cy="1554480"/>
          </a:xfrm>
          <a:prstGeom prst="roundRect">
            <a:avLst/>
          </a:prstGeom>
          <a:solidFill>
            <a:srgbClr val="12304C"/>
          </a:solidFill>
          <a:ln w="19050">
            <a:solidFill>
              <a:srgbClr val="FFB7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92240" y="3511296"/>
            <a:ext cx="47091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defRPr sz="1500" b="1">
                <a:solidFill>
                  <a:srgbClr val="FFB746"/>
                </a:solidFill>
                <a:latin typeface="Malgun Gothic"/>
              </a:defRPr>
            </a:pPr>
            <a:r>
              <a:t>④ POLARITY LOCKSTEP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92240" y="3950208"/>
            <a:ext cx="4709160" cy="32918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defRPr sz="1800" b="1">
                <a:solidFill>
                  <a:srgbClr val="F6F9FC"/>
                </a:solidFill>
                <a:latin typeface="Malgun Gothic"/>
              </a:defRPr>
            </a:pPr>
            <a:r>
              <a:t>주소와 polarity를 함께 push/pop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4434840"/>
            <a:ext cx="4709160" cy="2286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defRPr sz="1200" b="0">
                <a:solidFill>
                  <a:srgbClr val="ACC2D6"/>
                </a:solidFill>
                <a:latin typeface="Malgun Gothic"/>
              </a:defRPr>
            </a:pPr>
            <a:r>
              <a:t>event 의미 보존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13232" y="5669280"/>
            <a:ext cx="10771632" cy="566928"/>
          </a:xfrm>
          <a:prstGeom prst="roundRect">
            <a:avLst/>
          </a:prstGeom>
          <a:solidFill>
            <a:srgbClr val="1230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32688" y="5806440"/>
            <a:ext cx="10332720" cy="25603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1600" b="1">
                <a:solidFill>
                  <a:srgbClr val="37CD85"/>
                </a:solidFill>
                <a:latin typeface="Malgun Gothic"/>
              </a:defRPr>
            </a:pPr>
            <a:r>
              <a:t>buffer · 병렬화 · 자원 공유 · metadata 정렬을 한 datapath 안에서 해결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11480" y="128016"/>
            <a:ext cx="11201400" cy="621792"/>
          </a:xfrm>
          <a:prstGeom prst="rect">
            <a:avLst/>
          </a:prstGeom>
          <a:solidFill>
            <a:srgbClr val="0716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502920" y="237744"/>
            <a:ext cx="1417320" cy="310896"/>
          </a:xfrm>
          <a:prstGeom prst="roundRect">
            <a:avLst/>
          </a:prstGeom>
          <a:solidFill>
            <a:srgbClr val="193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66928" y="283464"/>
            <a:ext cx="1289304" cy="1828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1000" b="1">
                <a:solidFill>
                  <a:srgbClr val="2AD3CD"/>
                </a:solidFill>
                <a:latin typeface="Malgun Gothic"/>
              </a:defRPr>
            </a:pPr>
            <a:r>
              <a:t>02  구조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103120" y="201168"/>
            <a:ext cx="9326880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defRPr sz="2700" b="1">
                <a:solidFill>
                  <a:srgbClr val="F6F9FC"/>
                </a:solidFill>
                <a:latin typeface="Malgun Gothic"/>
              </a:defRPr>
            </a:pPr>
            <a:r>
              <a:t>네 아이디어로 네 병목을 끊는다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02920" y="804672"/>
            <a:ext cx="11137392" cy="22860"/>
          </a:xfrm>
          <a:prstGeom prst="rect">
            <a:avLst/>
          </a:prstGeom>
          <a:solidFill>
            <a:srgbClr val="2AD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6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AD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237744"/>
            <a:ext cx="1417320" cy="310896"/>
          </a:xfrm>
          <a:prstGeom prst="roundRect">
            <a:avLst/>
          </a:prstGeom>
          <a:solidFill>
            <a:srgbClr val="193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283464"/>
            <a:ext cx="1289304" cy="1828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1000" b="1">
                <a:solidFill>
                  <a:srgbClr val="2AD3CD"/>
                </a:solidFill>
                <a:latin typeface="Malgun Gothic"/>
              </a:defRPr>
            </a:pPr>
            <a:r>
              <a:t>03  결과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03120" y="201168"/>
            <a:ext cx="9326880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defRPr sz="2700" b="1">
                <a:solidFill>
                  <a:srgbClr val="F6F9FC"/>
                </a:solidFill>
                <a:latin typeface="Malgun Gothic"/>
              </a:defRPr>
            </a:pPr>
            <a:r>
              <a:t>accepted +20.4% · overrun −56.5%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804672"/>
            <a:ext cx="11137392" cy="18288"/>
          </a:xfrm>
          <a:prstGeom prst="rect">
            <a:avLst/>
          </a:prstGeom>
          <a:solidFill>
            <a:srgbClr val="2AD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37960"/>
            <a:ext cx="10241280" cy="12801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defRPr sz="600" b="0">
                <a:solidFill>
                  <a:srgbClr val="ACC2D6"/>
                </a:solidFill>
                <a:latin typeface="Malgun Gothic"/>
              </a:defRPr>
            </a:pPr>
            <a:r>
              <a:t>Source: recovered Xcelium full50 · scalar Fovea vs original Cluster2 architecture family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09960" y="6473952"/>
            <a:ext cx="438912" cy="16459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defRPr sz="900" b="1">
                <a:solidFill>
                  <a:srgbClr val="2AD3CD"/>
                </a:solidFill>
                <a:latin typeface="Malgun Gothic"/>
              </a:defRPr>
            </a:pPr>
            <a:r>
              <a:t>05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1389888"/>
            <a:ext cx="1353312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defRPr sz="1400" b="1">
                <a:solidFill>
                  <a:srgbClr val="ACC2D6"/>
                </a:solidFill>
                <a:latin typeface="Malgun Gothic"/>
              </a:defRPr>
            </a:pPr>
            <a:r>
              <a:t>ACCEPTED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212848" y="1143000"/>
            <a:ext cx="2770632" cy="896112"/>
          </a:xfrm>
          <a:prstGeom prst="roundRect">
            <a:avLst/>
          </a:prstGeom>
          <a:solidFill>
            <a:srgbClr val="1230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395728" y="1271016"/>
            <a:ext cx="713232" cy="16459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defRPr sz="900" b="1">
                <a:solidFill>
                  <a:srgbClr val="ACC2D6"/>
                </a:solidFill>
                <a:latin typeface="Malgun Gothic"/>
              </a:defRPr>
            </a:pPr>
            <a:r>
              <a:t>SCALAR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95728" y="1527048"/>
            <a:ext cx="2322576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defRPr sz="2200" b="1">
                <a:solidFill>
                  <a:srgbClr val="FFB746"/>
                </a:solidFill>
                <a:latin typeface="Malgun Gothic"/>
              </a:defRPr>
            </a:pPr>
            <a:r>
              <a:t>78,229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84648" y="1362456"/>
            <a:ext cx="566928" cy="4114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3000" b="1">
                <a:solidFill>
                  <a:srgbClr val="2AD3CD"/>
                </a:solidFill>
                <a:latin typeface="Malgun Gothic"/>
              </a:defRPr>
            </a:pPr>
            <a: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934456" y="1143000"/>
            <a:ext cx="2770632" cy="896112"/>
          </a:xfrm>
          <a:prstGeom prst="roundRect">
            <a:avLst/>
          </a:prstGeom>
          <a:solidFill>
            <a:srgbClr val="12304C"/>
          </a:solidFill>
          <a:ln w="19050">
            <a:solidFill>
              <a:srgbClr val="37CD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17336" y="1271016"/>
            <a:ext cx="987552" cy="16459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defRPr sz="900" b="1">
                <a:solidFill>
                  <a:srgbClr val="ACC2D6"/>
                </a:solidFill>
                <a:latin typeface="Malgun Gothic"/>
              </a:defRPr>
            </a:pPr>
            <a:r>
              <a:t>CLUSTER2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17336" y="1527048"/>
            <a:ext cx="2322576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defRPr sz="2200" b="1">
                <a:solidFill>
                  <a:srgbClr val="37CD85"/>
                </a:solidFill>
                <a:latin typeface="Malgun Gothic"/>
              </a:defRPr>
            </a:pPr>
            <a:r>
              <a:t>94,157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070848" y="1143000"/>
            <a:ext cx="2194560" cy="896112"/>
          </a:xfrm>
          <a:prstGeom prst="roundRect">
            <a:avLst/>
          </a:prstGeom>
          <a:solidFill>
            <a:srgbClr val="37CD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235440" y="1417320"/>
            <a:ext cx="1847088" cy="34747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2400" b="1">
                <a:solidFill>
                  <a:srgbClr val="071627"/>
                </a:solidFill>
                <a:latin typeface="Malgun Gothic"/>
              </a:defRPr>
            </a:pPr>
            <a:r>
              <a:t>+20.4%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3232" y="2788920"/>
            <a:ext cx="1353312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defRPr sz="1400" b="1">
                <a:solidFill>
                  <a:srgbClr val="ACC2D6"/>
                </a:solidFill>
                <a:latin typeface="Malgun Gothic"/>
              </a:defRPr>
            </a:pPr>
            <a:r>
              <a:t>OVERRUN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212848" y="2542032"/>
            <a:ext cx="2770632" cy="896112"/>
          </a:xfrm>
          <a:prstGeom prst="roundRect">
            <a:avLst/>
          </a:prstGeom>
          <a:solidFill>
            <a:srgbClr val="1230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395728" y="2670048"/>
            <a:ext cx="713232" cy="16459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defRPr sz="900" b="1">
                <a:solidFill>
                  <a:srgbClr val="ACC2D6"/>
                </a:solidFill>
                <a:latin typeface="Malgun Gothic"/>
              </a:defRPr>
            </a:pPr>
            <a:r>
              <a:t>SCALAR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95728" y="2926080"/>
            <a:ext cx="2322576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defRPr sz="2200" b="1">
                <a:solidFill>
                  <a:srgbClr val="FF6376"/>
                </a:solidFill>
                <a:latin typeface="Malgun Gothic"/>
              </a:defRPr>
            </a:pPr>
            <a:r>
              <a:t>28,187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84648" y="2761488"/>
            <a:ext cx="566928" cy="4114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3000" b="1">
                <a:solidFill>
                  <a:srgbClr val="2AD3CD"/>
                </a:solidFill>
                <a:latin typeface="Malgun Gothic"/>
              </a:defRPr>
            </a:pPr>
            <a:r>
              <a:t>→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934456" y="2542032"/>
            <a:ext cx="2770632" cy="896112"/>
          </a:xfrm>
          <a:prstGeom prst="roundRect">
            <a:avLst/>
          </a:prstGeom>
          <a:solidFill>
            <a:srgbClr val="12304C"/>
          </a:solidFill>
          <a:ln w="19050">
            <a:solidFill>
              <a:srgbClr val="37CD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117336" y="2670048"/>
            <a:ext cx="987552" cy="16459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defRPr sz="900" b="1">
                <a:solidFill>
                  <a:srgbClr val="ACC2D6"/>
                </a:solidFill>
                <a:latin typeface="Malgun Gothic"/>
              </a:defRPr>
            </a:pPr>
            <a:r>
              <a:t>CLUSTER2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17336" y="2926080"/>
            <a:ext cx="2322576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defRPr sz="2200" b="1">
                <a:solidFill>
                  <a:srgbClr val="37CD85"/>
                </a:solidFill>
                <a:latin typeface="Malgun Gothic"/>
              </a:defRPr>
            </a:pPr>
            <a:r>
              <a:t>12,259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70848" y="2542032"/>
            <a:ext cx="2194560" cy="896112"/>
          </a:xfrm>
          <a:prstGeom prst="roundRect">
            <a:avLst/>
          </a:prstGeom>
          <a:solidFill>
            <a:srgbClr val="37CD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235440" y="2816352"/>
            <a:ext cx="1847088" cy="34747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2400" b="1">
                <a:solidFill>
                  <a:srgbClr val="071627"/>
                </a:solidFill>
                <a:latin typeface="Malgun Gothic"/>
              </a:defRPr>
            </a:pPr>
            <a:r>
              <a:t>−56.5%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3232" y="4187952"/>
            <a:ext cx="1353312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defRPr sz="1400" b="1">
                <a:solidFill>
                  <a:srgbClr val="ACC2D6"/>
                </a:solidFill>
                <a:latin typeface="Malgun Gothic"/>
              </a:defRPr>
            </a:pPr>
            <a:r>
              <a:t>EPC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212848" y="3941064"/>
            <a:ext cx="2770632" cy="896112"/>
          </a:xfrm>
          <a:prstGeom prst="roundRect">
            <a:avLst/>
          </a:prstGeom>
          <a:solidFill>
            <a:srgbClr val="1230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395728" y="4069080"/>
            <a:ext cx="713232" cy="16459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defRPr sz="900" b="1">
                <a:solidFill>
                  <a:srgbClr val="ACC2D6"/>
                </a:solidFill>
                <a:latin typeface="Malgun Gothic"/>
              </a:defRPr>
            </a:pPr>
            <a:r>
              <a:t>SCALAR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395728" y="4325112"/>
            <a:ext cx="2322576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defRPr sz="2200" b="1">
                <a:solidFill>
                  <a:srgbClr val="FFB746"/>
                </a:solidFill>
                <a:latin typeface="Malgun Gothic"/>
              </a:defRPr>
            </a:pPr>
            <a:r>
              <a:t>0.6739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184648" y="4160520"/>
            <a:ext cx="566928" cy="4114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3000" b="1">
                <a:solidFill>
                  <a:srgbClr val="2AD3CD"/>
                </a:solidFill>
                <a:latin typeface="Malgun Gothic"/>
              </a:defRPr>
            </a:pPr>
            <a:r>
              <a:t>→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934456" y="3941064"/>
            <a:ext cx="2770632" cy="896112"/>
          </a:xfrm>
          <a:prstGeom prst="roundRect">
            <a:avLst/>
          </a:prstGeom>
          <a:solidFill>
            <a:srgbClr val="12304C"/>
          </a:solidFill>
          <a:ln w="19050">
            <a:solidFill>
              <a:srgbClr val="2AD3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117336" y="4069080"/>
            <a:ext cx="987552" cy="16459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defRPr sz="900" b="1">
                <a:solidFill>
                  <a:srgbClr val="ACC2D6"/>
                </a:solidFill>
                <a:latin typeface="Malgun Gothic"/>
              </a:defRPr>
            </a:pPr>
            <a:r>
              <a:t>CLUSTER2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117336" y="4325112"/>
            <a:ext cx="2322576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defRPr sz="2200" b="1">
                <a:solidFill>
                  <a:srgbClr val="2AD3CD"/>
                </a:solidFill>
                <a:latin typeface="Malgun Gothic"/>
              </a:defRPr>
            </a:pPr>
            <a:r>
              <a:t>0.8116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9070848" y="3941064"/>
            <a:ext cx="2194560" cy="896112"/>
          </a:xfrm>
          <a:prstGeom prst="roundRect">
            <a:avLst/>
          </a:prstGeom>
          <a:solidFill>
            <a:srgbClr val="2AD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235440" y="4215384"/>
            <a:ext cx="1847088" cy="34747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2400" b="1">
                <a:solidFill>
                  <a:srgbClr val="071627"/>
                </a:solidFill>
                <a:latin typeface="Malgun Gothic"/>
              </a:defRPr>
            </a:pPr>
            <a:r>
              <a:t>+20.4%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713232" y="5669280"/>
            <a:ext cx="10771632" cy="566928"/>
          </a:xfrm>
          <a:prstGeom prst="roundRect">
            <a:avLst/>
          </a:prstGeom>
          <a:solidFill>
            <a:srgbClr val="1230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32688" y="5806440"/>
            <a:ext cx="10332720" cy="25603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1600" b="1">
                <a:solidFill>
                  <a:srgbClr val="37CD85"/>
                </a:solidFill>
                <a:latin typeface="Malgun Gothic"/>
              </a:defRPr>
            </a:pPr>
            <a:r>
              <a:t>구조군 비교 결과: accepted +15,928 events  =  overrun 15,928건 감소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97280" y="6318504"/>
            <a:ext cx="10012680" cy="15544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800" b="1">
                <a:solidFill>
                  <a:srgbClr val="FFB746"/>
                </a:solidFill>
                <a:latin typeface="Malgun Gothic"/>
              </a:defRPr>
            </a:pPr>
            <a:r>
              <a:t>※ 최종 polarity-v1 trace의 exact head-to-head 개선율이 아니라 원본 구조군 비교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11480" y="128016"/>
            <a:ext cx="11201400" cy="621792"/>
          </a:xfrm>
          <a:prstGeom prst="rect">
            <a:avLst/>
          </a:prstGeom>
          <a:solidFill>
            <a:srgbClr val="0716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502920" y="237744"/>
            <a:ext cx="1417320" cy="310896"/>
          </a:xfrm>
          <a:prstGeom prst="roundRect">
            <a:avLst/>
          </a:prstGeom>
          <a:solidFill>
            <a:srgbClr val="193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66928" y="283464"/>
            <a:ext cx="1289304" cy="1828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1000" b="1">
                <a:solidFill>
                  <a:srgbClr val="2AD3CD"/>
                </a:solidFill>
                <a:latin typeface="Malgun Gothic"/>
              </a:defRPr>
            </a:pPr>
            <a:r>
              <a:t>03  결과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103120" y="201168"/>
            <a:ext cx="9326880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defRPr sz="2700" b="1">
                <a:solidFill>
                  <a:srgbClr val="F6F9FC"/>
                </a:solidFill>
                <a:latin typeface="Malgun Gothic"/>
              </a:defRPr>
            </a:pPr>
            <a:r>
              <a:t>accepted +20.4% · overrun −56.5%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2920" y="804672"/>
            <a:ext cx="11137392" cy="22860"/>
          </a:xfrm>
          <a:prstGeom prst="rect">
            <a:avLst/>
          </a:prstGeom>
          <a:solidFill>
            <a:srgbClr val="2AD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6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AD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237744"/>
            <a:ext cx="1417320" cy="310896"/>
          </a:xfrm>
          <a:prstGeom prst="roundRect">
            <a:avLst/>
          </a:prstGeom>
          <a:solidFill>
            <a:srgbClr val="193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283464"/>
            <a:ext cx="1289304" cy="1828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1000" b="1">
                <a:solidFill>
                  <a:srgbClr val="2AD3CD"/>
                </a:solidFill>
                <a:latin typeface="Malgun Gothic"/>
              </a:defRPr>
            </a:pPr>
            <a:r>
              <a:t>03  결과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03120" y="201168"/>
            <a:ext cx="9326880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defRPr sz="2700" b="1">
                <a:solidFill>
                  <a:srgbClr val="F6F9FC"/>
                </a:solidFill>
                <a:latin typeface="Malgun Gothic"/>
              </a:defRPr>
            </a:pPr>
            <a:r>
              <a:t>최종 RTL: 8,503 events 무손실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804672"/>
            <a:ext cx="11137392" cy="18288"/>
          </a:xfrm>
          <a:prstGeom prst="rect">
            <a:avLst/>
          </a:prstGeom>
          <a:solidFill>
            <a:srgbClr val="2AD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37960"/>
            <a:ext cx="10241280" cy="12801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defRPr sz="600" b="0">
                <a:solidFill>
                  <a:srgbClr val="ACC2D6"/>
                </a:solidFill>
                <a:latin typeface="Malgun Gothic"/>
              </a:defRPr>
            </a:pPr>
            <a:r>
              <a:t>Source: polarity_v1_release_receipt.json · Xcelium 23.09-s013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09960" y="6473952"/>
            <a:ext cx="438912" cy="16459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defRPr sz="900" b="1">
                <a:solidFill>
                  <a:srgbClr val="2AD3CD"/>
                </a:solidFill>
                <a:latin typeface="Malgun Gothic"/>
              </a:defRPr>
            </a:pPr>
            <a:r>
              <a:t>06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1280160"/>
            <a:ext cx="2926080" cy="7315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4800" b="1">
                <a:solidFill>
                  <a:srgbClr val="4793FF"/>
                </a:solidFill>
                <a:latin typeface="Malgun Gothic"/>
              </a:defRPr>
            </a:pPr>
            <a:r>
              <a:t>8,503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25880" y="1993392"/>
            <a:ext cx="1938528" cy="25603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1200" b="1">
                <a:solidFill>
                  <a:srgbClr val="ACC2D6"/>
                </a:solidFill>
                <a:latin typeface="Malgun Gothic"/>
              </a:defRPr>
            </a:pPr>
            <a:r>
              <a:t>GENERATED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31920" y="1444752"/>
            <a:ext cx="749808" cy="4114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4200" b="1">
                <a:solidFill>
                  <a:srgbClr val="2AD3CD"/>
                </a:solidFill>
                <a:latin typeface="Malgun Gothic"/>
              </a:defRPr>
            </a:pPr>
            <a:r>
              <a:t>→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64608" y="1280160"/>
            <a:ext cx="2926080" cy="7315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4800" b="1">
                <a:solidFill>
                  <a:srgbClr val="37CD85"/>
                </a:solidFill>
                <a:latin typeface="Malgun Gothic"/>
              </a:defRPr>
            </a:pPr>
            <a:r>
              <a:t>8,503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49240" y="1993392"/>
            <a:ext cx="1938528" cy="25603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1200" b="1">
                <a:solidFill>
                  <a:srgbClr val="ACC2D6"/>
                </a:solidFill>
                <a:latin typeface="Malgun Gothic"/>
              </a:defRPr>
            </a:pPr>
            <a:r>
              <a:t>DELIVERED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09560" y="1444752"/>
            <a:ext cx="566928" cy="5486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3800" b="1">
                <a:solidFill>
                  <a:srgbClr val="ACC2D6"/>
                </a:solidFill>
                <a:latin typeface="Malgun Gothic"/>
              </a:defRPr>
            </a:pPr>
            <a:r>
              <a:t>+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0" y="1280160"/>
            <a:ext cx="2377440" cy="7315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4800" b="1">
                <a:solidFill>
                  <a:srgbClr val="37CD85"/>
                </a:solidFill>
                <a:latin typeface="Malgun Gothic"/>
              </a:defRPr>
            </a:pPr>
            <a:r>
              <a:t>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15400" y="1993392"/>
            <a:ext cx="1920240" cy="25603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1200" b="1">
                <a:solidFill>
                  <a:srgbClr val="ACC2D6"/>
                </a:solidFill>
                <a:latin typeface="Malgun Gothic"/>
              </a:defRPr>
            </a:pPr>
            <a:r>
              <a:t>OVERRUN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4672" y="3063240"/>
            <a:ext cx="3182112" cy="1280160"/>
          </a:xfrm>
          <a:prstGeom prst="roundRect">
            <a:avLst/>
          </a:prstGeom>
          <a:solidFill>
            <a:srgbClr val="12304C"/>
          </a:solidFill>
          <a:ln w="19050">
            <a:solidFill>
              <a:srgbClr val="2AD3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33271" y="3337560"/>
            <a:ext cx="548640" cy="4114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2600" b="1">
                <a:solidFill>
                  <a:srgbClr val="2AD3CD"/>
                </a:solidFill>
                <a:latin typeface="Malgun Gothic"/>
              </a:defRPr>
            </a:pPr>
            <a: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64207" y="3264408"/>
            <a:ext cx="20116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defRPr sz="1700" b="1">
                <a:solidFill>
                  <a:srgbClr val="F6F9FC"/>
                </a:solidFill>
                <a:latin typeface="Malgun Gothic"/>
              </a:defRPr>
            </a:pPr>
            <a:r>
              <a:t>독립 ledger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64207" y="3730752"/>
            <a:ext cx="2011680" cy="21945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defRPr sz="1100" b="0">
                <a:solidFill>
                  <a:srgbClr val="ACC2D6"/>
                </a:solidFill>
                <a:latin typeface="Malgun Gothic"/>
              </a:defRPr>
            </a:pPr>
            <a:r>
              <a:t>order violations 0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70832" y="3063240"/>
            <a:ext cx="3182112" cy="1280160"/>
          </a:xfrm>
          <a:prstGeom prst="roundRect">
            <a:avLst/>
          </a:prstGeom>
          <a:solidFill>
            <a:srgbClr val="12304C"/>
          </a:solidFill>
          <a:ln w="19050">
            <a:solidFill>
              <a:srgbClr val="37CD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99432" y="3337560"/>
            <a:ext cx="548640" cy="4114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2600" b="1">
                <a:solidFill>
                  <a:srgbClr val="37CD85"/>
                </a:solidFill>
                <a:latin typeface="Malgun Gothic"/>
              </a:defRPr>
            </a:pPr>
            <a:r>
              <a:t>✓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30368" y="3264408"/>
            <a:ext cx="20116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defRPr sz="1700" b="1">
                <a:solidFill>
                  <a:srgbClr val="F6F9FC"/>
                </a:solidFill>
                <a:latin typeface="Malgun Gothic"/>
              </a:defRPr>
            </a:pPr>
            <a:r>
              <a:t>drain 후 empty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30368" y="3730752"/>
            <a:ext cx="2011680" cy="21945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defRPr sz="1100" b="0">
                <a:solidFill>
                  <a:srgbClr val="ACC2D6"/>
                </a:solidFill>
                <a:latin typeface="Malgun Gothic"/>
              </a:defRPr>
            </a:pPr>
            <a:r>
              <a:t>남은 event 0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936992" y="3063240"/>
            <a:ext cx="3182112" cy="1280160"/>
          </a:xfrm>
          <a:prstGeom prst="roundRect">
            <a:avLst/>
          </a:prstGeom>
          <a:solidFill>
            <a:srgbClr val="12304C"/>
          </a:solidFill>
          <a:ln w="19050">
            <a:solidFill>
              <a:srgbClr val="B27E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165592" y="3337560"/>
            <a:ext cx="548640" cy="4114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2600" b="1">
                <a:solidFill>
                  <a:srgbClr val="B27EFF"/>
                </a:solidFill>
                <a:latin typeface="Malgun Gothic"/>
              </a:defRPr>
            </a:pPr>
            <a:r>
              <a:t>✓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796528" y="3264408"/>
            <a:ext cx="20116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defRPr sz="1700" b="1">
                <a:solidFill>
                  <a:srgbClr val="F6F9FC"/>
                </a:solidFill>
                <a:latin typeface="Malgun Gothic"/>
              </a:defRPr>
            </a:pPr>
            <a:r>
              <a:t>polarity 보존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796528" y="3730752"/>
            <a:ext cx="2011680" cy="21945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defRPr sz="1100" b="0">
                <a:solidFill>
                  <a:srgbClr val="ACC2D6"/>
                </a:solidFill>
                <a:latin typeface="Malgun Gothic"/>
              </a:defRPr>
            </a:pPr>
            <a:r>
              <a:t>mismatch 0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13232" y="5669280"/>
            <a:ext cx="10771632" cy="566928"/>
          </a:xfrm>
          <a:prstGeom prst="roundRect">
            <a:avLst/>
          </a:prstGeom>
          <a:solidFill>
            <a:srgbClr val="1230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32688" y="5806440"/>
            <a:ext cx="10332720" cy="25603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1600" b="1">
                <a:solidFill>
                  <a:srgbClr val="37CD85"/>
                </a:solidFill>
                <a:latin typeface="Malgun Gothic"/>
              </a:defRPr>
            </a:pPr>
            <a:r>
              <a:t>generated = delivered + overrun · phantom 0 · duplicate 0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11480" y="128016"/>
            <a:ext cx="11201400" cy="621792"/>
          </a:xfrm>
          <a:prstGeom prst="rect">
            <a:avLst/>
          </a:prstGeom>
          <a:solidFill>
            <a:srgbClr val="0716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502920" y="237744"/>
            <a:ext cx="1417320" cy="310896"/>
          </a:xfrm>
          <a:prstGeom prst="roundRect">
            <a:avLst/>
          </a:prstGeom>
          <a:solidFill>
            <a:srgbClr val="193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66928" y="283464"/>
            <a:ext cx="1289304" cy="1828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1000" b="1">
                <a:solidFill>
                  <a:srgbClr val="2AD3CD"/>
                </a:solidFill>
                <a:latin typeface="Malgun Gothic"/>
              </a:defRPr>
            </a:pPr>
            <a:r>
              <a:t>03  결과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103120" y="201168"/>
            <a:ext cx="9326880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defRPr sz="2700" b="1">
                <a:solidFill>
                  <a:srgbClr val="F6F9FC"/>
                </a:solidFill>
                <a:latin typeface="Malgun Gothic"/>
              </a:defRPr>
            </a:pPr>
            <a:r>
              <a:t>최종 RTL: 8,503 events 무손실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02920" y="804672"/>
            <a:ext cx="11137392" cy="22860"/>
          </a:xfrm>
          <a:prstGeom prst="rect">
            <a:avLst/>
          </a:prstGeom>
          <a:solidFill>
            <a:srgbClr val="2AD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6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AD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237744"/>
            <a:ext cx="1417320" cy="310896"/>
          </a:xfrm>
          <a:prstGeom prst="roundRect">
            <a:avLst/>
          </a:prstGeom>
          <a:solidFill>
            <a:srgbClr val="193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283464"/>
            <a:ext cx="1289304" cy="1828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1000" b="1">
                <a:solidFill>
                  <a:srgbClr val="2AD3CD"/>
                </a:solidFill>
                <a:latin typeface="Malgun Gothic"/>
              </a:defRPr>
            </a:pPr>
            <a:r>
              <a:t>04  구현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03120" y="201168"/>
            <a:ext cx="9326880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defRPr sz="2700" b="1">
                <a:solidFill>
                  <a:srgbClr val="F6F9FC"/>
                </a:solidFill>
                <a:latin typeface="Malgun Gothic"/>
              </a:defRPr>
            </a:pPr>
            <a:r>
              <a:t>P&amp;R에서 285.714 MHz가 setup·hold를 모두 통과했다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804672"/>
            <a:ext cx="11137392" cy="18288"/>
          </a:xfrm>
          <a:prstGeom prst="rect">
            <a:avLst/>
          </a:prstGeom>
          <a:solidFill>
            <a:srgbClr val="2AD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37960"/>
            <a:ext cx="10241280" cy="12801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defRPr sz="600" b="0">
                <a:solidFill>
                  <a:srgbClr val="ACC2D6"/>
                </a:solidFill>
                <a:latin typeface="Malgun Gothic"/>
              </a:defRPr>
            </a:pPr>
            <a:r>
              <a:t>Source: Innovus slow 0.9 V 125 °C · discrete timing sweep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09960" y="6473952"/>
            <a:ext cx="438912" cy="16459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defRPr sz="900" b="1">
                <a:solidFill>
                  <a:srgbClr val="2AD3CD"/>
                </a:solidFill>
                <a:latin typeface="Malgun Gothic"/>
              </a:defRPr>
            </a:pPr>
            <a:r>
              <a:t>07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170432"/>
            <a:ext cx="3063240" cy="1298448"/>
          </a:xfrm>
          <a:prstGeom prst="roundRect">
            <a:avLst/>
          </a:prstGeom>
          <a:solidFill>
            <a:srgbClr val="1230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77824" y="1298448"/>
            <a:ext cx="2734056" cy="20116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defRPr sz="1000" b="1">
                <a:solidFill>
                  <a:srgbClr val="ACC2D6"/>
                </a:solidFill>
                <a:latin typeface="Malgun Gothic"/>
              </a:defRPr>
            </a:pPr>
            <a:r>
              <a:t>FASTEST TESTED PASS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7824" y="1609344"/>
            <a:ext cx="2734056" cy="47548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defRPr sz="3000" b="1">
                <a:solidFill>
                  <a:srgbClr val="37CD85"/>
                </a:solidFill>
                <a:latin typeface="Malgun Gothic"/>
              </a:defRPr>
            </a:pPr>
            <a:r>
              <a:t>285.714 MHz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7824" y="2148840"/>
            <a:ext cx="2734056" cy="1828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defRPr sz="900" b="0">
                <a:solidFill>
                  <a:srgbClr val="ACC2D6"/>
                </a:solidFill>
                <a:latin typeface="Malgun Gothic"/>
              </a:defRPr>
            </a:pPr>
            <a:r>
              <a:t>setup +0.454 ns · hold +0.167 ns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96112" y="3035808"/>
            <a:ext cx="6784848" cy="109728"/>
          </a:xfrm>
          <a:prstGeom prst="roundRect">
            <a:avLst/>
          </a:prstGeom>
          <a:solidFill>
            <a:srgbClr val="193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1078992" y="2852928"/>
            <a:ext cx="347472" cy="347472"/>
          </a:xfrm>
          <a:prstGeom prst="roundRect">
            <a:avLst/>
          </a:prstGeom>
          <a:solidFill>
            <a:srgbClr val="37CD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59" y="3319272"/>
            <a:ext cx="868680" cy="47548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1100" b="1">
                <a:solidFill>
                  <a:srgbClr val="37CD85"/>
                </a:solidFill>
                <a:latin typeface="Malgun Gothic"/>
              </a:defRPr>
            </a:pPr>
            <a:r>
              <a:t>222</a:t>
            </a:r>
            <a:br/>
            <a:r>
              <a:t>MHz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3913632"/>
            <a:ext cx="1143000" cy="1828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800" b="0">
                <a:solidFill>
                  <a:srgbClr val="ACC2D6"/>
                </a:solidFill>
                <a:latin typeface="Malgun Gothic"/>
              </a:defRPr>
            </a:pPr>
            <a:r>
              <a:t>setup +1.349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898648" y="2852928"/>
            <a:ext cx="347472" cy="347472"/>
          </a:xfrm>
          <a:prstGeom prst="roundRect">
            <a:avLst/>
          </a:prstGeom>
          <a:solidFill>
            <a:srgbClr val="37CD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642615" y="3319272"/>
            <a:ext cx="868680" cy="47548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1100" b="1">
                <a:solidFill>
                  <a:srgbClr val="37CD85"/>
                </a:solidFill>
                <a:latin typeface="Malgun Gothic"/>
              </a:defRPr>
            </a:pPr>
            <a:r>
              <a:t>250</a:t>
            </a:r>
            <a:br/>
            <a:r>
              <a:t>MHz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05456" y="3913632"/>
            <a:ext cx="1143000" cy="1828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800" b="0">
                <a:solidFill>
                  <a:srgbClr val="ACC2D6"/>
                </a:solidFill>
                <a:latin typeface="Malgun Gothic"/>
              </a:defRPr>
            </a:pPr>
            <a:r>
              <a:t>setup +0.849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892040" y="2852928"/>
            <a:ext cx="347472" cy="347472"/>
          </a:xfrm>
          <a:prstGeom prst="roundRect">
            <a:avLst/>
          </a:prstGeom>
          <a:solidFill>
            <a:srgbClr val="37CD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636007" y="3319272"/>
            <a:ext cx="868680" cy="47548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1100" b="1">
                <a:solidFill>
                  <a:srgbClr val="37CD85"/>
                </a:solidFill>
                <a:latin typeface="Malgun Gothic"/>
              </a:defRPr>
            </a:pPr>
            <a:r>
              <a:t>285.7</a:t>
            </a:r>
            <a:br/>
            <a:r>
              <a:t>MHz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98848" y="3913632"/>
            <a:ext cx="1143000" cy="1828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800" b="0">
                <a:solidFill>
                  <a:srgbClr val="ACC2D6"/>
                </a:solidFill>
                <a:latin typeface="Malgun Gothic"/>
              </a:defRPr>
            </a:pPr>
            <a:r>
              <a:t>setup +0.454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086600" y="2852928"/>
            <a:ext cx="347472" cy="347472"/>
          </a:xfrm>
          <a:prstGeom prst="roundRect">
            <a:avLst/>
          </a:prstGeom>
          <a:solidFill>
            <a:srgbClr val="FF63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830568" y="3319272"/>
            <a:ext cx="868680" cy="47548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1100" b="1">
                <a:solidFill>
                  <a:srgbClr val="FF6376"/>
                </a:solidFill>
                <a:latin typeface="Malgun Gothic"/>
              </a:defRPr>
            </a:pPr>
            <a:r>
              <a:t>333.3</a:t>
            </a:r>
            <a:br/>
            <a:r>
              <a:t>MHz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93408" y="3913632"/>
            <a:ext cx="1143000" cy="1828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800" b="0">
                <a:solidFill>
                  <a:srgbClr val="ACC2D6"/>
                </a:solidFill>
                <a:latin typeface="Malgun Gothic"/>
              </a:defRPr>
            </a:pPr>
            <a:r>
              <a:t>setup −0.004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" y="2615184"/>
            <a:ext cx="4526280" cy="1828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defRPr sz="1000" b="1">
                <a:solidFill>
                  <a:srgbClr val="37CD85"/>
                </a:solidFill>
                <a:latin typeface="Malgun Gothic"/>
              </a:defRPr>
            </a:pPr>
            <a:r>
              <a:t>PASS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39712" y="2615184"/>
            <a:ext cx="1005840" cy="1828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defRPr sz="1000" b="1">
                <a:solidFill>
                  <a:srgbClr val="FF6376"/>
                </a:solidFill>
                <a:latin typeface="Malgun Gothic"/>
              </a:defRPr>
            </a:pPr>
            <a:r>
              <a:t>FAIL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092440" y="1170432"/>
            <a:ext cx="3154680" cy="1298448"/>
          </a:xfrm>
          <a:prstGeom prst="roundRect">
            <a:avLst/>
          </a:prstGeom>
          <a:solidFill>
            <a:srgbClr val="1230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57031" y="1298448"/>
            <a:ext cx="2825496" cy="20116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defRPr sz="1000" b="1">
                <a:solidFill>
                  <a:srgbClr val="ACC2D6"/>
                </a:solidFill>
                <a:latin typeface="Malgun Gothic"/>
              </a:defRPr>
            </a:pPr>
            <a:r>
              <a:t>POST-ROUTE AREA RAW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57031" y="1609344"/>
            <a:ext cx="2825496" cy="47548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defRPr sz="2900" b="1">
                <a:solidFill>
                  <a:srgbClr val="2AD3CD"/>
                </a:solidFill>
                <a:latin typeface="Malgun Gothic"/>
              </a:defRPr>
            </a:pPr>
            <a:r>
              <a:t>1254.114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57031" y="2148840"/>
            <a:ext cx="2825496" cy="1828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defRPr sz="900" b="0">
                <a:solidFill>
                  <a:srgbClr val="ACC2D6"/>
                </a:solidFill>
                <a:latin typeface="Malgun Gothic"/>
              </a:defRPr>
            </a:pPr>
            <a:r>
              <a:t>596 instances · unit unstated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092440" y="2816352"/>
            <a:ext cx="3154680" cy="1298448"/>
          </a:xfrm>
          <a:prstGeom prst="roundRect">
            <a:avLst/>
          </a:prstGeom>
          <a:solidFill>
            <a:srgbClr val="1230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257031" y="2944368"/>
            <a:ext cx="2825496" cy="20116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defRPr sz="1000" b="1">
                <a:solidFill>
                  <a:srgbClr val="ACC2D6"/>
                </a:solidFill>
                <a:latin typeface="Malgun Gothic"/>
              </a:defRPr>
            </a:pPr>
            <a:r>
              <a:t>VECTORLESS POWER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57031" y="3255264"/>
            <a:ext cx="2825496" cy="47548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defRPr sz="2700" b="1">
                <a:solidFill>
                  <a:srgbClr val="FFB746"/>
                </a:solidFill>
                <a:latin typeface="Malgun Gothic"/>
              </a:defRPr>
            </a:pPr>
            <a:r>
              <a:t>0.107389 mW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57031" y="3794760"/>
            <a:ext cx="2825496" cy="1828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defRPr sz="900" b="0">
                <a:solidFill>
                  <a:srgbClr val="ACC2D6"/>
                </a:solidFill>
                <a:latin typeface="Malgun Gothic"/>
              </a:defRPr>
            </a:pPr>
            <a:r>
              <a:t>default activity 0.2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092440" y="4462272"/>
            <a:ext cx="3154680" cy="804672"/>
          </a:xfrm>
          <a:prstGeom prst="roundRect">
            <a:avLst/>
          </a:prstGeom>
          <a:solidFill>
            <a:srgbClr val="12304C"/>
          </a:solidFill>
          <a:ln w="19050">
            <a:solidFill>
              <a:srgbClr val="37CD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275320" y="4681728"/>
            <a:ext cx="278892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1500" b="1">
                <a:solidFill>
                  <a:srgbClr val="37CD85"/>
                </a:solidFill>
                <a:latin typeface="Malgun Gothic"/>
              </a:defRPr>
            </a:pPr>
            <a:r>
              <a:t>Internal DRC 0 · antenna 0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13232" y="5669280"/>
            <a:ext cx="10771632" cy="566928"/>
          </a:xfrm>
          <a:prstGeom prst="roundRect">
            <a:avLst/>
          </a:prstGeom>
          <a:solidFill>
            <a:srgbClr val="1230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32688" y="5806440"/>
            <a:ext cx="10332720" cy="25603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1600" b="1">
                <a:solidFill>
                  <a:srgbClr val="FFB746"/>
                </a:solidFill>
                <a:latin typeface="Malgun Gothic"/>
              </a:defRPr>
            </a:pPr>
            <a:r>
              <a:t>285.714 MHz PASS · 다음 측정점 333.333 MHz FAIL · 중간 주파수는 미측정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11480" y="128016"/>
            <a:ext cx="11201400" cy="621792"/>
          </a:xfrm>
          <a:prstGeom prst="rect">
            <a:avLst/>
          </a:prstGeom>
          <a:solidFill>
            <a:srgbClr val="0716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502920" y="237744"/>
            <a:ext cx="1417320" cy="310896"/>
          </a:xfrm>
          <a:prstGeom prst="roundRect">
            <a:avLst/>
          </a:prstGeom>
          <a:solidFill>
            <a:srgbClr val="193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66928" y="283464"/>
            <a:ext cx="1289304" cy="1828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1000" b="1">
                <a:solidFill>
                  <a:srgbClr val="2AD3CD"/>
                </a:solidFill>
                <a:latin typeface="Malgun Gothic"/>
              </a:defRPr>
            </a:pPr>
            <a:r>
              <a:t>04  구현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103120" y="201168"/>
            <a:ext cx="9326880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defRPr sz="2700" b="1">
                <a:solidFill>
                  <a:srgbClr val="F6F9FC"/>
                </a:solidFill>
                <a:latin typeface="Malgun Gothic"/>
              </a:defRPr>
            </a:pPr>
            <a:r>
              <a:t>P&amp;R에서 285.714 MHz가 setup·hold를 모두 통과했다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02920" y="804672"/>
            <a:ext cx="11137392" cy="22860"/>
          </a:xfrm>
          <a:prstGeom prst="rect">
            <a:avLst/>
          </a:prstGeom>
          <a:solidFill>
            <a:srgbClr val="2AD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6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AD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237744"/>
            <a:ext cx="1417320" cy="310896"/>
          </a:xfrm>
          <a:prstGeom prst="roundRect">
            <a:avLst/>
          </a:prstGeom>
          <a:solidFill>
            <a:srgbClr val="193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283464"/>
            <a:ext cx="1289304" cy="1828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1000" b="1">
                <a:solidFill>
                  <a:srgbClr val="2AD3CD"/>
                </a:solidFill>
                <a:latin typeface="Malgun Gothic"/>
              </a:defRPr>
            </a:pPr>
            <a:r>
              <a:t>05  확장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03120" y="201168"/>
            <a:ext cx="9326880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defRPr sz="2700" b="1">
                <a:solidFill>
                  <a:srgbClr val="F6F9FC"/>
                </a:solidFill>
                <a:latin typeface="Malgun Gothic"/>
              </a:defRPr>
            </a:pPr>
            <a:r>
              <a:t>CAV software 경로: 8,503 events 전수 분기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804672"/>
            <a:ext cx="11137392" cy="18288"/>
          </a:xfrm>
          <a:prstGeom prst="rect">
            <a:avLst/>
          </a:prstGeom>
          <a:solidFill>
            <a:srgbClr val="2AD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37960"/>
            <a:ext cx="10241280" cy="12801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defRPr sz="600" b="0">
                <a:solidFill>
                  <a:srgbClr val="ACC2D6"/>
                </a:solidFill>
                <a:latin typeface="Malgun Gothic"/>
              </a:defRPr>
            </a:pPr>
            <a:r>
              <a:t>Source: sealed legacy address-only official UZH→CAV result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09960" y="6473952"/>
            <a:ext cx="438912" cy="16459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defRPr sz="900" b="1">
                <a:solidFill>
                  <a:srgbClr val="2AD3CD"/>
                </a:solidFill>
                <a:latin typeface="Malgun Gothic"/>
              </a:defRPr>
            </a:pPr>
            <a:r>
              <a:t>08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078992"/>
            <a:ext cx="10744200" cy="402336"/>
          </a:xfrm>
          <a:prstGeom prst="roundRect">
            <a:avLst/>
          </a:prstGeom>
          <a:solidFill>
            <a:srgbClr val="193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1179576"/>
            <a:ext cx="10241280" cy="1828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1100" b="1">
                <a:solidFill>
                  <a:srgbClr val="B27EFF"/>
                </a:solidFill>
                <a:latin typeface="Malgun Gothic"/>
              </a:defRPr>
            </a:pPr>
            <a:r>
              <a:t>LEGACY ADDRESS-ONLY TRACK  ·  최종 polarity-v1과 독립된 검증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13232" y="1847088"/>
            <a:ext cx="2148840" cy="1325880"/>
          </a:xfrm>
          <a:prstGeom prst="roundRect">
            <a:avLst/>
          </a:prstGeom>
          <a:solidFill>
            <a:srgbClr val="12304C"/>
          </a:solidFill>
          <a:ln w="19050">
            <a:solidFill>
              <a:srgbClr val="479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2084831"/>
            <a:ext cx="1746504" cy="23774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1100" b="1">
                <a:solidFill>
                  <a:srgbClr val="ACC2D6"/>
                </a:solidFill>
                <a:latin typeface="Malgun Gothic"/>
              </a:defRPr>
            </a:pPr>
            <a:r>
              <a:t>UZH EVENTS + POSE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2496312"/>
            <a:ext cx="1746504" cy="38404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2700" b="1">
                <a:solidFill>
                  <a:srgbClr val="4793FF"/>
                </a:solidFill>
                <a:latin typeface="Malgun Gothic"/>
              </a:defRPr>
            </a:pPr>
            <a:r>
              <a:t>8,503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44368" y="2286000"/>
            <a:ext cx="502920" cy="4114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2600" b="1">
                <a:solidFill>
                  <a:srgbClr val="2AD3CD"/>
                </a:solidFill>
                <a:latin typeface="Malgun Gothic"/>
              </a:defRPr>
            </a:pPr>
            <a: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547872" y="1847088"/>
            <a:ext cx="2148840" cy="1325880"/>
          </a:xfrm>
          <a:prstGeom prst="roundRect">
            <a:avLst/>
          </a:prstGeom>
          <a:solidFill>
            <a:srgbClr val="12304C"/>
          </a:solidFill>
          <a:ln w="19050">
            <a:solidFill>
              <a:srgbClr val="37CD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730752" y="2084831"/>
            <a:ext cx="1783080" cy="23774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1100" b="1">
                <a:solidFill>
                  <a:srgbClr val="ACC2D6"/>
                </a:solidFill>
                <a:latin typeface="Malgun Gothic"/>
              </a:defRPr>
            </a:pPr>
            <a:r>
              <a:t>EXACT IDENTITY JOIN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94176" y="2523744"/>
            <a:ext cx="1856231" cy="3200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2000" b="1">
                <a:solidFill>
                  <a:srgbClr val="37CD85"/>
                </a:solidFill>
                <a:latin typeface="Malgun Gothic"/>
              </a:defRPr>
            </a:pPr>
            <a:r>
              <a:t>8,503 / 8,503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779008" y="2286000"/>
            <a:ext cx="502920" cy="4114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2600" b="1">
                <a:solidFill>
                  <a:srgbClr val="2AD3CD"/>
                </a:solidFill>
                <a:latin typeface="Malgun Gothic"/>
              </a:defRPr>
            </a:pPr>
            <a:r>
              <a:t>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382512" y="1847088"/>
            <a:ext cx="2148840" cy="1325880"/>
          </a:xfrm>
          <a:prstGeom prst="roundRect">
            <a:avLst/>
          </a:prstGeom>
          <a:solidFill>
            <a:srgbClr val="12304C"/>
          </a:solidFill>
          <a:ln w="19050">
            <a:solidFill>
              <a:srgbClr val="B27E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0" y="2084831"/>
            <a:ext cx="1746504" cy="23774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1200" b="1">
                <a:solidFill>
                  <a:srgbClr val="B27EFF"/>
                </a:solidFill>
                <a:latin typeface="Malgun Gothic"/>
              </a:defRPr>
            </a:pPr>
            <a:r>
              <a:t>CAUSAL-CAV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65392" y="2532888"/>
            <a:ext cx="1783080" cy="25603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1500" b="1">
                <a:solidFill>
                  <a:srgbClr val="F6F9FC"/>
                </a:solidFill>
                <a:latin typeface="Malgun Gothic"/>
              </a:defRPr>
            </a:pPr>
            <a:r>
              <a:t>occurrence time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13648" y="1691640"/>
            <a:ext cx="438912" cy="38404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2500" b="1">
                <a:solidFill>
                  <a:srgbClr val="2AD3CD"/>
                </a:solidFill>
                <a:latin typeface="Malgun Gothic"/>
              </a:defRPr>
            </a:pPr>
            <a:r>
              <a:t>↗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070848" y="1417320"/>
            <a:ext cx="2194560" cy="1078992"/>
          </a:xfrm>
          <a:prstGeom prst="roundRect">
            <a:avLst/>
          </a:prstGeom>
          <a:solidFill>
            <a:srgbClr val="12304C"/>
          </a:solidFill>
          <a:ln w="19050">
            <a:solidFill>
              <a:srgbClr val="2AD3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253728" y="1627632"/>
            <a:ext cx="1828800" cy="20116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1100" b="1">
                <a:solidFill>
                  <a:srgbClr val="ACC2D6"/>
                </a:solidFill>
                <a:latin typeface="Malgun Gothic"/>
              </a:defRPr>
            </a:pPr>
            <a:r>
              <a:t>WORLD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3728" y="1965960"/>
            <a:ext cx="18288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2300" b="1">
                <a:solidFill>
                  <a:srgbClr val="2AD3CD"/>
                </a:solidFill>
                <a:latin typeface="Malgun Gothic"/>
              </a:defRPr>
            </a:pPr>
            <a:r>
              <a:t>8,420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13648" y="2788920"/>
            <a:ext cx="438912" cy="38404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2500" b="1">
                <a:solidFill>
                  <a:srgbClr val="FFB746"/>
                </a:solidFill>
                <a:latin typeface="Malgun Gothic"/>
              </a:defRPr>
            </a:pPr>
            <a:r>
              <a:t>↘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70848" y="2724912"/>
            <a:ext cx="2194560" cy="1078992"/>
          </a:xfrm>
          <a:prstGeom prst="roundRect">
            <a:avLst/>
          </a:prstGeom>
          <a:solidFill>
            <a:srgbClr val="12304C"/>
          </a:solidFill>
          <a:ln w="19050">
            <a:solidFill>
              <a:srgbClr val="FFB7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253728" y="2907792"/>
            <a:ext cx="1828800" cy="20116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1000" b="1">
                <a:solidFill>
                  <a:srgbClr val="ACC2D6"/>
                </a:solidFill>
                <a:latin typeface="Malgun Gothic"/>
              </a:defRPr>
            </a:pPr>
            <a:r>
              <a:t>SENSOR_FIXED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53728" y="3246120"/>
            <a:ext cx="18288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2300" b="1">
                <a:solidFill>
                  <a:srgbClr val="FFB746"/>
                </a:solidFill>
                <a:latin typeface="Malgun Gothic"/>
              </a:defRPr>
            </a:pPr>
            <a:r>
              <a:t>83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22960" y="3886200"/>
            <a:ext cx="4846320" cy="914400"/>
          </a:xfrm>
          <a:prstGeom prst="roundRect">
            <a:avLst/>
          </a:prstGeom>
          <a:solidFill>
            <a:srgbClr val="1230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78992" y="4114800"/>
            <a:ext cx="1920240" cy="2926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defRPr sz="2000" b="1">
                <a:solidFill>
                  <a:srgbClr val="2AD3CD"/>
                </a:solidFill>
                <a:latin typeface="Malgun Gothic"/>
              </a:defRPr>
            </a:pPr>
            <a:r>
              <a:t>WORLD 8,420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880360" y="4133087"/>
            <a:ext cx="2468880" cy="25603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defRPr sz="1400" b="1">
                <a:solidFill>
                  <a:srgbClr val="B27EFF"/>
                </a:solidFill>
                <a:latin typeface="Malgun Gothic"/>
              </a:defRPr>
            </a:pPr>
            <a:r>
              <a:t>→ 512×256 grid · 821 cells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053328" y="3886200"/>
            <a:ext cx="4937760" cy="914400"/>
          </a:xfrm>
          <a:prstGeom prst="roundRect">
            <a:avLst/>
          </a:prstGeom>
          <a:solidFill>
            <a:srgbClr val="1230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27648" y="4096512"/>
            <a:ext cx="4389120" cy="25603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1700" b="1">
                <a:solidFill>
                  <a:srgbClr val="37CD85"/>
                </a:solidFill>
                <a:latin typeface="Malgun Gothic"/>
              </a:defRPr>
            </a:pPr>
            <a:r>
              <a:t>geometry = occurrence time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27648" y="4453128"/>
            <a:ext cx="4389120" cy="1828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900" b="0">
                <a:solidFill>
                  <a:srgbClr val="ACC2D6"/>
                </a:solidFill>
                <a:latin typeface="Malgun Gothic"/>
              </a:defRPr>
            </a:pPr>
            <a:r>
              <a:t>retire cycle은 latency sidecar로만 보존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13232" y="5669280"/>
            <a:ext cx="10771632" cy="566928"/>
          </a:xfrm>
          <a:prstGeom prst="roundRect">
            <a:avLst/>
          </a:prstGeom>
          <a:solidFill>
            <a:srgbClr val="1230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32688" y="5806440"/>
            <a:ext cx="10332720" cy="25603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1600" b="1">
                <a:solidFill>
                  <a:srgbClr val="FFB746"/>
                </a:solidFill>
                <a:latin typeface="Malgun Gothic"/>
              </a:defRPr>
            </a:pPr>
            <a:r>
              <a:t>입증: software functional extension · HOLD: polarity→CAV full replay / CAV RTL / CAV PPA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11480" y="128016"/>
            <a:ext cx="11201400" cy="621792"/>
          </a:xfrm>
          <a:prstGeom prst="rect">
            <a:avLst/>
          </a:prstGeom>
          <a:solidFill>
            <a:srgbClr val="0716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502920" y="237744"/>
            <a:ext cx="1417320" cy="310896"/>
          </a:xfrm>
          <a:prstGeom prst="roundRect">
            <a:avLst/>
          </a:prstGeom>
          <a:solidFill>
            <a:srgbClr val="193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66928" y="283464"/>
            <a:ext cx="1289304" cy="1828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1000" b="1">
                <a:solidFill>
                  <a:srgbClr val="2AD3CD"/>
                </a:solidFill>
                <a:latin typeface="Malgun Gothic"/>
              </a:defRPr>
            </a:pPr>
            <a:r>
              <a:t>05  확장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103120" y="201168"/>
            <a:ext cx="9326880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defRPr sz="2700" b="1">
                <a:solidFill>
                  <a:srgbClr val="F6F9FC"/>
                </a:solidFill>
                <a:latin typeface="Malgun Gothic"/>
              </a:defRPr>
            </a:pPr>
            <a:r>
              <a:t>CAV software 경로: 8,503 events 전수 분기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02920" y="804672"/>
            <a:ext cx="11137392" cy="22860"/>
          </a:xfrm>
          <a:prstGeom prst="rect">
            <a:avLst/>
          </a:prstGeom>
          <a:solidFill>
            <a:srgbClr val="2AD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6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AD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237744"/>
            <a:ext cx="1417320" cy="310896"/>
          </a:xfrm>
          <a:prstGeom prst="roundRect">
            <a:avLst/>
          </a:prstGeom>
          <a:solidFill>
            <a:srgbClr val="193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283464"/>
            <a:ext cx="1289304" cy="1828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1000" b="1">
                <a:solidFill>
                  <a:srgbClr val="2AD3CD"/>
                </a:solidFill>
                <a:latin typeface="Malgun Gothic"/>
              </a:defRPr>
            </a:pPr>
            <a:r>
              <a:t>SUMMARY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03120" y="201168"/>
            <a:ext cx="9326880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defRPr sz="2700" b="1">
                <a:solidFill>
                  <a:srgbClr val="F6F9FC"/>
                </a:solidFill>
                <a:latin typeface="Malgun Gothic"/>
              </a:defRPr>
            </a:pPr>
            <a:r>
              <a:t>결론: 최종 RTL은 기능·P&amp;R 1차 제출 후보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804672"/>
            <a:ext cx="11137392" cy="18288"/>
          </a:xfrm>
          <a:prstGeom prst="rect">
            <a:avLst/>
          </a:prstGeom>
          <a:solidFill>
            <a:srgbClr val="2AD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37960"/>
            <a:ext cx="10241280" cy="12801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defRPr sz="600" b="0">
                <a:solidFill>
                  <a:srgbClr val="ACC2D6"/>
                </a:solidFill>
                <a:latin typeface="Malgun Gothic"/>
              </a:defRPr>
            </a:pPr>
            <a:r>
              <a:t>Source bundle: receipts · raw reports · SHA256SUMS · PROVENANCE.json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09960" y="6473952"/>
            <a:ext cx="438912" cy="16459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defRPr sz="900" b="1">
                <a:solidFill>
                  <a:srgbClr val="2AD3CD"/>
                </a:solidFill>
                <a:latin typeface="Malgun Gothic"/>
              </a:defRPr>
            </a:pPr>
            <a:r>
              <a:t>09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298448"/>
            <a:ext cx="3218688" cy="2057400"/>
          </a:xfrm>
          <a:prstGeom prst="roundRect">
            <a:avLst/>
          </a:prstGeom>
          <a:solidFill>
            <a:srgbClr val="12304C"/>
          </a:solidFill>
          <a:ln w="19050">
            <a:solidFill>
              <a:srgbClr val="2AD3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41832" y="1554480"/>
            <a:ext cx="2761488" cy="25603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1300" b="1">
                <a:solidFill>
                  <a:srgbClr val="2AD3CD"/>
                </a:solidFill>
                <a:latin typeface="Malgun Gothic"/>
              </a:defRPr>
            </a:pPr>
            <a:r>
              <a:t>구조 해법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2011680"/>
            <a:ext cx="2779776" cy="32918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2100" b="1">
                <a:solidFill>
                  <a:srgbClr val="F6F9FC"/>
                </a:solidFill>
                <a:latin typeface="Malgun Gothic"/>
              </a:defRPr>
            </a:pPr>
            <a:r>
              <a:t>2-lane row-bitmap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2688" y="2560320"/>
            <a:ext cx="2779776" cy="34747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1800" b="1">
                <a:solidFill>
                  <a:srgbClr val="2AD3CD"/>
                </a:solidFill>
                <a:latin typeface="Malgun Gothic"/>
              </a:defRPr>
            </a:pPr>
            <a:r>
              <a:t>최대 8 events/cycle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15968" y="1298448"/>
            <a:ext cx="3218688" cy="2057400"/>
          </a:xfrm>
          <a:prstGeom prst="roundRect">
            <a:avLst/>
          </a:prstGeom>
          <a:solidFill>
            <a:srgbClr val="12304C"/>
          </a:solidFill>
          <a:ln w="19050">
            <a:solidFill>
              <a:srgbClr val="37CD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44568" y="1554480"/>
            <a:ext cx="2761488" cy="25603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1300" b="1">
                <a:solidFill>
                  <a:srgbClr val="37CD85"/>
                </a:solidFill>
                <a:latin typeface="Malgun Gothic"/>
              </a:defRPr>
            </a:pPr>
            <a:r>
              <a:t>최종 RTL 증명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35424" y="2011680"/>
            <a:ext cx="2779776" cy="32918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2100" b="1">
                <a:solidFill>
                  <a:srgbClr val="F6F9FC"/>
                </a:solidFill>
                <a:latin typeface="Malgun Gothic"/>
              </a:defRPr>
            </a:pPr>
            <a:r>
              <a:t>8,503 / 8,503 보존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35424" y="2560320"/>
            <a:ext cx="2779776" cy="34747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1800" b="1">
                <a:solidFill>
                  <a:srgbClr val="37CD85"/>
                </a:solidFill>
                <a:latin typeface="Malgun Gothic"/>
              </a:defRPr>
            </a:pPr>
            <a:r>
              <a:t>285.714 MHz PASS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918704" y="1298448"/>
            <a:ext cx="3218688" cy="2057400"/>
          </a:xfrm>
          <a:prstGeom prst="roundRect">
            <a:avLst/>
          </a:prstGeom>
          <a:solidFill>
            <a:srgbClr val="12304C"/>
          </a:solidFill>
          <a:ln w="19050">
            <a:solidFill>
              <a:srgbClr val="B27E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47304" y="1554480"/>
            <a:ext cx="2761488" cy="25603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1300" b="1">
                <a:solidFill>
                  <a:srgbClr val="B27EFF"/>
                </a:solidFill>
                <a:latin typeface="Malgun Gothic"/>
              </a:defRPr>
            </a:pPr>
            <a:r>
              <a:t>별도 확장 경로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38160" y="2011680"/>
            <a:ext cx="2779776" cy="32918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2100" b="1">
                <a:solidFill>
                  <a:srgbClr val="F6F9FC"/>
                </a:solidFill>
                <a:latin typeface="Malgun Gothic"/>
              </a:defRPr>
            </a:pPr>
            <a:r>
              <a:t>legacy 8,503 join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38160" y="2560320"/>
            <a:ext cx="2779776" cy="34747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1800" b="1">
                <a:solidFill>
                  <a:srgbClr val="B27EFF"/>
                </a:solidFill>
                <a:latin typeface="Malgun Gothic"/>
              </a:defRPr>
            </a:pPr>
            <a:r>
              <a:t>8,420 WORLD + 83 bypass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13232" y="3913632"/>
            <a:ext cx="10424160" cy="1005840"/>
          </a:xfrm>
          <a:prstGeom prst="roundRect">
            <a:avLst/>
          </a:prstGeom>
          <a:solidFill>
            <a:srgbClr val="1230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87552" y="4206240"/>
            <a:ext cx="960120" cy="21945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defRPr sz="1200" b="1">
                <a:solidFill>
                  <a:srgbClr val="FFB746"/>
                </a:solidFill>
                <a:latin typeface="Malgun Gothic"/>
              </a:defRPr>
            </a:pPr>
            <a:r>
              <a:t>NEXT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965960" y="4114800"/>
            <a:ext cx="8732520" cy="34747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1800" b="1">
                <a:solidFill>
                  <a:srgbClr val="F6F9FC"/>
                </a:solidFill>
                <a:latin typeface="Malgun Gothic"/>
              </a:defRPr>
            </a:pPr>
            <a:r>
              <a:t>final-trace 직접 비교  ·  CAV RTL  ·  activity power  ·  signoff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13232" y="5669280"/>
            <a:ext cx="10771632" cy="566928"/>
          </a:xfrm>
          <a:prstGeom prst="roundRect">
            <a:avLst/>
          </a:prstGeom>
          <a:solidFill>
            <a:srgbClr val="1230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32688" y="5806440"/>
            <a:ext cx="10332720" cy="25603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1600" b="1">
                <a:solidFill>
                  <a:srgbClr val="37CD85"/>
                </a:solidFill>
                <a:latin typeface="Malgun Gothic"/>
              </a:defRPr>
            </a:pPr>
            <a:r>
              <a:t>GO: polarity RTL·TB·PPA evidence 제출  |  HOLD: exact Fmax·CAV RTL·signoff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11480" y="128016"/>
            <a:ext cx="11201400" cy="621792"/>
          </a:xfrm>
          <a:prstGeom prst="rect">
            <a:avLst/>
          </a:prstGeom>
          <a:solidFill>
            <a:srgbClr val="0716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502920" y="237744"/>
            <a:ext cx="1417320" cy="310896"/>
          </a:xfrm>
          <a:prstGeom prst="roundRect">
            <a:avLst/>
          </a:prstGeom>
          <a:solidFill>
            <a:srgbClr val="193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66928" y="283464"/>
            <a:ext cx="1289304" cy="1828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1000" b="1">
                <a:solidFill>
                  <a:srgbClr val="2AD3CD"/>
                </a:solidFill>
                <a:latin typeface="Malgun Gothic"/>
              </a:defRPr>
            </a:pPr>
            <a:r>
              <a:t>SUMMARY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103120" y="201168"/>
            <a:ext cx="9326880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defRPr sz="2700" b="1">
                <a:solidFill>
                  <a:srgbClr val="F6F9FC"/>
                </a:solidFill>
                <a:latin typeface="Malgun Gothic"/>
              </a:defRPr>
            </a:pPr>
            <a:r>
              <a:t>결론: 최종 RTL은 기능·P&amp;R 1차 제출 후보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02920" y="804672"/>
            <a:ext cx="11137392" cy="22860"/>
          </a:xfrm>
          <a:prstGeom prst="rect">
            <a:avLst/>
          </a:prstGeom>
          <a:solidFill>
            <a:srgbClr val="2AD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Cluster2 AER — 2-lane row-bitmap으로 병목 완화</dc:title>
  <dc:subject>AER bottleneck, architecture, improvement, physical implementation, CAV extension</dc:subject>
  <dc:creator>AI-semi team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