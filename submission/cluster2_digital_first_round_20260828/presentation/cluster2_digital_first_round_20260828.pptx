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713232"/>
            <a:ext cx="1078992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600" b="1">
                <a:solidFill>
                  <a:srgbClr val="F6F9FC"/>
                </a:solidFill>
                <a:latin typeface="Malgun Gothic"/>
              </a:defRPr>
            </a:pPr>
            <a:r>
              <a:t>AER 손실을 24.42배 줄인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490472"/>
            <a:ext cx="100584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900" b="1">
                <a:solidFill>
                  <a:srgbClr val="2AD3CD"/>
                </a:solidFill>
                <a:latin typeface="Malgun Gothic"/>
              </a:defRPr>
            </a:pPr>
            <a:r>
              <a:t>Cluster2 Steal-Buffer Polarity AER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331720"/>
            <a:ext cx="2834640" cy="141732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2560320"/>
            <a:ext cx="21945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기본 CLUSTER2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889504"/>
            <a:ext cx="233172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7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48840"/>
            <a:ext cx="3246120" cy="17830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2441448"/>
            <a:ext cx="26974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STEAL + DEPTH-2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2770632"/>
            <a:ext cx="2761488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재발화 흡수</a:t>
            </a:r>
            <a:br/>
            <a:r>
              <a:t>idle lane 재사용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2331720"/>
            <a:ext cx="1600200" cy="1417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8944" y="2560320"/>
            <a:ext cx="120700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071627"/>
                </a:solidFill>
                <a:latin typeface="Malgun Gothic"/>
              </a:defRPr>
            </a:pPr>
            <a:r>
              <a:t>STEAL_BUF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5792" y="2852928"/>
            <a:ext cx="1353312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071627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65792" y="3364992"/>
            <a:ext cx="13533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1">
                <a:solidFill>
                  <a:srgbClr val="071627"/>
                </a:solidFill>
                <a:latin typeface="Malgun Gothic"/>
              </a:defRPr>
            </a:pPr>
            <a:r>
              <a:t>502 / 106,416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ACC2D6"/>
                </a:solidFill>
                <a:latin typeface="Malgun Gothic"/>
              </a:defRPr>
            </a:pPr>
            <a:r>
              <a:t>Ryu 6문제  ·  실제 TB  ·  개선 수치  ·  물리 구현  ·  CAV/2차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63640"/>
            <a:ext cx="102412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2026-08-28  |  Xcelium · Genus ·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전통 AER 6문제에 대한 우리의 대응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Ryu CVPRW 2019 slides · Ganghee sections 67, 86–89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097280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252728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① 주소 오버헤드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609344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FFB746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1975104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row bitmap · 2차 repeat −15.61%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097280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252728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② 공유채널 대역폭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09344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37CD85"/>
                </a:solidFill>
                <a:latin typeface="Malgun Gothic"/>
              </a:defRPr>
            </a:pPr>
            <a:r>
              <a:t>SOLVED @ N=16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975104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 lanes · 최대 8 events/cycle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097280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52728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③ 중재 지연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609344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2AD3CD"/>
                </a:solidFill>
                <a:latin typeface="Malgun Gothic"/>
              </a:defRPr>
            </a:pPr>
            <a:r>
              <a:t>REDUCED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1975104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row batch + 병렬 retire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907792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063240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④ 중재 불공정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3419856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37CD85"/>
                </a:solidFill>
                <a:latin typeface="Malgun Gothic"/>
              </a:defRPr>
            </a:pPr>
            <a:r>
              <a:t>REDUCED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785616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분리 arbiter + conditional steal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2907792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3063240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⑤ timestamp 왜곡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3419856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FF637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785616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고부하 jitter 해법 미완료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3568" y="2907792"/>
            <a:ext cx="3310128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8" y="3063240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⑥ motion artifact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3419856"/>
            <a:ext cx="29443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785616"/>
            <a:ext cx="2944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동시 row/lane spread 0 · 고부하 HOLD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해결된 축과 남은 축을 분리한다 — timestamp/motion을 해결 완료로 과장하지 않는다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문제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전통 AER 6문제에 대한 우리의 대응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핵심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기본 Cluster2의 빈틈을 steal_buf가 직접 메운다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official full50 Xcelium comparison · Ganghee sections 65–66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43000"/>
            <a:ext cx="4800600" cy="3611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444752"/>
            <a:ext cx="4251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BASIC CLUSTER2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984248"/>
            <a:ext cx="4251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source당 pending 1개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4251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0">
                <a:solidFill>
                  <a:srgbClr val="ACC2D6"/>
                </a:solidFill>
                <a:latin typeface="Malgun Gothic"/>
              </a:defRPr>
            </a:pPr>
            <a:r>
              <a:t>재발화가 grant보다 빠르면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054096"/>
            <a:ext cx="4251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F6376"/>
                </a:solidFill>
                <a:latin typeface="Malgun Gothic"/>
              </a:defRPr>
            </a:pPr>
            <a:r>
              <a:t>LOCAL FULL → OVERRUN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886200"/>
            <a:ext cx="42519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F6376"/>
                </a:solidFill>
                <a:latin typeface="Malgun Gothic"/>
              </a:defRPr>
            </a:pPr>
            <a:r>
              <a:t>11.52%  ·  12,259 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606040"/>
            <a:ext cx="65836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143000"/>
            <a:ext cx="4800600" cy="3611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444752"/>
            <a:ext cx="4251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CLUSTER2 STEAL_BUF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984248"/>
            <a:ext cx="4251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source별 depth-2 FIFO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633472"/>
            <a:ext cx="4251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0">
                <a:solidFill>
                  <a:srgbClr val="ACC2D6"/>
                </a:solidFill>
                <a:latin typeface="Malgun Gothic"/>
              </a:defRPr>
            </a:pPr>
            <a:r>
              <a:t>두 번째 event 흡수 + idle lane steal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054096"/>
            <a:ext cx="4251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RETRIGGER + IMBALANCE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886200"/>
            <a:ext cx="42519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37CD85"/>
                </a:solidFill>
                <a:latin typeface="Malgun Gothic"/>
              </a:defRPr>
            </a:pPr>
            <a:r>
              <a:t>0.47%  ·  502 loss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동일 106,416 events · 손실 12,259 → 502 · 24.42배 감소(−95.9%)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핵심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기본 Cluster2의 빈틈을 steal_buf가 직접 메운다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115568"/>
            <a:ext cx="19659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ACC2D6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48256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70432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48256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70432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09344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48256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70432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09344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48256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3008" y="1325880"/>
            <a:ext cx="2423160" cy="214884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1664208"/>
            <a:ext cx="1956816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SOURCE-LOCAL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2057400"/>
            <a:ext cx="195681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16 × depth-2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596896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0">
                <a:solidFill>
                  <a:srgbClr val="ACC2D6"/>
                </a:solidFill>
                <a:latin typeface="Malgun Gothic"/>
              </a:defRPr>
            </a:pPr>
            <a:r>
              <a:t>event + polarity FIFO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109728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9752" y="135331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CENTER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172821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260604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86207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PERIPH. ROW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323697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37CD85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9800" y="1325880"/>
            <a:ext cx="1554480" cy="214884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1645920"/>
            <a:ext cx="10972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0112" y="1965960"/>
            <a:ext cx="1133856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071627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2816352"/>
            <a:ext cx="126187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events/cycle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4440" y="4315968"/>
            <a:ext cx="9738360" cy="74980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17904" y="4498848"/>
            <a:ext cx="91714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출력  =  row  +  col_mask[3:0]  +  pol_mask[3:0]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핵심 변화: event를 하나씩 고르지 않고, 선택된 row를 bitmap으로 묶어 보낸다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 RTL lines 33–153 · arbiter2/arbiter4_tree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033271"/>
            <a:ext cx="2606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병목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033271"/>
            <a:ext cx="3822191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RTL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033271"/>
            <a:ext cx="29077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직접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389888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572768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① 1-event/cycle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1389888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572768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ROW BITMAP × 2 LANES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389888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1572768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414016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2596896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②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5072" y="2414016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2596896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DEPTH-2 /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2414016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596896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두 번째 event 흡수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438144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621024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③ class 쏠림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5072" y="3438144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3621024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3438144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3621024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idle 처리력 재사용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462272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45152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④ addr–pol 분리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05072" y="4462272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4645152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POLARITY LOCKSTEP FIFO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84464" y="4462272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49056" y="4645152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한 가지 큰 개선이 아니라, 네 병목을 네 메커니즘으로 각각 완화했다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정량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공식 50-workload에서 steal_buf가 손실을 거의 제거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Xcelium 23.09-s013 · 50/50 PHANTOM_DEBUG_PASS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80160"/>
            <a:ext cx="2487168" cy="2423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554480"/>
            <a:ext cx="212140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FF6376"/>
                </a:solidFill>
                <a:latin typeface="Malgun Gothic"/>
              </a:defRPr>
            </a:pPr>
            <a:r>
              <a:t>FOVEA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29968"/>
            <a:ext cx="2121408" cy="49377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100" b="1">
                <a:solidFill>
                  <a:srgbClr val="FF637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788920"/>
            <a:ext cx="21214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5536" y="2194560"/>
            <a:ext cx="34747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280160"/>
            <a:ext cx="2487168" cy="2423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1554480"/>
            <a:ext cx="212140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FFB74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2029968"/>
            <a:ext cx="2121408" cy="49377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100" b="1">
                <a:solidFill>
                  <a:srgbClr val="FFB746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788920"/>
            <a:ext cx="21214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2194560"/>
            <a:ext cx="34747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280160"/>
            <a:ext cx="2487168" cy="2423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554480"/>
            <a:ext cx="212140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+ STEAL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029968"/>
            <a:ext cx="2121408" cy="49377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100" b="1">
                <a:solidFill>
                  <a:srgbClr val="2AD3CD"/>
                </a:solidFill>
                <a:latin typeface="Malgun Gothic"/>
              </a:defRPr>
            </a:pPr>
            <a:r>
              <a:t>10.89%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21214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loss 11,593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2194560"/>
            <a:ext cx="34747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2288" y="1280160"/>
            <a:ext cx="2487168" cy="2423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8" y="1554480"/>
            <a:ext cx="212140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+ STEAL_BUF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029968"/>
            <a:ext cx="2121408" cy="49377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100" b="1">
                <a:solidFill>
                  <a:srgbClr val="37CD85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788920"/>
            <a:ext cx="21214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160520"/>
            <a:ext cx="8275320" cy="841248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0280" y="4325112"/>
            <a:ext cx="772667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071627"/>
                </a:solidFill>
                <a:latin typeface="Malgun Gothic"/>
              </a:defRPr>
            </a:pPr>
            <a:r>
              <a:t>CLUSTER2 → STEAL_BUF   11.52% → 0.47%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손실 건수 24.42배 감소 · 상대 감소율 95.9% · 동일 106,416-event denominator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318504"/>
            <a:ext cx="10012680" cy="1554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1">
                <a:solidFill>
                  <a:srgbClr val="FFB746"/>
                </a:solidFill>
                <a:latin typeface="Malgun Gothic"/>
              </a:defRPr>
            </a:pPr>
            <a:r>
              <a:t>※ 최종 UZH polarity trace(8,503)는 별도 검증이며 이 비교와 섞지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정량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공식 50-workload에서 steal_buf가 손실을 거의 제거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실제 TB가 비교 성능과 최종 polarity를 분리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committed TBs · Xcelium 23.09-s013 · independent Python verifier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078992"/>
            <a:ext cx="5413248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98448"/>
            <a:ext cx="19202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1">
                <a:solidFill>
                  <a:srgbClr val="FFB746"/>
                </a:solidFill>
                <a:latin typeface="Malgun Gothic"/>
              </a:defRPr>
            </a:pPr>
            <a:r>
              <a:t>50-WORKLOAD 비교 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664208"/>
            <a:ext cx="48463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tb_steal_buf_trace_phantom_debug.v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298448"/>
            <a:ext cx="29077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50/50 PASS · loss 502 · phantom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078992"/>
            <a:ext cx="5321808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298448"/>
            <a:ext cx="182880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최종 POLARITY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664208"/>
            <a:ext cx="47548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F6F9FC"/>
                </a:solidFill>
                <a:latin typeface="Malgun Gothic"/>
              </a:defRPr>
            </a:pPr>
            <a:r>
              <a:t>redred_cluster2_polarity_v1_native_observational_tb.sv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1298448"/>
            <a:ext cx="2798064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8,503/8,503 · mismatch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43200"/>
            <a:ext cx="1755648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926080"/>
            <a:ext cx="1463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4793FF"/>
                </a:solidFill>
                <a:latin typeface="Malgun Gothic"/>
              </a:defRPr>
            </a:pPr>
            <a:r>
              <a:t>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355848"/>
            <a:ext cx="146304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arrival[15:0]</a:t>
            </a:r>
            <a:br/>
            <a:r>
              <a:t>polarity[15:0]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5" y="3209544"/>
            <a:ext cx="47548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9504" y="2743200"/>
            <a:ext cx="1755648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35808" y="2926080"/>
            <a:ext cx="1463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ENQUEUE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5808" y="3355848"/>
            <a:ext cx="146304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source FIFO</a:t>
            </a:r>
            <a:br/>
            <a:r>
              <a:t>depth 0→1→2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3209544"/>
            <a:ext cx="47548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2743200"/>
            <a:ext cx="1755648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2926080"/>
            <a:ext cx="1463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B27EFF"/>
                </a:solidFill>
                <a:latin typeface="Malgun Gothic"/>
              </a:defRPr>
            </a:pPr>
            <a:r>
              <a:t>ARBITRATE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3355848"/>
            <a:ext cx="146304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center/periph</a:t>
            </a:r>
            <a:br/>
            <a:r>
              <a:t>+ conditional steal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3209544"/>
            <a:ext cx="47548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2743200"/>
            <a:ext cx="1755648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2926080"/>
            <a:ext cx="1463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355848"/>
            <a:ext cx="146304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row + col_mask</a:t>
            </a:r>
            <a:br/>
            <a:r>
              <a:t>+ pol_mask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7424" y="3209544"/>
            <a:ext cx="47548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2912" y="2743200"/>
            <a:ext cx="1755648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29216" y="2926080"/>
            <a:ext cx="1463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FFB746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9216" y="3355848"/>
            <a:ext cx="146304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cycle별 원시값</a:t>
            </a:r>
            <a:br/>
            <a:r>
              <a:t>독립 재계산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4590288"/>
            <a:ext cx="9784080" cy="65836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8176" y="4782312"/>
            <a:ext cx="9345168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실제 CYCLE 4162  |  lane0: row2 col=0x6 pol=0x0  ·  lane1: row0 col=0x1 pol=0x1  →  4 events 동시 retire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8,503 = 8,503 + overrun 0 · mismatch/phantom/duplicate 0 · drain empty · Python 독립검증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검증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실제 TB가 비교 성능과 최종 polarity를 분리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Innovus slow 0.9 V 125 °C · discrete timing 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70432"/>
            <a:ext cx="306324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298448"/>
            <a:ext cx="273405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09344"/>
            <a:ext cx="273405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3000" b="1">
                <a:solidFill>
                  <a:srgbClr val="37CD85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48840"/>
            <a:ext cx="273405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setup +0.454 ns · hold +0.167 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035808"/>
            <a:ext cx="6784848" cy="10972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222</a:t>
            </a:r>
            <a:br/>
            <a:r>
              <a:t>MHz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+1.349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2615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250</a:t>
            </a:r>
            <a:br/>
            <a:r>
              <a:t>MHz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+0.849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7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285.7</a:t>
            </a:r>
            <a:br/>
            <a:r>
              <a:t>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+0.454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2852928"/>
            <a:ext cx="347472" cy="347472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FF6376"/>
                </a:solidFill>
                <a:latin typeface="Malgun Gothic"/>
              </a:defRPr>
            </a:pPr>
            <a:r>
              <a:t>333.3</a:t>
            </a:r>
            <a:br/>
            <a:r>
              <a:t>MHz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−0.004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615184"/>
            <a:ext cx="4526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37CD85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615184"/>
            <a:ext cx="1005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000" b="1">
                <a:solidFill>
                  <a:srgbClr val="FF637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17043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1" y="129844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AREA RAW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160934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900" b="1">
                <a:solidFill>
                  <a:srgbClr val="2AD3CD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214884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596 instances · unit unstated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81635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1" y="294436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325526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B746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379476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4462272"/>
            <a:ext cx="3154680" cy="8046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681728"/>
            <a:ext cx="2788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285.714 MHz PASS · 다음 측정점 333.333 MHz FAIL · 중간 주파수는 미측정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sealed legacy address-only official UZH→CAV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78992"/>
            <a:ext cx="10744200" cy="40233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79576"/>
            <a:ext cx="10241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B27EFF"/>
                </a:solidFill>
                <a:latin typeface="Malgun Gothic"/>
              </a:defRPr>
            </a:pPr>
            <a:r>
              <a:t>LEGACY ADDRESS-ONLY TRACK  ·  최종 polarity-v1과 독립된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174650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084831"/>
            <a:ext cx="1783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EXACT IDENTITY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523744"/>
            <a:ext cx="1856231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37CD85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32888"/>
            <a:ext cx="17830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occurrence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69164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2AD3CD"/>
                </a:solidFill>
                <a:latin typeface="Malgun Gothic"/>
              </a:defRPr>
            </a:pPr>
            <a:r>
              <a:t>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417320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62763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196596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2AD3CD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278892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FB746"/>
                </a:solidFill>
                <a:latin typeface="Malgun Gothic"/>
              </a:defRPr>
            </a:pPr>
            <a:r>
              <a:t>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724912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90779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324612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FB746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86200"/>
            <a:ext cx="484632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114800"/>
            <a:ext cx="1920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000" b="1">
                <a:solidFill>
                  <a:srgbClr val="2AD3CD"/>
                </a:solidFill>
                <a:latin typeface="Malgun Gothic"/>
              </a:defRPr>
            </a:pPr>
            <a:r>
              <a:t>WORLD 8,420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133087"/>
            <a:ext cx="24688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→ 512×256 grid · 821 cells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3328" y="3886200"/>
            <a:ext cx="493776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096512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geometry = occurrence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453128"/>
            <a:ext cx="43891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retire cycle은 latency sidecar로만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입증: software functional extension · HOLD: polarity→CAV full replay / CAV RTL / CAV PPA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1차 결론과 2차 확장 경로가 수치로 연결된다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1차 핵심 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37CD85"/>
                </a:solidFill>
                <a:latin typeface="Malgun Gothic"/>
              </a:defRPr>
            </a:pPr>
            <a:r>
              <a:t>손실 24.42배 감소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최종 RTL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8,503 / 8,503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285.714 MHz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18704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CAV 확장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legacy 8,503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B27EFF"/>
                </a:solidFill>
                <a:latin typeface="Malgun Gothic"/>
              </a:defRPr>
            </a:pPr>
            <a:r>
              <a:t>8,420 WORLD + 83 bypass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822191"/>
            <a:ext cx="10424160" cy="118872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69080"/>
            <a:ext cx="65836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FFB746"/>
                </a:solidFill>
                <a:latin typeface="Malgun Gothic"/>
              </a:defRPr>
            </a:pPr>
            <a:r>
              <a:t>2차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005072"/>
            <a:ext cx="2816352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steal_buf + repeat-flag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4407408"/>
            <a:ext cx="2816352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37CD85"/>
                </a:solidFill>
                <a:latin typeface="Malgun Gothic"/>
              </a:defRPr>
            </a:pPr>
            <a:r>
              <a:t>검증 후보: link bits −15.61%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005072"/>
            <a:ext cx="294436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polarity → CAV full replay / RTL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07408"/>
            <a:ext cx="2944368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B27EFF"/>
                </a:solidFill>
                <a:latin typeface="Malgun Gothic"/>
              </a:defRPr>
            </a:pPr>
            <a:r>
              <a:t>wire · backpressure · world path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8" y="4005072"/>
            <a:ext cx="2907792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timestamp · activity power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4968" y="4407408"/>
            <a:ext cx="2907792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FF6376"/>
                </a:solidFill>
                <a:latin typeface="Malgun Gothic"/>
              </a:defRPr>
            </a:pPr>
            <a:r>
              <a:t>jitter 해법 · VCD/SAIF · exact Fmax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row-trim −14.29%는 기본 Cluster2 전용 — steal_buf에는 적용 불가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1차 결론과 2차 확장 경로가 수치로 연결된다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AER — 2-lane row-bitmap으로 병목 완화</dc:title>
  <dc:subject>AER bottleneck, architecture, improvement, physical implementation,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